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2714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E8590C"/>
                </a:solidFill>
                <a:latin typeface="Segoe UI"/>
              </a:rPr>
              <a:t>AI SEASON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08857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5000" b="1">
                <a:solidFill>
                  <a:srgbClr val="151515"/>
                </a:solidFill>
                <a:latin typeface="Segoe UI"/>
              </a:rPr>
              <a:t>Build an LLM
from Scratch —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429000"/>
            <a:ext cx="1371600" cy="5486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675887"/>
            <a:ext cx="100885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5C5C5C"/>
                </a:solidFill>
                <a:latin typeface="Segoe UI"/>
              </a:rPr>
              <a:t>From a text file to a trained transformer behind your own URL. Ten files, ~700 lines of PyTorch, no pretrained weights.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Instructor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151515"/>
                </a:solidFill>
                <a:latin typeface="Segoe UI"/>
              </a:rPr>
              <a:t>Abdul Rahman Azam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2535" y="4709160"/>
            <a:ext cx="3931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150" b="0">
                <a:solidFill>
                  <a:srgbClr val="5C5C5C"/>
                </a:solidFill>
                <a:latin typeface="Segoe UI"/>
              </a:rPr>
              <a:t>Project: ARGPT</a:t>
            </a:r>
          </a:p>
          <a:p>
            <a:pPr algn="r">
              <a:spcBef>
                <a:spcPts val="500"/>
              </a:spcBef>
            </a:pPr>
            <a:r>
              <a:rPr sz="1150" b="0">
                <a:solidFill>
                  <a:srgbClr val="5C5C5C"/>
                </a:solidFill>
                <a:latin typeface="Segoe UI"/>
              </a:rPr>
              <a:t>config1.py  →  modern_upgrades10.py</a:t>
            </a:r>
          </a:p>
          <a:p>
            <a:pPr algn="r">
              <a:spcBef>
                <a:spcPts val="500"/>
              </a:spcBef>
            </a:pPr>
            <a:r>
              <a:rPr sz="1150" b="0">
                <a:solidFill>
                  <a:srgbClr val="5C5C5C"/>
                </a:solidFill>
                <a:latin typeface="Segoe UI"/>
              </a:rPr>
              <a:t>Live demos on CPU + a rented L4 GPU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Part 1 built the intuition. Part 2 builds the machine.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5410047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444751"/>
            <a:ext cx="495284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PART 1 — YOU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728216"/>
            <a:ext cx="4952847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What a token is, what an embedding is, and what attention is trying to do.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Why an LLM is a next-token predictor and nothing more.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The vocabulary: transformer, context window, parameters, loss.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16736"/>
            <a:ext cx="5318607" cy="2743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78727" y="1298448"/>
            <a:ext cx="5410047" cy="20574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6471" y="1444751"/>
            <a:ext cx="495284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PART 2 — YOU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471" y="1728216"/>
            <a:ext cx="4952847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A working tokenizer (two of them), a real transformer, and a training loop.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You train it, watch the loss fall, and read what it writes.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Then you put it on a GPU and behind an HTTP endpoint your agent calls.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75887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BY THE END OF THIS SESSION YOU CAN SAY, HONESTLY: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95928"/>
            <a:ext cx="11185855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4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450" b="0">
                <a:solidFill>
                  <a:srgbClr val="151515"/>
                </a:solidFill>
                <a:latin typeface="Segoe UI"/>
              </a:rPr>
              <a:t>“I know what every single number in a GPT does, because I chose it.”</a:t>
            </a:r>
          </a:p>
          <a:p>
            <a:pPr>
              <a:lnSpc>
                <a:spcPct val="116000"/>
              </a:lnSpc>
              <a:spcBef>
                <a:spcPts val="1100"/>
              </a:spcBef>
            </a:pPr>
            <a:r>
              <a:rPr sz="14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450" b="0">
                <a:solidFill>
                  <a:srgbClr val="151515"/>
                </a:solidFill>
                <a:latin typeface="Segoe UI"/>
              </a:rPr>
              <a:t>“I know why the model can't see the future, and I can point at the line that stops it.”</a:t>
            </a:r>
          </a:p>
          <a:p>
            <a:pPr>
              <a:lnSpc>
                <a:spcPct val="116000"/>
              </a:lnSpc>
              <a:spcBef>
                <a:spcPts val="1100"/>
              </a:spcBef>
            </a:pPr>
            <a:r>
              <a:rPr sz="14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450" b="0">
                <a:solidFill>
                  <a:srgbClr val="151515"/>
                </a:solidFill>
                <a:latin typeface="Segoe UI"/>
              </a:rPr>
              <a:t>“I know why my model isn't ChatGPT — and it isn't the architecture.”</a:t>
            </a:r>
          </a:p>
          <a:p>
            <a:pPr>
              <a:lnSpc>
                <a:spcPct val="116000"/>
              </a:lnSpc>
              <a:spcBef>
                <a:spcPts val="1100"/>
              </a:spcBef>
            </a:pPr>
            <a:r>
              <a:rPr sz="14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450" b="0">
                <a:solidFill>
                  <a:srgbClr val="151515"/>
                </a:solidFill>
                <a:latin typeface="Segoe UI"/>
              </a:rPr>
              <a:t>“I trained a language model for about </a:t>
            </a:r>
            <a:r>
              <a:rPr sz="1450" b="1">
                <a:solidFill>
                  <a:srgbClr val="E8590C"/>
                </a:solidFill>
                <a:latin typeface="Segoe UI"/>
              </a:rPr>
              <a:t>13 cents</a:t>
            </a:r>
            <a:r>
              <a:rPr sz="1450" b="0">
                <a:solidFill>
                  <a:srgbClr val="151515"/>
                </a:solidFill>
                <a:latin typeface="Segoe UI"/>
              </a:rPr>
              <a:t> and served it on a URL.”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THE ONE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Everything in these ten files serves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85855" cy="77724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444751"/>
            <a:ext cx="10728655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2100" b="1">
                <a:solidFill>
                  <a:srgbClr val="E8590C"/>
                </a:solidFill>
                <a:latin typeface="Segoe UI"/>
              </a:rPr>
              <a:t>Given a sequence of tokens, predict the next token.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31136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151515"/>
                </a:solidFill>
                <a:latin typeface="Segoe UI"/>
              </a:rPr>
              <a:t>That is the </a:t>
            </a:r>
            <a:r>
              <a:rPr sz="1300" b="1">
                <a:solidFill>
                  <a:srgbClr val="151515"/>
                </a:solidFill>
                <a:latin typeface="Segoe UI"/>
              </a:rPr>
              <a:t>entire</a:t>
            </a:r>
            <a:r>
              <a:rPr sz="1300" b="0">
                <a:solidFill>
                  <a:srgbClr val="151515"/>
                </a:solidFill>
                <a:latin typeface="Segoe UI"/>
              </a:rPr>
              <a:t> objective. Grammar, character names, indentation in code, the back-and-forth of a conversation — all of it is a </a:t>
            </a:r>
            <a:r>
              <a:rPr sz="1300" b="1">
                <a:solidFill>
                  <a:srgbClr val="151515"/>
                </a:solidFill>
                <a:latin typeface="Segoe UI"/>
              </a:rPr>
              <a:t>side effect</a:t>
            </a:r>
            <a:r>
              <a:rPr sz="1300" b="0">
                <a:solidFill>
                  <a:srgbClr val="151515"/>
                </a:solidFill>
                <a:latin typeface="Segoe UI"/>
              </a:rPr>
              <a:t> of getting very good at “what comes next”. The model is never told what English 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90088"/>
            <a:ext cx="1572768" cy="868680"/>
          </a:xfrm>
          <a:prstGeom prst="roundRect">
            <a:avLst>
              <a:gd name="adj" fmla="val 12000"/>
            </a:avLst>
          </a:prstGeom>
          <a:solidFill>
            <a:srgbClr val="FFF2E8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51515"/>
                </a:solidFill>
                <a:latin typeface="Segoe UI"/>
              </a:rPr>
              <a:t>raw text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5C5C5C"/>
                </a:solidFill>
                <a:latin typeface="Segoe UI"/>
              </a:rPr>
              <a:t>Shakespeare
.txt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53996" y="3319272"/>
            <a:ext cx="182879" cy="20116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478024" y="2990088"/>
            <a:ext cx="15727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51515"/>
                </a:solidFill>
                <a:latin typeface="Segoe UI"/>
              </a:rPr>
              <a:t>numbers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5C5C5C"/>
                </a:solidFill>
                <a:latin typeface="Segoe UI"/>
              </a:rPr>
              <a:t>tokenizer2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91939" y="3319272"/>
            <a:ext cx="182879" cy="20116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15968" y="2990088"/>
            <a:ext cx="15727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51515"/>
                </a:solidFill>
                <a:latin typeface="Segoe UI"/>
              </a:rPr>
              <a:t>(x, y) pairs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5C5C5C"/>
                </a:solidFill>
                <a:latin typeface="Segoe UI"/>
              </a:rPr>
              <a:t>data3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29883" y="3319272"/>
            <a:ext cx="182879" cy="20116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53912" y="2990088"/>
            <a:ext cx="15727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51515"/>
                </a:solidFill>
                <a:latin typeface="Segoe UI"/>
              </a:rPr>
              <a:t>a guess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5C5C5C"/>
                </a:solidFill>
                <a:latin typeface="Segoe UI"/>
              </a:rPr>
              <a:t>model4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67827" y="3319272"/>
            <a:ext cx="182879" cy="20116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991855" y="2990088"/>
            <a:ext cx="15727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51515"/>
                </a:solidFill>
                <a:latin typeface="Segoe UI"/>
              </a:rPr>
              <a:t>loss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5C5C5C"/>
                </a:solidFill>
                <a:latin typeface="Segoe UI"/>
              </a:rPr>
              <a:t>how wrong?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605772" y="3319272"/>
            <a:ext cx="182879" cy="20116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29799" y="2990088"/>
            <a:ext cx="1572768" cy="868680"/>
          </a:xfrm>
          <a:prstGeom prst="roundRect">
            <a:avLst>
              <a:gd name="adj" fmla="val 12000"/>
            </a:avLst>
          </a:prstGeom>
          <a:solidFill>
            <a:srgbClr val="FFF2E8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51515"/>
                </a:solidFill>
                <a:latin typeface="Segoe UI"/>
              </a:rPr>
              <a:t>nudge weights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5C5C5C"/>
                </a:solidFill>
                <a:latin typeface="Segoe UI"/>
              </a:rPr>
              <a:t>train5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041648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B54408"/>
                </a:solidFill>
                <a:latin typeface="Segoe UI"/>
              </a:rPr>
              <a:t>repeat a few thousand times   ·   then run the model forward one token at a time, feeding its own output back 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71416"/>
            <a:ext cx="11185855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" y="461772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KEEP COMING BACK TO THIS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4901184"/>
            <a:ext cx="1072865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Almost every “why does it do that?” question a student asks resolves to one answer: </a:t>
            </a:r>
            <a:r>
              <a:rPr sz="1250" b="1">
                <a:solidFill>
                  <a:srgbClr val="151515"/>
                </a:solidFill>
                <a:latin typeface="Segoe UI"/>
              </a:rPr>
              <a:t>because it was only ever trained to predict the next token.</a:t>
            </a:r>
            <a:r>
              <a:rPr sz="1250" b="0">
                <a:solidFill>
                  <a:srgbClr val="151515"/>
                </a:solidFill>
                <a:latin typeface="Segoe UI"/>
              </a:rPr>
              <a:t> Write that sentence on the board and leave it there for the whole session.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THE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Ten files, in the order we teach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5853" cy="3941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7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6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4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File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The concept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The thing you point at on screen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config1.py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The control panel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Every knob that shapes the model, in one dataclass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tokenizer2.py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Text becomes numbers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Two algorithms: char in 15 lines, then BPE for real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data3.py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The reusable pipeline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y is x shifted by one — that shift IS the training signal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model4.py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The transformer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Q, K, V, the attention formula, the causal mask as a triangle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train5.py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Teaching 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The five-step loop that trains every neural network alive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generate6.py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Making it write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Predict → append → repeat. temperature and top-k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modal_app7.py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A real GPU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The same train() function, on a rented L4, for ~13 cents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serve8.py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You become the API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@modal.enter() and why loading per request is wrong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use_from_agent9.py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Full circle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Your LangChain agent calling the model you just trained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modern_upgrades10.py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What changed since 2019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20" b="0">
                          <a:solidFill>
                            <a:srgbClr val="151515"/>
                          </a:solidFill>
                          <a:latin typeface="Segoe UI"/>
                        </a:rPr>
                        <a:t>RMSNorm, RoPE, SwiGLU — and everything after them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06440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Every file </a:t>
            </a:r>
            <a:r>
              <a:rPr sz="1200" b="1">
                <a:solidFill>
                  <a:srgbClr val="5C5C5C"/>
                </a:solidFill>
                <a:latin typeface="Segoe UI"/>
              </a:rPr>
              <a:t>runs on its own</a:t>
            </a:r>
            <a:r>
              <a:rPr sz="1200" b="0">
                <a:solidFill>
                  <a:srgbClr val="5C5C5C"/>
                </a:solidFill>
                <a:latin typeface="Segoe UI"/>
              </a:rPr>
              <a:t> (</a:t>
            </a:r>
            <a:r>
              <a:rPr sz="1150" b="0">
                <a:solidFill>
                  <a:srgbClr val="B54408"/>
                </a:solidFill>
                <a:latin typeface="Consolas"/>
              </a:rPr>
              <a:t>python tokenizer2.py</a:t>
            </a:r>
            <a:r>
              <a:rPr sz="1200" b="0">
                <a:solidFill>
                  <a:srgbClr val="5C5C5C"/>
                </a:solidFill>
                <a:latin typeface="Segoe UI"/>
              </a:rPr>
              <a:t> prints a live demo) and every file is </a:t>
            </a:r>
            <a:r>
              <a:rPr sz="1200" b="1">
                <a:solidFill>
                  <a:srgbClr val="5C5C5C"/>
                </a:solidFill>
                <a:latin typeface="Segoe UI"/>
              </a:rPr>
              <a:t>importable</a:t>
            </a:r>
            <a:r>
              <a:rPr sz="1200" b="0">
                <a:solidFill>
                  <a:srgbClr val="5C5C5C"/>
                </a:solidFill>
                <a:latin typeface="Segoe UI"/>
              </a:rPr>
              <a:t>. The teaching order is baked into the filenames, so imports across files never need a package or a path hack.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THE WHOLE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Six commands, start to finish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5364327" cy="16002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6002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499856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ON YOUR LAPTOP  ·  ~4 MINUTES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73351"/>
            <a:ext cx="4998567" cy="11338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python data3.py --dataset shakespeare \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                --tokenizer char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python train5.py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python generate6.py --prompt "ROMEO:"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72968"/>
            <a:ext cx="5364327" cy="16002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172968"/>
            <a:ext cx="41148" cy="16002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291839"/>
            <a:ext cx="499856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ON A RENTED GPU  ·  ~12 MINUTES  ·  ~13 CENTS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547872"/>
            <a:ext cx="4998567" cy="11338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modal run modal_app7.py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modal volume ls argpt-checkpoints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modal deploy serve8.py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python use_from_agent9.py --url &lt;that url&gt;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1298448"/>
            <a:ext cx="53643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DO THESE TWO ONCE, BEFORE CLASS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447" y="1591056"/>
            <a:ext cx="5364327" cy="96012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24447" y="1591056"/>
            <a:ext cx="41148" cy="9601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5615" y="1709928"/>
            <a:ext cx="4998567" cy="7498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python data3.py --dataset shakespeare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modal run modal_app7.py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builds the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2990088"/>
            <a:ext cx="536432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That first </a:t>
            </a:r>
            <a:r>
              <a:rPr sz="1200" b="0">
                <a:solidFill>
                  <a:srgbClr val="B54408"/>
                </a:solidFill>
                <a:latin typeface="Consolas"/>
              </a:rPr>
              <a:t>modal run</a:t>
            </a:r>
            <a:r>
              <a:rPr sz="1250" b="0">
                <a:solidFill>
                  <a:srgbClr val="151515"/>
                </a:solidFill>
                <a:latin typeface="Segoe UI"/>
              </a:rPr>
              <a:t> downloads a </a:t>
            </a:r>
            <a:r>
              <a:rPr sz="1250" b="1">
                <a:solidFill>
                  <a:srgbClr val="151515"/>
                </a:solidFill>
                <a:latin typeface="Segoe UI"/>
              </a:rPr>
              <a:t>2.3 GB PyTorch</a:t>
            </a:r>
            <a:r>
              <a:rPr sz="1250" b="0">
                <a:solidFill>
                  <a:srgbClr val="151515"/>
                </a:solidFill>
                <a:latin typeface="Segoe UI"/>
              </a:rPr>
              <a:t> into a container. It takes a few minutes </a:t>
            </a:r>
            <a:r>
              <a:rPr sz="1250" b="1">
                <a:solidFill>
                  <a:srgbClr val="151515"/>
                </a:solidFill>
                <a:latin typeface="Segoe UI"/>
              </a:rPr>
              <a:t>once</a:t>
            </a:r>
            <a:r>
              <a:rPr sz="1250" b="0">
                <a:solidFill>
                  <a:srgbClr val="151515"/>
                </a:solidFill>
                <a:latin typeface="Segoe UI"/>
              </a:rPr>
              <a:t>, then Modal caches it. Do not discover this live in front of a class.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3995928"/>
            <a:ext cx="5364327" cy="16002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2191" y="414223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BEST 90 SECONDS OF THE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191" y="4425696"/>
            <a:ext cx="4907127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B54408"/>
                </a:solidFill>
                <a:latin typeface="Consolas"/>
              </a:rPr>
              <a:t>python train5.py</a:t>
            </a:r>
            <a:r>
              <a:rPr sz="1250" b="0">
                <a:solidFill>
                  <a:srgbClr val="151515"/>
                </a:solidFill>
                <a:latin typeface="Segoe UI"/>
              </a:rPr>
              <a:t> prints a generated sample every 250 steps. Say nothing and let it scroll. Step 250 is letter soup. By 1000 you get </a:t>
            </a:r>
            <a:r>
              <a:rPr sz="1200" b="0">
                <a:solidFill>
                  <a:srgbClr val="B54408"/>
                </a:solidFill>
                <a:latin typeface="Consolas"/>
              </a:rPr>
              <a:t>OMIO:</a:t>
            </a:r>
            <a:r>
              <a:rPr sz="1250" b="0">
                <a:solidFill>
                  <a:srgbClr val="151515"/>
                </a:solidFill>
                <a:latin typeface="Segoe UI"/>
              </a:rPr>
              <a:t>. By 2000, real character names and line breaks. </a:t>
            </a:r>
            <a:r>
              <a:rPr sz="1250" b="1">
                <a:solidFill>
                  <a:srgbClr val="151515"/>
                </a:solidFill>
                <a:latin typeface="Segoe UI"/>
              </a:rPr>
              <a:t>Nobody needs loss explained after watching that.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FILE</a:t>
            </a:r>
          </a:p>
          <a:p>
            <a:pPr>
              <a:spcBef>
                <a:spcPts val="0"/>
              </a:spcBef>
            </a:pPr>
            <a:r>
              <a:rPr sz="9600" b="1">
                <a:solidFill>
                  <a:srgbClr val="E8590C"/>
                </a:solidFill>
                <a:latin typeface="Segoe U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6280" y="2084831"/>
            <a:ext cx="707105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>
                <a:solidFill>
                  <a:srgbClr val="151515"/>
                </a:solidFill>
                <a:latin typeface="Segoe UI"/>
              </a:rPr>
              <a:t>config1.py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2852928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6280" y="3063240"/>
            <a:ext cx="70710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>
                <a:solidFill>
                  <a:srgbClr val="5C5C5C"/>
                </a:solidFill>
                <a:latin typeface="Segoe UI"/>
              </a:rPr>
              <a:t>The control panel — every number that shapes ARGPT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3794760"/>
            <a:ext cx="70710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One dataclass, two presets, zero magic numbers anywhere else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This is the only file you edit while experimenting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Change one line here and the other nine files follow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CONFIG1.PY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One dataclass. Every knob in the whole project.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675120" cy="41148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4114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6309359" cy="3904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@dataclass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class Config: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name: str = "tiny" 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names the checkpoint: out/&lt;name&gt;.pt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50" b="0">
              <a:solidFill>
                <a:srgbClr val="B54408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929292"/>
                </a:solidFill>
                <a:latin typeface="Consolas"/>
              </a:rPr>
              <a:t>    # ---------- the SHAPE of the model ----------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block_size: int = 128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how far back it can look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n_layer:    int = 4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how many blocks we stack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n_head:     int = 4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attention heads per block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n_embd:     int = 128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size of one token's vector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dropout:    float = 0.1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fraction of neurons switched off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50" b="0">
              <a:solidFill>
                <a:srgbClr val="B54408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vocab_size: int = 0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NOT yours. data3.py decides it.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50" b="0">
              <a:solidFill>
                <a:srgbClr val="B54408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929292"/>
                </a:solidFill>
                <a:latin typeface="Consolas"/>
              </a:rPr>
              <a:t>    # ---------- how we TRAIN it ----------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batch_size:    int = 32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max_iters:     int = 2000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eval_interval: int = 250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eval_iters:    int = 50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learning_rate: float = 3e-4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298448"/>
            <a:ext cx="4236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WHY A CONFIG FILE AT ALL?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600200"/>
            <a:ext cx="4236415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50" b="0">
                <a:solidFill>
                  <a:srgbClr val="151515"/>
                </a:solidFill>
                <a:latin typeface="Segoe UI"/>
              </a:rPr>
              <a:t>In the next nine files you will </a:t>
            </a:r>
            <a:r>
              <a:rPr sz="1250" b="1">
                <a:solidFill>
                  <a:srgbClr val="151515"/>
                </a:solidFill>
                <a:latin typeface="Segoe UI"/>
              </a:rPr>
              <a:t>never see a magic number</a:t>
            </a:r>
            <a:r>
              <a:rPr sz="1250" b="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sz="12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50" b="0">
                <a:solidFill>
                  <a:srgbClr val="151515"/>
                </a:solidFill>
                <a:latin typeface="Segoe UI"/>
              </a:rPr>
              <a:t>Want a bigger model? Change </a:t>
            </a:r>
            <a:r>
              <a:rPr sz="1250" b="1">
                <a:solidFill>
                  <a:srgbClr val="151515"/>
                </a:solidFill>
                <a:latin typeface="Segoe UI"/>
              </a:rPr>
              <a:t>one line here</a:t>
            </a:r>
            <a:r>
              <a:rPr sz="1250" b="0">
                <a:solidFill>
                  <a:srgbClr val="151515"/>
                </a:solidFill>
                <a:latin typeface="Segoe UI"/>
              </a:rPr>
              <a:t>, nothing else.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sz="12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50" b="0">
                <a:solidFill>
                  <a:srgbClr val="151515"/>
                </a:solidFill>
                <a:latin typeface="Segoe UI"/>
              </a:rPr>
              <a:t>A </a:t>
            </a:r>
            <a:r>
              <a:rPr sz="1200" b="0">
                <a:solidFill>
                  <a:srgbClr val="B54408"/>
                </a:solidFill>
                <a:latin typeface="Consolas"/>
              </a:rPr>
              <a:t>@dataclass</a:t>
            </a:r>
            <a:r>
              <a:rPr sz="1250" b="0">
                <a:solidFill>
                  <a:srgbClr val="151515"/>
                </a:solidFill>
                <a:latin typeface="Segoe UI"/>
              </a:rPr>
              <a:t> gives you free </a:t>
            </a:r>
            <a:r>
              <a:rPr sz="1200" b="0">
                <a:solidFill>
                  <a:srgbClr val="B54408"/>
                </a:solidFill>
                <a:latin typeface="Consolas"/>
              </a:rPr>
              <a:t>__init__</a:t>
            </a:r>
            <a:r>
              <a:rPr sz="1250" b="0">
                <a:solidFill>
                  <a:srgbClr val="151515"/>
                </a:solidFill>
                <a:latin typeface="Segoe UI"/>
              </a:rPr>
              <a:t>, free </a:t>
            </a:r>
            <a:r>
              <a:rPr sz="1200" b="0">
                <a:solidFill>
                  <a:srgbClr val="B54408"/>
                </a:solidFill>
                <a:latin typeface="Consolas"/>
              </a:rPr>
              <a:t>__repr__</a:t>
            </a:r>
            <a:r>
              <a:rPr sz="1250" b="0">
                <a:solidFill>
                  <a:srgbClr val="151515"/>
                </a:solidFill>
                <a:latin typeface="Segoe UI"/>
              </a:rPr>
              <a:t>, and </a:t>
            </a:r>
            <a:r>
              <a:rPr sz="1200" b="0">
                <a:solidFill>
                  <a:srgbClr val="B54408"/>
                </a:solidFill>
                <a:latin typeface="Consolas"/>
              </a:rPr>
              <a:t>asdict()</a:t>
            </a:r>
            <a:r>
              <a:rPr sz="1250" b="0">
                <a:solidFill>
                  <a:srgbClr val="151515"/>
                </a:solidFill>
                <a:latin typeface="Segoe UI"/>
              </a:rPr>
              <a:t> so the checkpoint can store the exact shape.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041648"/>
            <a:ext cx="4236415" cy="13716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0104" y="4187952"/>
            <a:ext cx="3779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RULE THAT BREAKS EVERYTHING IF YOU IGNORE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0104" y="4471416"/>
            <a:ext cx="3779215" cy="832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B54408"/>
                </a:solidFill>
                <a:latin typeface="Consolas"/>
              </a:rPr>
              <a:t>n_embd</a:t>
            </a:r>
            <a:r>
              <a:rPr sz="1250" b="0">
                <a:solidFill>
                  <a:srgbClr val="151515"/>
                </a:solidFill>
                <a:latin typeface="Segoe UI"/>
              </a:rPr>
              <a:t> </a:t>
            </a:r>
            <a:r>
              <a:rPr sz="1250" b="1">
                <a:solidFill>
                  <a:srgbClr val="151515"/>
                </a:solidFill>
                <a:latin typeface="Segoe UI"/>
              </a:rPr>
              <a:t>must divide evenly by</a:t>
            </a:r>
            <a:r>
              <a:rPr sz="1250" b="0">
                <a:solidFill>
                  <a:srgbClr val="151515"/>
                </a:solidFill>
                <a:latin typeface="Segoe UI"/>
              </a:rPr>
              <a:t> </a:t>
            </a:r>
            <a:r>
              <a:rPr sz="1200" b="0">
                <a:solidFill>
                  <a:srgbClr val="B54408"/>
                </a:solidFill>
                <a:latin typeface="Consolas"/>
              </a:rPr>
              <a:t>n_head</a:t>
            </a:r>
            <a:r>
              <a:rPr sz="1250" b="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128 / 4 = 32 ✓    384 / 6 = 64 ✓    100 / 3 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CONFIG1.PY  ·  THE SHAPE KNOBS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What happens if you turn each one UP or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5853" cy="47914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2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9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2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1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Knob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it is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Turn it UP ↑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Turn it DOWN ↓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block_size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How many tokens the model can look back at. Its memory span.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Longer memory, better long-range structure.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Attention cost grows with T²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— double it and attention gets ~4× slower and ~4× more memory.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Faster and lighter, but the model physically cannot see far. It will forget who was speaking two lines ago.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n_layer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How many transformer blocks are stacked. The model's depth.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More reasoning steps, richer features. Cost grows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linearly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. Too deep on tiny data = memorising, and harder to train.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Trains fast, but the model can only do shallow pattern-matching.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n_head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How many parallel attention heads per block. Each learns a different kind of relationship.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More kinds of relationship tracked at once (quotes, subject-verb, brackets).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Same total parameters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— you are only slicing n_embd differently.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Fewer, wider heads. One head must do every job. Usually slightly worse, sometimes fine at tiny scale.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n_embd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Length of the vector representing one token. The model's width.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The single biggest quality lever — but cost grows with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n_embd²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. Doubling it roughly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4×s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the parameters and the compute.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Much cheaper and faster. The model has less room to represent meaning and plateaus at a higher loss.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dropout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Fraction of neurons randomly zeroed during training only.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Stronger anti-memorisation. Too high (&gt;0.3 here) and the model can't learn at all — train loss stops falling.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Learns the training text faster — including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memorising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it. Watch val loss rise while train loss falls.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CONFIG1.PY  ·  WIDTH VS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Why n_embd is the expensive knob and n_layer is the cheap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5364327" cy="13716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3716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499856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THE FORMULA THAT PREDICTS MODEL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73351"/>
            <a:ext cx="4998567" cy="9052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400" b="0">
                <a:solidFill>
                  <a:srgbClr val="151515"/>
                </a:solidFill>
                <a:latin typeface="Consolas"/>
              </a:rPr>
              <a:t>params ≈ n_layer × 12 × n_embd²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400" b="0">
                <a:solidFill>
                  <a:srgbClr val="151515"/>
                </a:solidFill>
                <a:latin typeface="Consolas"/>
              </a:rPr>
              <a:t>                  + 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52928"/>
            <a:ext cx="536432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B54408"/>
                </a:solidFill>
                <a:latin typeface="Consolas"/>
              </a:rPr>
              <a:t>n_layer</a:t>
            </a:r>
            <a:r>
              <a:rPr sz="1300" b="0">
                <a:solidFill>
                  <a:srgbClr val="151515"/>
                </a:solidFill>
                <a:latin typeface="Segoe UI"/>
              </a:rPr>
              <a:t> appears </a:t>
            </a:r>
            <a:r>
              <a:rPr sz="1300" b="1">
                <a:solidFill>
                  <a:srgbClr val="151515"/>
                </a:solidFill>
                <a:latin typeface="Segoe UI"/>
              </a:rPr>
              <a:t>once</a:t>
            </a:r>
            <a:r>
              <a:rPr sz="1300" b="0">
                <a:solidFill>
                  <a:srgbClr val="151515"/>
                </a:solidFill>
                <a:latin typeface="Segoe UI"/>
              </a:rPr>
              <a:t> — linear. </a:t>
            </a:r>
            <a:r>
              <a:rPr sz="1250" b="0">
                <a:solidFill>
                  <a:srgbClr val="B54408"/>
                </a:solidFill>
                <a:latin typeface="Consolas"/>
              </a:rPr>
              <a:t>n_embd</a:t>
            </a:r>
            <a:r>
              <a:rPr sz="1300" b="0">
                <a:solidFill>
                  <a:srgbClr val="151515"/>
                </a:solidFill>
                <a:latin typeface="Segoe UI"/>
              </a:rPr>
              <a:t> is </a:t>
            </a:r>
            <a:r>
              <a:rPr sz="1300" b="1">
                <a:solidFill>
                  <a:srgbClr val="151515"/>
                </a:solidFill>
                <a:latin typeface="Segoe UI"/>
              </a:rPr>
              <a:t>squared</a:t>
            </a:r>
            <a:r>
              <a:rPr sz="1300" b="0">
                <a:solidFill>
                  <a:srgbClr val="151515"/>
                </a:solidFill>
                <a:latin typeface="Segoe UI"/>
              </a:rPr>
              <a:t>. That single exponent is why width costs so much more than depth.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3721608"/>
          <a:ext cx="5364325" cy="1719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Change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Params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Cost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baseline: 4 × 128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0.82 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1×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double depth: </a:t>
                      </a: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8</a:t>
                      </a: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 × 128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1.6 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2×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double width: 4 × </a:t>
                      </a: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256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3.2 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4×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double both: 8 × 256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6.4 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8×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24447" y="1298448"/>
            <a:ext cx="53643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WHERE THE 12 · N_EMBD² COMES FROM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24447" y="1591056"/>
          <a:ext cx="5364326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2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2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Piece of one block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Size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attention </a:t>
                      </a:r>
                      <a:r>
                        <a:rPr sz="1100" b="0">
                          <a:solidFill>
                            <a:srgbClr val="B54408"/>
                          </a:solidFill>
                          <a:latin typeface="Consolas"/>
                        </a:rPr>
                        <a:t>qkv</a:t>
                      </a: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  (C → 3C)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3 · C²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attention </a:t>
                      </a:r>
                      <a:r>
                        <a:rPr sz="1100" b="0">
                          <a:solidFill>
                            <a:srgbClr val="B54408"/>
                          </a:solidFill>
                          <a:latin typeface="Consolas"/>
                        </a:rPr>
                        <a:t>proj</a:t>
                      </a: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  (C → C)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 · C²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MLP up  (C → 4C)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4 · C²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MLP down  (4C → C)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4 · C²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one block total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≈ 12 · C²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324447" y="3904487"/>
            <a:ext cx="5364327" cy="169164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2191" y="4050791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INTUITION TO HAND THE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191" y="4334255"/>
            <a:ext cx="4907127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51515"/>
                </a:solidFill>
                <a:latin typeface="Segoe UI"/>
              </a:rPr>
              <a:t>Depth</a:t>
            </a:r>
            <a:r>
              <a:rPr sz="1250" b="0">
                <a:solidFill>
                  <a:srgbClr val="151515"/>
                </a:solidFill>
                <a:latin typeface="Segoe UI"/>
              </a:rPr>
              <a:t> = how many times the model gets to think. </a:t>
            </a:r>
            <a:r>
              <a:rPr sz="1250" b="1">
                <a:solidFill>
                  <a:srgbClr val="151515"/>
                </a:solidFill>
                <a:latin typeface="Segoe UI"/>
              </a:rPr>
              <a:t>Width</a:t>
            </a:r>
            <a:r>
              <a:rPr sz="1250" b="0">
                <a:solidFill>
                  <a:srgbClr val="151515"/>
                </a:solidFill>
                <a:latin typeface="Segoe UI"/>
              </a:rPr>
              <a:t> = how much it can hold in its head at each step.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You almost always run out of </a:t>
            </a:r>
            <a:r>
              <a:rPr sz="1250" b="1">
                <a:solidFill>
                  <a:srgbClr val="151515"/>
                </a:solidFill>
                <a:latin typeface="Segoe UI"/>
              </a:rPr>
              <a:t>data</a:t>
            </a:r>
            <a:r>
              <a:rPr sz="1250" b="0">
                <a:solidFill>
                  <a:srgbClr val="151515"/>
                </a:solidFill>
                <a:latin typeface="Segoe UI"/>
              </a:rPr>
              <a:t> before you run out of parameters — see the Chinchilla slides near the 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CONFIG1.PY  ·  BLOCK_SIZE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model's memory, drawn to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B54408"/>
                </a:solidFill>
                <a:latin typeface="Consolas"/>
              </a:rPr>
              <a:t>block_size</a:t>
            </a:r>
            <a:r>
              <a:rPr sz="1300" b="0">
                <a:solidFill>
                  <a:srgbClr val="151515"/>
                </a:solidFill>
                <a:latin typeface="Segoe UI"/>
              </a:rPr>
              <a:t> is a </a:t>
            </a:r>
            <a:r>
              <a:rPr sz="1300" b="1">
                <a:solidFill>
                  <a:srgbClr val="151515"/>
                </a:solidFill>
                <a:latin typeface="Segoe UI"/>
              </a:rPr>
              <a:t>hard wall</a:t>
            </a:r>
            <a:r>
              <a:rPr sz="1300" b="0">
                <a:solidFill>
                  <a:srgbClr val="151515"/>
                </a:solidFill>
                <a:latin typeface="Segoe UI"/>
              </a:rPr>
              <a:t>, not a preference. There is no row in </a:t>
            </a:r>
            <a:r>
              <a:rPr sz="1250" b="0">
                <a:solidFill>
                  <a:srgbClr val="B54408"/>
                </a:solidFill>
                <a:latin typeface="Consolas"/>
              </a:rPr>
              <a:t>pos_emb</a:t>
            </a:r>
            <a:r>
              <a:rPr sz="1300" b="0">
                <a:solidFill>
                  <a:srgbClr val="151515"/>
                </a:solidFill>
                <a:latin typeface="Segoe UI"/>
              </a:rPr>
              <a:t> for position 129, so the model cannot address it. </a:t>
            </a:r>
            <a:r>
              <a:rPr sz="1250" b="0">
                <a:solidFill>
                  <a:srgbClr val="B54408"/>
                </a:solidFill>
                <a:latin typeface="Consolas"/>
              </a:rPr>
              <a:t>generate6.py</a:t>
            </a:r>
            <a:r>
              <a:rPr sz="1300" b="0">
                <a:solidFill>
                  <a:srgbClr val="151515"/>
                </a:solidFill>
                <a:latin typeface="Segoe UI"/>
              </a:rPr>
              <a:t> literally slices the history: </a:t>
            </a:r>
            <a:r>
              <a:rPr sz="1250" b="0">
                <a:solidFill>
                  <a:srgbClr val="B54408"/>
                </a:solidFill>
                <a:latin typeface="Consolas"/>
              </a:rPr>
              <a:t>idx[:, -block_size:]</a:t>
            </a:r>
            <a:r>
              <a:rPr sz="1300" b="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84248"/>
            <a:ext cx="85953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929292"/>
                </a:solidFill>
                <a:latin typeface="Segoe UI"/>
              </a:rPr>
              <a:t>…the whole play so far, thousands of tokens…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1984248"/>
            <a:ext cx="2496312" cy="56692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last 128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24328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929292"/>
                </a:solidFill>
                <a:latin typeface="Segoe UI"/>
              </a:rPr>
              <a:t>invisible — the model has no way to reach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624328"/>
            <a:ext cx="24963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B54408"/>
                </a:solidFill>
                <a:latin typeface="Segoe UI"/>
              </a:rPr>
              <a:t>all it can see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3081528"/>
          <a:ext cx="11185853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5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1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2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3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924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Preset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block_size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In characters (char tokenizer)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In words (BPE tokenizer)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Attention cost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TINY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128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~128 characters ≈ 20-25 words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~90-100 words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128² = 16,384 scores per head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SMALL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256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~256 characters ≈ 45 words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~190 words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256² = 65,536 scores  (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4×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GPT-2 (2019)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1,024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~1,024 characters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~750 words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1,048,576 scores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GPT-5 (2025)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400,000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~300,000 words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impossible without FlashAttention + RoPE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02920" y="5367528"/>
            <a:ext cx="11185855" cy="105156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55138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CALLBACK TO SESSION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797296"/>
            <a:ext cx="107286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This is </a:t>
            </a:r>
            <a:r>
              <a:rPr sz="1250" b="1">
                <a:solidFill>
                  <a:srgbClr val="151515"/>
                </a:solidFill>
                <a:latin typeface="Segoe UI"/>
              </a:rPr>
              <a:t>exactly</a:t>
            </a:r>
            <a:r>
              <a:rPr sz="1250" b="0">
                <a:solidFill>
                  <a:srgbClr val="151515"/>
                </a:solidFill>
                <a:latin typeface="Segoe UI"/>
              </a:rPr>
              <a:t> the problem RAG chunking solves. The model has a fixed window; you either shrink what you feed it, or you change the position encoding so the window can grow. </a:t>
            </a:r>
            <a:r>
              <a:rPr sz="1250" b="1">
                <a:solidFill>
                  <a:srgbClr val="151515"/>
                </a:solidFill>
                <a:latin typeface="Segoe UI"/>
              </a:rPr>
              <a:t>RoPE</a:t>
            </a:r>
            <a:r>
              <a:rPr sz="1250" b="0">
                <a:solidFill>
                  <a:srgbClr val="151515"/>
                </a:solidFill>
                <a:latin typeface="Segoe UI"/>
              </a:rPr>
              <a:t> (file 10) is the second answer, and it's why GPT-5 has 400k and we have 128.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CONFIG1.PY  ·  N_HEAD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One wide vector, sliced into parallel heads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151515"/>
                </a:solidFill>
                <a:latin typeface="Segoe UI"/>
              </a:rPr>
              <a:t>Heads do </a:t>
            </a:r>
            <a:r>
              <a:rPr sz="1300" b="1">
                <a:solidFill>
                  <a:srgbClr val="151515"/>
                </a:solidFill>
                <a:latin typeface="Segoe UI"/>
              </a:rPr>
              <a:t>not</a:t>
            </a:r>
            <a:r>
              <a:rPr sz="1300" b="0">
                <a:solidFill>
                  <a:srgbClr val="151515"/>
                </a:solidFill>
                <a:latin typeface="Segoe UI"/>
              </a:rPr>
              <a:t> add parameters. </a:t>
            </a:r>
            <a:r>
              <a:rPr sz="1250" b="0">
                <a:solidFill>
                  <a:srgbClr val="B54408"/>
                </a:solidFill>
                <a:latin typeface="Consolas"/>
              </a:rPr>
              <a:t>n_embd</a:t>
            </a:r>
            <a:r>
              <a:rPr sz="1300" b="0">
                <a:solidFill>
                  <a:srgbClr val="151515"/>
                </a:solidFill>
                <a:latin typeface="Segoe UI"/>
              </a:rPr>
              <a:t> is split across them: </a:t>
            </a:r>
            <a:r>
              <a:rPr sz="1250" b="0">
                <a:solidFill>
                  <a:srgbClr val="B54408"/>
                </a:solidFill>
                <a:latin typeface="Consolas"/>
              </a:rPr>
              <a:t>head_size = n_embd / n_head</a:t>
            </a:r>
            <a:r>
              <a:rPr sz="1300" b="0">
                <a:solidFill>
                  <a:srgbClr val="151515"/>
                </a:solidFill>
                <a:latin typeface="Segoe UI"/>
              </a:rPr>
              <a:t>. Four heads of 32 or one head of 128 — same numbers, different grouping.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2743200" cy="548640"/>
          </a:xfrm>
          <a:prstGeom prst="roundRect">
            <a:avLst>
              <a:gd name="adj" fmla="val 12000"/>
            </a:avLst>
          </a:prstGeom>
          <a:solidFill>
            <a:srgbClr val="FFF2E8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51515"/>
                </a:solidFill>
                <a:latin typeface="Segoe UI"/>
              </a:rPr>
              <a:t>n_embd = 128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83280" y="2093976"/>
            <a:ext cx="457200" cy="20116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023360" y="1920240"/>
            <a:ext cx="17830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head 0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5C5C5C"/>
                </a:solidFill>
                <a:latin typeface="Segoe UI"/>
              </a:rPr>
              <a:t>32 numbers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920240"/>
            <a:ext cx="17830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head 1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5C5C5C"/>
                </a:solidFill>
                <a:latin typeface="Segoe UI"/>
              </a:rPr>
              <a:t>32 numbers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920240"/>
            <a:ext cx="17830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head 2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5C5C5C"/>
                </a:solidFill>
                <a:latin typeface="Segoe UI"/>
              </a:rPr>
              <a:t>32 numbers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920240"/>
            <a:ext cx="17830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head 3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5C5C5C"/>
                </a:solidFill>
                <a:latin typeface="Segoe UI"/>
              </a:rPr>
              <a:t>32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578608"/>
            <a:ext cx="7635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B54408"/>
                </a:solidFill>
                <a:latin typeface="Segoe UI"/>
              </a:rPr>
              <a:t>each head learns its own kind of relationship — one may track quotes, another subject→verb, another indentation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90088"/>
            <a:ext cx="5364327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" y="313639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IF N_HEAD GOES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3419856"/>
            <a:ext cx="4907127" cy="832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More relationship types tracked in parallel, each with a </a:t>
            </a:r>
            <a:r>
              <a:rPr sz="1250" b="1">
                <a:solidFill>
                  <a:srgbClr val="151515"/>
                </a:solidFill>
                <a:latin typeface="Segoe UI"/>
              </a:rPr>
              <a:t>narrower</a:t>
            </a:r>
            <a:r>
              <a:rPr sz="1250" b="0">
                <a:solidFill>
                  <a:srgbClr val="151515"/>
                </a:solidFill>
                <a:latin typeface="Segoe UI"/>
              </a:rPr>
              <a:t> slice to work in. Too many heads on a small </a:t>
            </a:r>
            <a:r>
              <a:rPr sz="1200" b="0">
                <a:solidFill>
                  <a:srgbClr val="B54408"/>
                </a:solidFill>
                <a:latin typeface="Consolas"/>
              </a:rPr>
              <a:t>n_embd</a:t>
            </a:r>
            <a:r>
              <a:rPr sz="1250" b="0">
                <a:solidFill>
                  <a:srgbClr val="151515"/>
                </a:solidFill>
                <a:latin typeface="Segoe UI"/>
              </a:rPr>
              <a:t> starves each one — 128 / 16 = 8 numbers per head is too thin to represent much.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08376"/>
            <a:ext cx="5272887" cy="2743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4447" y="2990088"/>
            <a:ext cx="5364327" cy="13716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2191" y="313639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IF N_HEAD GOES 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191" y="3419856"/>
            <a:ext cx="4907127" cy="832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Fewer, fatter heads. One head must serve every purpose at once, so it averages conflicting jobs together. Usually a small quality loss; at our scale you may not even measure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90288"/>
            <a:ext cx="11185855" cy="128016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590288"/>
            <a:ext cx="41148" cy="1280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4709159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model4.py LINE 45 — THE ASSERT THAT SAVES YOUR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4965192"/>
            <a:ext cx="10820095" cy="8138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Consolas"/>
              </a:rPr>
              <a:t>assert cfg.n_embd % cfg.n_head == 0, "n_embd must divide evenly by n_head"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250" b="0">
              <a:solidFill>
                <a:srgbClr val="151515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50" b="0">
                <a:solidFill>
                  <a:srgbClr val="929292"/>
                </a:solidFill>
                <a:latin typeface="Consolas"/>
              </a:rPr>
              <a:t># 128 / 4 = 32  OK        384 / 6 = 64  OK        100 / 3  -&gt;  AssertionError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CONFIG1.PY  ·  DROPOUT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Randomly switching neurons off, with a dry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151515"/>
                </a:solidFill>
                <a:latin typeface="Segoe UI"/>
              </a:rPr>
              <a:t>During </a:t>
            </a:r>
            <a:r>
              <a:rPr sz="1300" b="1">
                <a:solidFill>
                  <a:srgbClr val="151515"/>
                </a:solidFill>
                <a:latin typeface="Segoe UI"/>
              </a:rPr>
              <a:t>training only</a:t>
            </a:r>
            <a:r>
              <a:rPr sz="1300" b="0">
                <a:solidFill>
                  <a:srgbClr val="151515"/>
                </a:solidFill>
                <a:latin typeface="Segoe UI"/>
              </a:rPr>
              <a:t>, dropout zeroes a random fraction </a:t>
            </a:r>
            <a:r>
              <a:rPr sz="1250" b="0">
                <a:solidFill>
                  <a:srgbClr val="B54408"/>
                </a:solidFill>
                <a:latin typeface="Consolas"/>
              </a:rPr>
              <a:t>p</a:t>
            </a:r>
            <a:r>
              <a:rPr sz="1300" b="0">
                <a:solidFill>
                  <a:srgbClr val="151515"/>
                </a:solidFill>
                <a:latin typeface="Segoe UI"/>
              </a:rPr>
              <a:t> of the values and scales the survivors up by </a:t>
            </a:r>
            <a:r>
              <a:rPr sz="1250" b="0">
                <a:solidFill>
                  <a:srgbClr val="B54408"/>
                </a:solidFill>
                <a:latin typeface="Consolas"/>
              </a:rPr>
              <a:t>1/(1-p)</a:t>
            </a:r>
            <a:r>
              <a:rPr sz="1300" b="0">
                <a:solidFill>
                  <a:srgbClr val="151515"/>
                </a:solidFill>
                <a:latin typeface="Segoe UI"/>
              </a:rPr>
              <a:t> so the total stays the same. At eval time it does nothing.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65376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DRY RUN: AN 8-NUMBER VECTOR WITH P = 0.25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185416"/>
            <a:ext cx="56692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4288" y="2185416"/>
            <a:ext cx="56692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1216" y="2185416"/>
            <a:ext cx="56692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8144" y="2185416"/>
            <a:ext cx="56692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5072" y="2185416"/>
            <a:ext cx="56692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185416"/>
            <a:ext cx="56692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8" y="2185416"/>
            <a:ext cx="56692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05856" y="2185416"/>
            <a:ext cx="56692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044952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mask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2880360"/>
            <a:ext cx="56692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04288" y="2880360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71216" y="2880360"/>
            <a:ext cx="56692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38144" y="2880360"/>
            <a:ext cx="56692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05072" y="2880360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880360"/>
            <a:ext cx="56692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2880360"/>
            <a:ext cx="56692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05856" y="2880360"/>
            <a:ext cx="56692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3739896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3575304"/>
            <a:ext cx="566928" cy="566928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1.33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04288" y="3575304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71216" y="3575304"/>
            <a:ext cx="566928" cy="566928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4.0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38144" y="3575304"/>
            <a:ext cx="566928" cy="566928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5.33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05072" y="3575304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575304"/>
            <a:ext cx="566928" cy="566928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8.0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38928" y="3575304"/>
            <a:ext cx="566928" cy="566928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9.33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05856" y="3575304"/>
            <a:ext cx="566928" cy="566928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10.67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2231136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54408"/>
                </a:solidFill>
                <a:latin typeface="Segoe UI"/>
              </a:rPr>
              <a:t>survivors × 1/(1−0.25) = </a:t>
            </a:r>
            <a:r>
              <a:rPr sz="1200" b="1">
                <a:solidFill>
                  <a:srgbClr val="B54408"/>
                </a:solidFill>
                <a:latin typeface="Segoe UI"/>
              </a:rPr>
              <a:t>× 1.333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59" y="2916936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sum in = 36.0        sum out = 38.7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3236976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over many random masks the </a:t>
            </a:r>
            <a:r>
              <a:rPr sz="1150" b="1">
                <a:solidFill>
                  <a:srgbClr val="5C5C5C"/>
                </a:solidFill>
                <a:latin typeface="Segoe UI"/>
              </a:rPr>
              <a:t>expected</a:t>
            </a:r>
            <a:r>
              <a:rPr sz="1150" b="0">
                <a:solidFill>
                  <a:srgbClr val="5C5C5C"/>
                </a:solidFill>
                <a:latin typeface="Segoe UI"/>
              </a:rPr>
              <a:t> sum is unchanged —
which is why eval needs no rescaling at all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361688"/>
            <a:ext cx="5364327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0664" y="450799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DROPOUT ↑ (SAY 0.3-0.5)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" y="4791455"/>
            <a:ext cx="4907127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The model can never rely on any one neuron, so it is forced to spread the representation out. Strong anti-memorisation — but past ~0.3 at this size the training loss simply stops falling. </a:t>
            </a:r>
            <a:r>
              <a:rPr sz="1250" b="1">
                <a:solidFill>
                  <a:srgbClr val="151515"/>
                </a:solidFill>
                <a:latin typeface="Segoe UI"/>
              </a:rPr>
              <a:t>The model is being lobotomised faster than it can learn.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379975"/>
            <a:ext cx="5272887" cy="2743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324447" y="4361688"/>
            <a:ext cx="5364327" cy="155448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62191" y="450799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DROPOUT ↓ (0.0)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2191" y="4791455"/>
            <a:ext cx="4907127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Training loss drops faster and further — which looks great and is a trap. With 1 MB of Shakespeare and 0.8M parameters, the model will start </a:t>
            </a:r>
            <a:r>
              <a:rPr sz="1250" b="1">
                <a:solidFill>
                  <a:srgbClr val="151515"/>
                </a:solidFill>
                <a:latin typeface="Segoe UI"/>
              </a:rPr>
              <a:t>memorising the file</a:t>
            </a:r>
            <a:r>
              <a:rPr sz="1250" b="0">
                <a:solidFill>
                  <a:srgbClr val="151515"/>
                </a:solidFill>
                <a:latin typeface="Segoe UI"/>
              </a:rPr>
              <a:t>. You will see it as train loss falling while </a:t>
            </a:r>
            <a:r>
              <a:rPr sz="1250" b="1">
                <a:solidFill>
                  <a:srgbClr val="151515"/>
                </a:solidFill>
                <a:latin typeface="Segoe UI"/>
              </a:rPr>
              <a:t>val loss flattens or rises</a:t>
            </a:r>
            <a:r>
              <a:rPr sz="1250" b="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CONFIG1.PY  ·  THE TRAINING KNOBS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What happens if you turn each one UP or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5853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4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9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2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9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Knob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it is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Turn it UP ↑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Turn it DOWN ↓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batch_size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How many random windows of text we learn from at once.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Smoother, less noisy gradients and better GPU utilisation. Costs linear memory — this is the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first knob to cut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when you hit CUDA out-of-memory.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Noisier gradients (which sometimes helps escape bad minima), lower memory, but poor GPU utilisation — the card sits idle.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max_iters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How many training steps we take. Total tokens seen = iters × batch × block.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Lower loss, up to a point. Past that you are just doing more epochs over the same tiny file and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memorising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it.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Faster demo, higher final loss. Below ~500 on TINY the samples never get past letter soup and the demo falls flat.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learning_rate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How big a step the optimizer takes each time.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Learns faster — until it doesn't. Too high and the loss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spikes or goes to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</a:t>
                      </a:r>
                      <a:r>
                        <a:rPr sz="980" b="0">
                          <a:solidFill>
                            <a:srgbClr val="B54408"/>
                          </a:solidFill>
                          <a:latin typeface="Consolas"/>
                        </a:rPr>
                        <a:t>nan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. That is the #1 cause of a broken live demo.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Very stable, very slow. The loss curve looks almost flat and students think nothing is happening.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eval_interval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How often we stop and measure train/val loss + print a sample.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Less interruption, faster wall-clock training. But you see the model learn in fewer snapshots — you lose the demo.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More snapshots, prettier curve, slower run. Each eval costs </a:t>
                      </a:r>
                      <a:r>
                        <a:rPr sz="980" b="0">
                          <a:solidFill>
                            <a:srgbClr val="B54408"/>
                          </a:solidFill>
                          <a:latin typeface="Consolas"/>
                        </a:rPr>
                        <a:t>2 × eval_iters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extra forward passes.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eval_iters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How many batches we average to get one loss number.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A more trustworthy number, less jitter between evals.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Noisy loss readings. With 1 batch you cannot tell learning from luck.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CONFIG1.PY  ·  LEARNING_RATE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knob that decides whether your demo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48477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51515"/>
                </a:solidFill>
                <a:latin typeface="Segoe UI"/>
              </a:rPr>
              <a:t>TOO LOW  ·  1e-6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65376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loss barely moves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67128"/>
            <a:ext cx="3484778" cy="141732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167128"/>
            <a:ext cx="41148" cy="14173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286000"/>
            <a:ext cx="3119018" cy="12070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4.17 → 4.16 → 4.15 → 4.15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→ 4.14 → 4.14 …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50" b="0">
              <a:solidFill>
                <a:srgbClr val="151515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“is it even running?”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3458" y="1298448"/>
            <a:ext cx="3484778" cy="47548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JUST RIGHT  ·  3e-4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3458" y="1865376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loss falls and stays down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3458" y="2167128"/>
            <a:ext cx="3484778" cy="141732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53458" y="2167128"/>
            <a:ext cx="41148" cy="14173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4626" y="2286000"/>
            <a:ext cx="3119018" cy="12070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4.17 → 2.61 → 2.10 → 1.88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→ 1.72 → 1.63 …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50" b="0">
              <a:solidFill>
                <a:srgbClr val="151515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this is what you want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3996" y="1298448"/>
            <a:ext cx="348477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51515"/>
                </a:solidFill>
                <a:latin typeface="Segoe UI"/>
              </a:rPr>
              <a:t>TOO HIGH  ·  1e-1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1865376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loss explodes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3996" y="2167128"/>
            <a:ext cx="3484778" cy="141732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03996" y="2167128"/>
            <a:ext cx="41148" cy="14173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05164" y="2286000"/>
            <a:ext cx="3119018" cy="12070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4.17 → 8.92 → 41.3 → nan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→ nan → nan …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50" b="0">
              <a:solidFill>
                <a:srgbClr val="151515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the run is dead, restart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813048"/>
            <a:ext cx="1118585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50" b="0">
                <a:solidFill>
                  <a:srgbClr val="B54408"/>
                </a:solidFill>
                <a:latin typeface="Consolas"/>
              </a:rPr>
              <a:t>nan</a:t>
            </a:r>
            <a:r>
              <a:rPr sz="1300" b="0">
                <a:solidFill>
                  <a:srgbClr val="151515"/>
                </a:solidFill>
                <a:latin typeface="Segoe UI"/>
              </a:rPr>
              <a:t> </a:t>
            </a:r>
            <a:r>
              <a:rPr sz="1300" b="1">
                <a:solidFill>
                  <a:srgbClr val="151515"/>
                </a:solidFill>
                <a:latin typeface="Segoe UI"/>
              </a:rPr>
              <a:t>loss is almost always the learning rate.</a:t>
            </a:r>
            <a:r>
              <a:rPr sz="1300" b="0">
                <a:solidFill>
                  <a:srgbClr val="151515"/>
                </a:solidFill>
                <a:latin typeface="Segoe UI"/>
              </a:rPr>
              <a:t> A single bad batch produces a huge gradient, the weights jump far outside their sane range, and every number after that is garbage. </a:t>
            </a:r>
            <a:r>
              <a:rPr sz="1250" b="0">
                <a:solidFill>
                  <a:srgbClr val="B54408"/>
                </a:solidFill>
                <a:latin typeface="Consolas"/>
              </a:rPr>
              <a:t>TINY</a:t>
            </a:r>
            <a:r>
              <a:rPr sz="1300" b="0">
                <a:solidFill>
                  <a:srgbClr val="151515"/>
                </a:solidFill>
                <a:latin typeface="Segoe UI"/>
              </a:rPr>
              <a:t> uses </a:t>
            </a:r>
            <a:r>
              <a:rPr sz="1250" b="0">
                <a:solidFill>
                  <a:srgbClr val="B54408"/>
                </a:solidFill>
                <a:latin typeface="Consolas"/>
              </a:rPr>
              <a:t>3e-4</a:t>
            </a:r>
            <a:r>
              <a:rPr sz="1300" b="0">
                <a:solidFill>
                  <a:srgbClr val="151515"/>
                </a:solidFill>
                <a:latin typeface="Segoe UI"/>
              </a:rPr>
              <a:t> for exactly this reason.</a:t>
            </a:r>
          </a:p>
          <a:p>
            <a:pPr>
              <a:lnSpc>
                <a:spcPct val="116000"/>
              </a:lnSpc>
              <a:spcBef>
                <a:spcPts val="110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50" b="0">
                <a:solidFill>
                  <a:srgbClr val="B54408"/>
                </a:solidFill>
                <a:latin typeface="Consolas"/>
              </a:rPr>
              <a:t>clip_grad_norm_(params, 1.0)</a:t>
            </a:r>
            <a:r>
              <a:rPr sz="1300" b="0">
                <a:solidFill>
                  <a:srgbClr val="151515"/>
                </a:solidFill>
                <a:latin typeface="Segoe UI"/>
              </a:rPr>
              <a:t> in </a:t>
            </a:r>
            <a:r>
              <a:rPr sz="1250" b="0">
                <a:solidFill>
                  <a:srgbClr val="B54408"/>
                </a:solidFill>
                <a:latin typeface="Consolas"/>
              </a:rPr>
              <a:t>train5.py</a:t>
            </a:r>
            <a:r>
              <a:rPr sz="1300" b="0">
                <a:solidFill>
                  <a:srgbClr val="151515"/>
                </a:solidFill>
                <a:latin typeface="Segoe UI"/>
              </a:rPr>
              <a:t> is the seatbelt — it caps how big a single step can be, so one bad batch cannot kill the run.</a:t>
            </a:r>
          </a:p>
          <a:p>
            <a:pPr>
              <a:lnSpc>
                <a:spcPct val="116000"/>
              </a:lnSpc>
              <a:spcBef>
                <a:spcPts val="110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50" b="0">
                <a:solidFill>
                  <a:srgbClr val="B54408"/>
                </a:solidFill>
                <a:latin typeface="Consolas"/>
              </a:rPr>
              <a:t>SMALL</a:t>
            </a:r>
            <a:r>
              <a:rPr sz="1300" b="0">
                <a:solidFill>
                  <a:srgbClr val="151515"/>
                </a:solidFill>
                <a:latin typeface="Segoe UI"/>
              </a:rPr>
              <a:t> uses </a:t>
            </a:r>
            <a:r>
              <a:rPr sz="1250" b="0">
                <a:solidFill>
                  <a:srgbClr val="B54408"/>
                </a:solidFill>
                <a:latin typeface="Consolas"/>
              </a:rPr>
              <a:t>1e-3</a:t>
            </a:r>
            <a:r>
              <a:rPr sz="1300" b="0">
                <a:solidFill>
                  <a:srgbClr val="151515"/>
                </a:solidFill>
                <a:latin typeface="Segoe UI"/>
              </a:rPr>
              <a:t>, </a:t>
            </a:r>
            <a:r>
              <a:rPr sz="1300" b="1">
                <a:solidFill>
                  <a:srgbClr val="151515"/>
                </a:solidFill>
                <a:latin typeface="Segoe UI"/>
              </a:rPr>
              <a:t>higher</a:t>
            </a:r>
            <a:r>
              <a:rPr sz="1300" b="0">
                <a:solidFill>
                  <a:srgbClr val="151515"/>
                </a:solidFill>
                <a:latin typeface="Segoe UI"/>
              </a:rPr>
              <a:t> than TINY. Bigger batches average out more noise, so a bigger model on a GPU can safely take bigger steps. Learning rate and batch size are tuned together, never alone.</a:t>
            </a:r>
          </a:p>
          <a:p>
            <a:pPr>
              <a:lnSpc>
                <a:spcPct val="116000"/>
              </a:lnSpc>
              <a:spcBef>
                <a:spcPts val="110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0">
                <a:solidFill>
                  <a:srgbClr val="151515"/>
                </a:solidFill>
                <a:latin typeface="Segoe UI"/>
              </a:rPr>
              <a:t>Real training runs use a </a:t>
            </a:r>
            <a:r>
              <a:rPr sz="1300" b="1">
                <a:solidFill>
                  <a:srgbClr val="151515"/>
                </a:solidFill>
                <a:latin typeface="Segoe UI"/>
              </a:rPr>
              <a:t>schedule</a:t>
            </a:r>
            <a:r>
              <a:rPr sz="1300" b="0">
                <a:solidFill>
                  <a:srgbClr val="151515"/>
                </a:solidFill>
                <a:latin typeface="Segoe UI"/>
              </a:rPr>
              <a:t>: warm up from 0 over the first few hundred steps, then cosine-decay to near zero. We skipped it — it is one of the “did not build” items and it is worth maybe 5-10% final loss.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CONFIG1.PY  ·  VOCAB_SIZE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one field you must never set by hand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035040" cy="118872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188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5669279" cy="978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50" b="0">
                <a:solidFill>
                  <a:srgbClr val="929292"/>
                </a:solidFill>
                <a:latin typeface="Consolas"/>
              </a:rPr>
              <a:t># vocab_size is NOT set by you.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50" b="0">
                <a:solidFill>
                  <a:srgbClr val="929292"/>
                </a:solidFill>
                <a:latin typeface="Consolas"/>
              </a:rPr>
              <a:t># data3.py decides it and train5.py fills it in.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Consolas"/>
              </a:rPr>
              <a:t>vocab_size: int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15768"/>
            <a:ext cx="6035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151515"/>
                </a:solidFill>
                <a:latin typeface="Segoe UI"/>
              </a:rPr>
              <a:t>The </a:t>
            </a:r>
            <a:r>
              <a:rPr sz="1300" b="1">
                <a:solidFill>
                  <a:srgbClr val="151515"/>
                </a:solidFill>
                <a:latin typeface="Segoe UI"/>
              </a:rPr>
              <a:t>data</a:t>
            </a:r>
            <a:r>
              <a:rPr sz="1300" b="0">
                <a:solidFill>
                  <a:srgbClr val="151515"/>
                </a:solidFill>
                <a:latin typeface="Segoe UI"/>
              </a:rPr>
              <a:t> decides the vocabulary. </a:t>
            </a:r>
            <a:r>
              <a:rPr sz="1250" b="0">
                <a:solidFill>
                  <a:srgbClr val="B54408"/>
                </a:solidFill>
                <a:latin typeface="Consolas"/>
              </a:rPr>
              <a:t>data3.py</a:t>
            </a:r>
            <a:r>
              <a:rPr sz="1300" b="0">
                <a:solidFill>
                  <a:srgbClr val="151515"/>
                </a:solidFill>
                <a:latin typeface="Segoe UI"/>
              </a:rPr>
              <a:t> builds the tokenizer, counts what it found, and writes </a:t>
            </a:r>
            <a:r>
              <a:rPr sz="1250" b="0">
                <a:solidFill>
                  <a:srgbClr val="B54408"/>
                </a:solidFill>
                <a:latin typeface="Consolas"/>
              </a:rPr>
              <a:t>tokenizer.json</a:t>
            </a:r>
            <a:r>
              <a:rPr sz="1300" b="0">
                <a:solidFill>
                  <a:srgbClr val="151515"/>
                </a:solidFill>
                <a:latin typeface="Segoe UI"/>
              </a:rPr>
              <a:t>. </a:t>
            </a:r>
            <a:r>
              <a:rPr sz="1250" b="0">
                <a:solidFill>
                  <a:srgbClr val="B54408"/>
                </a:solidFill>
                <a:latin typeface="Consolas"/>
              </a:rPr>
              <a:t>train5.py</a:t>
            </a:r>
            <a:r>
              <a:rPr sz="1300" b="0">
                <a:solidFill>
                  <a:srgbClr val="151515"/>
                </a:solidFill>
                <a:latin typeface="Segoe UI"/>
              </a:rPr>
              <a:t> reads that file and sets </a:t>
            </a:r>
            <a:r>
              <a:rPr sz="1250" b="0">
                <a:solidFill>
                  <a:srgbClr val="B54408"/>
                </a:solidFill>
                <a:latin typeface="Consolas"/>
              </a:rPr>
              <a:t>cfg.vocab_size = tok.vocab_size</a:t>
            </a:r>
            <a:r>
              <a:rPr sz="1300" b="0">
                <a:solidFill>
                  <a:srgbClr val="151515"/>
                </a:solidFill>
                <a:latin typeface="Segoe UI"/>
              </a:rPr>
              <a:t> before the model is even constructed.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78808"/>
            <a:ext cx="6035040" cy="14173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4325112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IF YOU HAND-EDIT IT ANYWAY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4608576"/>
            <a:ext cx="557784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B54408"/>
                </a:solidFill>
                <a:latin typeface="Consolas"/>
              </a:rPr>
              <a:t>IndexError: index out of range in self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The embedding table has fewer rows than a token id the data actually contains. Re-run </a:t>
            </a:r>
            <a:r>
              <a:rPr sz="1200" b="0">
                <a:solidFill>
                  <a:srgbClr val="B54408"/>
                </a:solidFill>
                <a:latin typeface="Consolas"/>
              </a:rPr>
              <a:t>data3.py</a:t>
            </a:r>
            <a:r>
              <a:rPr sz="1250" b="0">
                <a:solidFill>
                  <a:srgbClr val="151515"/>
                </a:solidFill>
                <a:latin typeface="Segoe UI"/>
              </a:rPr>
              <a:t>, then </a:t>
            </a:r>
            <a:r>
              <a:rPr sz="1200" b="0">
                <a:solidFill>
                  <a:srgbClr val="B54408"/>
                </a:solidFill>
                <a:latin typeface="Consolas"/>
              </a:rPr>
              <a:t>train5.py</a:t>
            </a:r>
            <a:r>
              <a:rPr sz="1250" b="0">
                <a:solidFill>
                  <a:srgbClr val="151515"/>
                </a:solidFill>
                <a:latin typeface="Segoe UI"/>
              </a:rPr>
              <a:t>. Never patch the number.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298448"/>
            <a:ext cx="4830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WHAT DECIDES THE NUMBER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0" y="1591056"/>
          <a:ext cx="4830773" cy="224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5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2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Tokenizer + data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vocab_size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Untrained loss ≈ ln(V)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char · Shakespeare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65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4.17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char · the demo string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2.49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bpe · our default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1,024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6.93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GPT-2 (2019)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50,257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10.82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Llama 3 (2024)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128,000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11.76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858000" y="4178808"/>
            <a:ext cx="4830775" cy="14173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95744" y="4325112"/>
            <a:ext cx="43735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FREE SANITY CHECK FOR THE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4608576"/>
            <a:ext cx="4373575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Before training, the model guesses uniformly, so its loss should sit near </a:t>
            </a:r>
            <a:r>
              <a:rPr sz="1250" b="1">
                <a:solidFill>
                  <a:srgbClr val="151515"/>
                </a:solidFill>
                <a:latin typeface="Segoe UI"/>
              </a:rPr>
              <a:t>ln(vocab_size)</a:t>
            </a:r>
            <a:r>
              <a:rPr sz="1250" b="0">
                <a:solidFill>
                  <a:srgbClr val="151515"/>
                </a:solidFill>
                <a:latin typeface="Segoe UI"/>
              </a:rPr>
              <a:t>. If step 1 of your run prints ≈ 4.17 on Shakespeare, your model and data agree. If it prints 11, something is wrong.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CONFIG1.PY  ·  TINY VS SMALL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Same code. Two sets of numbers. Real parameter counts.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5850" cy="1380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24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2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8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92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56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40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8285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56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/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block_size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n_layer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n_head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head_size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n_embd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batch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iters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lr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Params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Where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Time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TINY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128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128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2,000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3e-4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818,048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your CPU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~3 min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SMALL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256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384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5,000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1e-3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10,770,816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L4 GPU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~10 min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89864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DRY RUN: ADDING UP TINY BY HAND (VOCAB = 65)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18688"/>
            <a:ext cx="5364327" cy="23774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218688"/>
            <a:ext cx="41148" cy="23774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3337560"/>
            <a:ext cx="4998567" cy="21671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per block: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qkv  128 x 384 = 49,152   + 384 bias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proj 128 x 128 = 16,384   + 128 bias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mlp  128 x 512 = 65,536   + 512 bias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mlp  512 x 128 = 65,536   + 128 bias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ln1 + ln2      =    512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------------------------------------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one block      = 198,272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3218688"/>
            <a:ext cx="5364327" cy="23774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4447" y="3218688"/>
            <a:ext cx="41148" cy="23774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5615" y="3337560"/>
            <a:ext cx="4998567" cy="21671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198,272 x 4 layers  =   793,088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tok_emb  65 x 128   =     8,320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pos_emb 128 x 128   =    16,384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ln_f                =       256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head (weight-tied)  =         0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----------------------------------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TOTAL               =   818,048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                    ~0.82M  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FILE</a:t>
            </a:r>
          </a:p>
          <a:p>
            <a:pPr>
              <a:spcBef>
                <a:spcPts val="0"/>
              </a:spcBef>
            </a:pPr>
            <a:r>
              <a:rPr sz="9600" b="1">
                <a:solidFill>
                  <a:srgbClr val="E8590C"/>
                </a:solidFill>
                <a:latin typeface="Segoe U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6280" y="2084831"/>
            <a:ext cx="707105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>
                <a:solidFill>
                  <a:srgbClr val="151515"/>
                </a:solidFill>
                <a:latin typeface="Segoe UI"/>
              </a:rPr>
              <a:t>tokenizer2.py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2852928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6280" y="3063240"/>
            <a:ext cx="70710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>
                <a:solidFill>
                  <a:srgbClr val="5C5C5C"/>
                </a:solidFill>
                <a:latin typeface="Segoe UI"/>
              </a:rPr>
              <a:t>Turning text into numbers — two algorithms,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3794760"/>
            <a:ext cx="70710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CharTokenizer: one integer per character, about 15 lines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BPETokenizer: byte-pair encoding, the same algorithm GPT-4 uses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Identical interface, so nothing downstream cares which you picked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TOKENIZER2.PY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Why this file has to exist at 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85855" cy="658368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444751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800" b="0">
                <a:solidFill>
                  <a:srgbClr val="151515"/>
                </a:solidFill>
                <a:latin typeface="Segoe UI"/>
              </a:rPr>
              <a:t>A neural network cannot read letters. It only multiplies numbers.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67128"/>
            <a:ext cx="23774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51515"/>
                </a:solidFill>
                <a:latin typeface="Segoe UI"/>
              </a:rPr>
              <a:t>"hello"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83280" y="2386584"/>
            <a:ext cx="731520" cy="219456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51959" y="2167128"/>
            <a:ext cx="3108960" cy="658368"/>
          </a:xfrm>
          <a:prstGeom prst="roundRect">
            <a:avLst>
              <a:gd name="adj" fmla="val 12000"/>
            </a:avLst>
          </a:prstGeom>
          <a:solidFill>
            <a:srgbClr val="FFE4D1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51515"/>
                </a:solidFill>
                <a:latin typeface="Segoe UI"/>
              </a:rPr>
              <a:t>[46, 43, 50, 50, 53]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98080" y="2386584"/>
            <a:ext cx="731520" cy="219456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66760" y="2167128"/>
            <a:ext cx="2926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51515"/>
                </a:solidFill>
                <a:latin typeface="Segoe UI"/>
              </a:rPr>
              <a:t>the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9864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B54408"/>
                </a:solidFill>
                <a:latin typeface="Segoe UI"/>
              </a:rPr>
              <a:t>encode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89864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B54408"/>
                </a:solidFill>
                <a:latin typeface="Segoe UI"/>
              </a:rPr>
              <a:t>train /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6440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TWO FACTS STUDENTS CONSISTENTLY GET 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84448"/>
            <a:ext cx="1118585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3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50" b="0">
                <a:solidFill>
                  <a:srgbClr val="151515"/>
                </a:solidFill>
                <a:latin typeface="Segoe UI"/>
              </a:rPr>
              <a:t>The tokenizer is </a:t>
            </a:r>
            <a:r>
              <a:rPr sz="1350" b="1">
                <a:solidFill>
                  <a:srgbClr val="151515"/>
                </a:solidFill>
                <a:latin typeface="Segoe UI"/>
              </a:rPr>
              <a:t>not part of the neural network.</a:t>
            </a:r>
            <a:r>
              <a:rPr sz="1350" b="0">
                <a:solidFill>
                  <a:srgbClr val="151515"/>
                </a:solidFill>
                <a:latin typeface="Segoe UI"/>
              </a:rPr>
              <a:t> It is built by </a:t>
            </a:r>
            <a:r>
              <a:rPr sz="1350" b="1">
                <a:solidFill>
                  <a:srgbClr val="151515"/>
                </a:solidFill>
                <a:latin typeface="Segoe UI"/>
              </a:rPr>
              <a:t>counting</a:t>
            </a:r>
            <a:r>
              <a:rPr sz="1350" b="0">
                <a:solidFill>
                  <a:srgbClr val="151515"/>
                </a:solidFill>
                <a:latin typeface="Segoe UI"/>
              </a:rPr>
              <a:t>, before the model exists, and it is frozen. Backprop never touches it.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3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50" b="0">
                <a:solidFill>
                  <a:srgbClr val="151515"/>
                </a:solidFill>
                <a:latin typeface="Segoe UI"/>
              </a:rPr>
              <a:t>The tokenizer decides </a:t>
            </a:r>
            <a:r>
              <a:rPr sz="1300" b="0">
                <a:solidFill>
                  <a:srgbClr val="B54408"/>
                </a:solidFill>
                <a:latin typeface="Consolas"/>
              </a:rPr>
              <a:t>vocab_size</a:t>
            </a:r>
            <a:r>
              <a:rPr sz="1350" b="0">
                <a:solidFill>
                  <a:srgbClr val="151515"/>
                </a:solidFill>
                <a:latin typeface="Segoe UI"/>
              </a:rPr>
              <a:t>, which decides the size of the embedding table and the output layer. It is upstream of the whole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61688"/>
            <a:ext cx="11185855" cy="12344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4361688"/>
            <a:ext cx="41148" cy="12344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4480559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BOTH TOKENIZERS EXPOSE EXACTLY THIS — SO NOTHING ELSE IN ARGPT CARES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736592"/>
            <a:ext cx="10820095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350" b="0">
                <a:solidFill>
                  <a:srgbClr val="151515"/>
                </a:solidFill>
                <a:latin typeface="Consolas"/>
              </a:rPr>
              <a:t>encode("hello")               -&gt;  [46, 43, 50, 50, 53]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350" b="0">
                <a:solidFill>
                  <a:srgbClr val="151515"/>
                </a:solidFill>
                <a:latin typeface="Consolas"/>
              </a:rPr>
              <a:t>decode([46, 43, 50, 50, 53])  -&gt;  "hello"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ALGORITHM 1  ·  CHARTOKENIZER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One integer per character. That is the whole idea.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400800" cy="28346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28346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6035040" cy="26243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class CharTokenizer: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def train(self, text):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    chars = sorted(set(text))     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every unique character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    self.itos = dict(enumerate(chars))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0 -&gt; 'a'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    self.stoi = {c: i for i, c in self.itos.items()}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    self.vocab_size = len(chars)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50" b="0">
              <a:solidFill>
                <a:srgbClr val="151515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def encode(self, text):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    return [self.stoi[c] for c in text]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50" b="0">
              <a:solidFill>
                <a:srgbClr val="151515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def decode(self, ids):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    return "".join(self.itos[i] for i in ids)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59" y="1298448"/>
            <a:ext cx="4465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LINE BY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1591056"/>
            <a:ext cx="4465015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B54408"/>
                </a:solidFill>
                <a:latin typeface="Consolas"/>
              </a:rPr>
              <a:t>set(text)</a:t>
            </a:r>
            <a:r>
              <a:rPr sz="1250" b="0">
                <a:solidFill>
                  <a:srgbClr val="151515"/>
                </a:solidFill>
                <a:latin typeface="Segoe UI"/>
              </a:rPr>
              <a:t> throws away every duplicate → the unique alphabet.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B54408"/>
                </a:solidFill>
                <a:latin typeface="Consolas"/>
              </a:rPr>
              <a:t>sorted(...)</a:t>
            </a:r>
            <a:r>
              <a:rPr sz="1250" b="0">
                <a:solidFill>
                  <a:srgbClr val="151515"/>
                </a:solidFill>
                <a:latin typeface="Segoe UI"/>
              </a:rPr>
              <a:t> makes it </a:t>
            </a:r>
            <a:r>
              <a:rPr sz="1250" b="1">
                <a:solidFill>
                  <a:srgbClr val="151515"/>
                </a:solidFill>
                <a:latin typeface="Segoe UI"/>
              </a:rPr>
              <a:t>deterministic</a:t>
            </a:r>
            <a:r>
              <a:rPr sz="1250" b="0">
                <a:solidFill>
                  <a:srgbClr val="151515"/>
                </a:solidFill>
                <a:latin typeface="Segoe UI"/>
              </a:rPr>
              <a:t>. Without it the ids change every run and your old checkpoint becomes unreadable.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B54408"/>
                </a:solidFill>
                <a:latin typeface="Consolas"/>
              </a:rPr>
              <a:t>stoi</a:t>
            </a:r>
            <a:r>
              <a:rPr sz="1250" b="0">
                <a:solidFill>
                  <a:srgbClr val="151515"/>
                </a:solidFill>
                <a:latin typeface="Segoe UI"/>
              </a:rPr>
              <a:t> = string→int for encoding. </a:t>
            </a:r>
            <a:r>
              <a:rPr sz="1200" b="0">
                <a:solidFill>
                  <a:srgbClr val="B54408"/>
                </a:solidFill>
                <a:latin typeface="Consolas"/>
              </a:rPr>
              <a:t>itos</a:t>
            </a:r>
            <a:r>
              <a:rPr sz="1250" b="0">
                <a:solidFill>
                  <a:srgbClr val="151515"/>
                </a:solidFill>
                <a:latin typeface="Segoe UI"/>
              </a:rPr>
              <a:t> = int→string for decoding. Two dicts, inverses of each other.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B54408"/>
                </a:solidFill>
                <a:latin typeface="Consolas"/>
              </a:rPr>
              <a:t>vocab_size</a:t>
            </a:r>
            <a:r>
              <a:rPr sz="1250" b="0">
                <a:solidFill>
                  <a:srgbClr val="151515"/>
                </a:solidFill>
                <a:latin typeface="Segoe UI"/>
              </a:rPr>
              <a:t> falls out as </a:t>
            </a:r>
            <a:r>
              <a:rPr sz="1200" b="0">
                <a:solidFill>
                  <a:srgbClr val="B54408"/>
                </a:solidFill>
                <a:latin typeface="Consolas"/>
              </a:rPr>
              <a:t>len(chars)</a:t>
            </a:r>
            <a:r>
              <a:rPr sz="1250" b="0">
                <a:solidFill>
                  <a:srgbClr val="151515"/>
                </a:solidFill>
                <a:latin typeface="Segoe UI"/>
              </a:rPr>
              <a:t>. Nobody chooses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407408"/>
            <a:ext cx="11185855" cy="11887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455371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FIFTEEN LINES AND IT IS GENUINELY 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837176"/>
            <a:ext cx="10728655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No unknown-token handling, no special tokens, no edge cases. Every character it saw in training gets an id, and every id maps back. This is why we teach it first — </a:t>
            </a:r>
            <a:r>
              <a:rPr sz="1250" b="1">
                <a:solidFill>
                  <a:srgbClr val="151515"/>
                </a:solidFill>
                <a:latin typeface="Segoe UI"/>
              </a:rPr>
              <a:t>you can hold the entire algorithm in your head.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DRY RUN  ·  CHARTOKENIZER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Real output from  python tokenizer2.py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85855" cy="6858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685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STEP 0 — THE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73351"/>
            <a:ext cx="10820095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Consolas"/>
              </a:rPr>
              <a:t>sample = "the cat sat on the mat. the cat ate the rat. " * 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2140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STEP 1 — SORTED(SET(TEXT))  GIVES 12 UNIQUE CHARACTERS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87752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char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441448"/>
            <a:ext cx="530352" cy="53035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1952" y="2441448"/>
            <a:ext cx="530352" cy="53035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32304" y="2441448"/>
            <a:ext cx="530352" cy="53035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62656" y="2441448"/>
            <a:ext cx="530352" cy="53035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2441448"/>
            <a:ext cx="530352" cy="53035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441448"/>
            <a:ext cx="530352" cy="53035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53712" y="2441448"/>
            <a:ext cx="530352" cy="53035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4064" y="2441448"/>
            <a:ext cx="530352" cy="53035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14416" y="2441448"/>
            <a:ext cx="530352" cy="53035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441448"/>
            <a:ext cx="530352" cy="53035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441448"/>
            <a:ext cx="530352" cy="53035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5472" y="2441448"/>
            <a:ext cx="530352" cy="53035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118104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2971800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01952" y="2971800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32304" y="2971800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62656" y="2971800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3008" y="2971800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971800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53712" y="2971800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4064" y="2971800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14416" y="2971800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2971800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2971800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05472" y="2971800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25328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5C5C"/>
                </a:solidFill>
                <a:latin typeface="Segoe UI"/>
              </a:rPr>
              <a:t>space sorts first —
ASCII 32 beats every letter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344728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STEP 2 — ENCODE('THE CAT'), ONE DICTIONARY LOOKUP PER CHARACTER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3913632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3767328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01952" y="3767328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32304" y="3767328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62656" y="3767328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␣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93008" y="3767328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0" y="3767328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53712" y="3767328"/>
            <a:ext cx="530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4443984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out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1600" y="4297680"/>
            <a:ext cx="530352" cy="53035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01952" y="4297680"/>
            <a:ext cx="530352" cy="53035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32304" y="4297680"/>
            <a:ext cx="530352" cy="53035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62656" y="4297680"/>
            <a:ext cx="530352" cy="53035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93008" y="4297680"/>
            <a:ext cx="530352" cy="53035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0" y="4297680"/>
            <a:ext cx="530352" cy="53035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3712" y="4297680"/>
            <a:ext cx="530352" cy="53035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40680" y="3813048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54408"/>
                </a:solidFill>
                <a:latin typeface="Consolas"/>
              </a:rPr>
              <a:t>vocab size: 12</a:t>
            </a:r>
            <a:r>
              <a:rPr sz="1200" b="0">
                <a:solidFill>
                  <a:srgbClr val="151515"/>
                </a:solidFill>
                <a:latin typeface="Segoe UI"/>
              </a:rPr>
              <a:t>
</a:t>
            </a:r>
            <a:r>
              <a:rPr sz="1150" b="0">
                <a:solidFill>
                  <a:srgbClr val="B54408"/>
                </a:solidFill>
                <a:latin typeface="Consolas"/>
              </a:rPr>
              <a:t>'the cat' -&gt; [11, 5, 4, 0, 3, 2, 11]</a:t>
            </a:r>
            <a:r>
              <a:rPr sz="1200" b="0">
                <a:solidFill>
                  <a:srgbClr val="151515"/>
                </a:solidFill>
                <a:latin typeface="Segoe UI"/>
              </a:rPr>
              <a:t>
</a:t>
            </a:r>
            <a:r>
              <a:rPr sz="1150" b="0">
                <a:solidFill>
                  <a:srgbClr val="B54408"/>
                </a:solidFill>
                <a:latin typeface="Consolas"/>
              </a:rPr>
              <a:t>back again -&gt; 'the cat'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047488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40664" y="519379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TRADE-OFF IN ONE NUMBER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" y="5477255"/>
            <a:ext cx="10728655" cy="374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B54408"/>
                </a:solidFill>
                <a:latin typeface="Consolas"/>
              </a:rPr>
              <a:t>"the cat sat on the mat"</a:t>
            </a:r>
            <a:r>
              <a:rPr sz="1250" b="0">
                <a:solidFill>
                  <a:srgbClr val="151515"/>
                </a:solidFill>
                <a:latin typeface="Segoe UI"/>
              </a:rPr>
              <a:t> = </a:t>
            </a:r>
            <a:r>
              <a:rPr sz="1250" b="1">
                <a:solidFill>
                  <a:srgbClr val="151515"/>
                </a:solidFill>
                <a:latin typeface="Segoe UI"/>
              </a:rPr>
              <a:t>22 tokens</a:t>
            </a:r>
            <a:r>
              <a:rPr sz="1250" b="0">
                <a:solidFill>
                  <a:srgbClr val="151515"/>
                </a:solidFill>
                <a:latin typeface="Segoe UI"/>
              </a:rPr>
              <a:t>. Every letter and every space costs a token, so with </a:t>
            </a:r>
            <a:r>
              <a:rPr sz="1200" b="0">
                <a:solidFill>
                  <a:srgbClr val="B54408"/>
                </a:solidFill>
                <a:latin typeface="Consolas"/>
              </a:rPr>
              <a:t>block_size=128</a:t>
            </a:r>
            <a:r>
              <a:rPr sz="1250" b="0">
                <a:solidFill>
                  <a:srgbClr val="151515"/>
                </a:solidFill>
                <a:latin typeface="Segoe UI"/>
              </a:rPr>
              <a:t> the model's entire memory is about 20 words.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ALGORITHM 2  ·  BPE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Byte Pair Encoding — the algorithm GPT-2, GPT-4 and Llama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85855" cy="713232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444751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600" b="0">
                <a:solidFill>
                  <a:srgbClr val="151515"/>
                </a:solidFill>
                <a:latin typeface="Segoe UI"/>
              </a:rPr>
              <a:t>Find the two tokens that sit next to each other most often, glue them into one new token, and repeat.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53643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WHY IT STARTS AT 256, NOT AT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5364327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50" b="0">
                <a:solidFill>
                  <a:srgbClr val="151515"/>
                </a:solidFill>
                <a:latin typeface="Segoe UI"/>
              </a:rPr>
              <a:t>Ids 0-255 are </a:t>
            </a:r>
            <a:r>
              <a:rPr sz="1250" b="1">
                <a:solidFill>
                  <a:srgbClr val="151515"/>
                </a:solidFill>
                <a:latin typeface="Segoe UI"/>
              </a:rPr>
              <a:t>the 256 possible byte values</a:t>
            </a:r>
            <a:r>
              <a:rPr sz="1250" b="0">
                <a:solidFill>
                  <a:srgbClr val="151515"/>
                </a:solidFill>
                <a:latin typeface="Segoe UI"/>
              </a:rPr>
              <a:t>. Every file on earth is bytes, so every possible input already has an encoding.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50" b="1">
                <a:solidFill>
                  <a:srgbClr val="151515"/>
                </a:solidFill>
                <a:latin typeface="Segoe UI"/>
              </a:rPr>
              <a:t>Nothing is ever out-of-vocabulary</a:t>
            </a:r>
            <a:r>
              <a:rPr sz="1250" b="0">
                <a:solidFill>
                  <a:srgbClr val="151515"/>
                </a:solidFill>
                <a:latin typeface="Segoe UI"/>
              </a:rPr>
              <a:t> — emoji, Urdu, Chinese, source code, a corrupted file. Worst case it falls back to raw bytes.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50" b="0">
                <a:solidFill>
                  <a:srgbClr val="151515"/>
                </a:solidFill>
                <a:latin typeface="Segoe UI"/>
              </a:rPr>
              <a:t>New merged tokens start at id 256 and count up to </a:t>
            </a:r>
            <a:r>
              <a:rPr sz="1200" b="0">
                <a:solidFill>
                  <a:srgbClr val="B54408"/>
                </a:solidFill>
                <a:latin typeface="Consolas"/>
              </a:rPr>
              <a:t>vocab_size</a:t>
            </a:r>
            <a:r>
              <a:rPr sz="1250" b="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2212848"/>
            <a:ext cx="5364327" cy="22860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24447" y="2212848"/>
            <a:ext cx="41148" cy="2286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5615" y="2331720"/>
            <a:ext cx="499856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tokenizer2.py  ·  BPETokenizer.train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5615" y="2587752"/>
            <a:ext cx="4998567" cy="18196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self.vocab = {i: bytes([i]) for i in range(256)}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self.merges = {}        </a:t>
            </a:r>
            <a:r>
              <a:rPr sz="1100" b="0">
                <a:solidFill>
                  <a:srgbClr val="B54408"/>
                </a:solidFill>
                <a:latin typeface="Consolas"/>
              </a:rPr>
              <a:t>  # (a, b) -&gt; new_id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00" b="0">
              <a:solidFill>
                <a:srgbClr val="B54408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for new_id in range(256, vocab_size):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pairs = Counter()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for chunk in chunks: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    pairs.update(zip(chunk, chunk[1:]))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best, count = pairs.most_common(1)[0]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chunks = [_merge(c, best, new_id) for c in chunks]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90288"/>
            <a:ext cx="1118585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50" b="0">
                <a:solidFill>
                  <a:srgbClr val="B54408"/>
                </a:solidFill>
                <a:latin typeface="Consolas"/>
              </a:rPr>
              <a:t>zip(chunk, chunk[1:])</a:t>
            </a:r>
            <a:r>
              <a:rPr sz="1300" b="0">
                <a:solidFill>
                  <a:srgbClr val="151515"/>
                </a:solidFill>
                <a:latin typeface="Segoe UI"/>
              </a:rPr>
              <a:t> is the whole “find adjacent pairs” trick — a list zipped against itself shifted by one. Same shape idea as the </a:t>
            </a:r>
            <a:r>
              <a:rPr sz="1250" b="0">
                <a:solidFill>
                  <a:srgbClr val="B54408"/>
                </a:solidFill>
                <a:latin typeface="Consolas"/>
              </a:rPr>
              <a:t>x</a:t>
            </a:r>
            <a:r>
              <a:rPr sz="1300" b="0">
                <a:solidFill>
                  <a:srgbClr val="151515"/>
                </a:solidFill>
                <a:latin typeface="Segoe UI"/>
              </a:rPr>
              <a:t>/</a:t>
            </a:r>
            <a:r>
              <a:rPr sz="1250" b="0">
                <a:solidFill>
                  <a:srgbClr val="B54408"/>
                </a:solidFill>
                <a:latin typeface="Consolas"/>
              </a:rPr>
              <a:t>y</a:t>
            </a:r>
            <a:r>
              <a:rPr sz="1300" b="0">
                <a:solidFill>
                  <a:srgbClr val="151515"/>
                </a:solidFill>
                <a:latin typeface="Segoe UI"/>
              </a:rPr>
              <a:t> shift in </a:t>
            </a:r>
            <a:r>
              <a:rPr sz="1250" b="0">
                <a:solidFill>
                  <a:srgbClr val="B54408"/>
                </a:solidFill>
                <a:latin typeface="Consolas"/>
              </a:rPr>
              <a:t>data3.py</a:t>
            </a:r>
            <a:r>
              <a:rPr sz="1300" b="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50" b="0">
                <a:solidFill>
                  <a:srgbClr val="B54408"/>
                </a:solidFill>
                <a:latin typeface="Consolas"/>
              </a:rPr>
              <a:t>Counter.most_common(1)</a:t>
            </a:r>
            <a:r>
              <a:rPr sz="1300" b="0">
                <a:solidFill>
                  <a:srgbClr val="151515"/>
                </a:solidFill>
                <a:latin typeface="Segoe UI"/>
              </a:rPr>
              <a:t> picks the winner. Ties are broken by insertion order, which is why the merges are reproducible.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DRY RUN  ·  BPE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Watch it invent words — real output, merge by merge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858000" cy="324612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32461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6492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python tokenizer2.py  ·  vocab_size=290, verbose=True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73351"/>
            <a:ext cx="6492240" cy="2779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merge 256: 'a' + 't'    -&gt; 'at'     (1,200 times)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merge 257: 't' + 'h'    -&gt; 'th'     (800 times)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merge 258: 'th' + 'e'   -&gt; 'the'    (800 times)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merge 259: ' ' + 'the'  -&gt; ' the'   (799 times)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merge 260: ' ' + 'c'    -&gt; ' c'     (400 times)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merge 261: ' c' + 'at'  -&gt; ' cat'   (400 times)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merge 262: ' ' + 's'    -&gt; ' s'     (200 times)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merge 263: ' s' + 'at'  -&gt; ' sat'   (200 times)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merge 264: ' ' + 'o'    -&gt; ' o'     (200 times)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merge 265: ' o' + 'n'   -&gt; ' on'    (200 times)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298448"/>
            <a:ext cx="40078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READ IT OUT LOUD TO THE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591056"/>
            <a:ext cx="4007815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256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it discovers </a:t>
            </a:r>
            <a:r>
              <a:rPr sz="1150" b="0">
                <a:solidFill>
                  <a:srgbClr val="B54408"/>
                </a:solidFill>
                <a:latin typeface="Consolas"/>
              </a:rPr>
              <a:t>at</a:t>
            </a:r>
            <a:r>
              <a:rPr sz="1200" b="0">
                <a:solidFill>
                  <a:srgbClr val="151515"/>
                </a:solidFill>
                <a:latin typeface="Segoe UI"/>
              </a:rPr>
              <a:t> first, because </a:t>
            </a:r>
            <a:r>
              <a:rPr sz="1150" b="0">
                <a:solidFill>
                  <a:srgbClr val="B54408"/>
                </a:solidFill>
                <a:latin typeface="Consolas"/>
              </a:rPr>
              <a:t>cat / sat / mat / rat</a:t>
            </a:r>
            <a:r>
              <a:rPr sz="1200" b="0">
                <a:solidFill>
                  <a:srgbClr val="151515"/>
                </a:solidFill>
                <a:latin typeface="Segoe UI"/>
              </a:rPr>
              <a:t> all end in it.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258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it builds </a:t>
            </a:r>
            <a:r>
              <a:rPr sz="1150" b="0">
                <a:solidFill>
                  <a:srgbClr val="B54408"/>
                </a:solidFill>
                <a:latin typeface="Consolas"/>
              </a:rPr>
              <a:t>the</a:t>
            </a:r>
            <a:r>
              <a:rPr sz="1200" b="0">
                <a:solidFill>
                  <a:srgbClr val="151515"/>
                </a:solidFill>
                <a:latin typeface="Segoe UI"/>
              </a:rPr>
              <a:t> </a:t>
            </a:r>
            <a:r>
              <a:rPr sz="1200" b="1">
                <a:solidFill>
                  <a:srgbClr val="151515"/>
                </a:solidFill>
                <a:latin typeface="Segoe UI"/>
              </a:rPr>
              <a:t>out of</a:t>
            </a:r>
            <a:r>
              <a:rPr sz="1200" b="0">
                <a:solidFill>
                  <a:srgbClr val="151515"/>
                </a:solidFill>
                <a:latin typeface="Segoe UI"/>
              </a:rPr>
              <a:t> </a:t>
            </a:r>
            <a:r>
              <a:rPr sz="1150" b="0">
                <a:solidFill>
                  <a:srgbClr val="B54408"/>
                </a:solidFill>
                <a:latin typeface="Consolas"/>
              </a:rPr>
              <a:t>th</a:t>
            </a:r>
            <a:r>
              <a:rPr sz="1200" b="0">
                <a:solidFill>
                  <a:srgbClr val="151515"/>
                </a:solidFill>
                <a:latin typeface="Segoe UI"/>
              </a:rPr>
              <a:t>, a token it invented one step earlier. Merges compound.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259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the leading space joins in. In BPE, </a:t>
            </a:r>
            <a:r>
              <a:rPr sz="1150" b="0">
                <a:solidFill>
                  <a:srgbClr val="B54408"/>
                </a:solidFill>
                <a:latin typeface="Consolas"/>
              </a:rPr>
              <a:t>" the"</a:t>
            </a:r>
            <a:r>
              <a:rPr sz="1200" b="0">
                <a:solidFill>
                  <a:srgbClr val="151515"/>
                </a:solidFill>
                <a:latin typeface="Segoe UI"/>
              </a:rPr>
              <a:t> and </a:t>
            </a:r>
            <a:r>
              <a:rPr sz="1150" b="0">
                <a:solidFill>
                  <a:srgbClr val="B54408"/>
                </a:solidFill>
                <a:latin typeface="Consolas"/>
              </a:rPr>
              <a:t>"the"</a:t>
            </a:r>
            <a:r>
              <a:rPr sz="1200" b="0">
                <a:solidFill>
                  <a:srgbClr val="151515"/>
                </a:solidFill>
                <a:latin typeface="Segoe UI"/>
              </a:rPr>
              <a:t> are </a:t>
            </a:r>
            <a:r>
              <a:rPr sz="1200" b="1">
                <a:solidFill>
                  <a:srgbClr val="151515"/>
                </a:solidFill>
                <a:latin typeface="Segoe UI"/>
              </a:rPr>
              <a:t>different tokens.</a:t>
            </a:r>
            <a:r>
              <a:rPr sz="1200" b="0">
                <a:solidFill>
                  <a:srgbClr val="151515"/>
                </a:solidFill>
                <a:latin typeface="Segoe UI"/>
              </a:rPr>
              <a:t> That is why prompt spacing changes real model output.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261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</a:t>
            </a:r>
            <a:r>
              <a:rPr sz="1150" b="0">
                <a:solidFill>
                  <a:srgbClr val="B54408"/>
                </a:solidFill>
                <a:latin typeface="Consolas"/>
              </a:rPr>
              <a:t>" cat"</a:t>
            </a:r>
            <a:r>
              <a:rPr sz="1200" b="0">
                <a:solidFill>
                  <a:srgbClr val="151515"/>
                </a:solidFill>
                <a:latin typeface="Segoe UI"/>
              </a:rPr>
              <a:t> is now a single token, assembled from </a:t>
            </a:r>
            <a:r>
              <a:rPr sz="1150" b="0">
                <a:solidFill>
                  <a:srgbClr val="B54408"/>
                </a:solidFill>
                <a:latin typeface="Consolas"/>
              </a:rPr>
              <a:t>" c"</a:t>
            </a:r>
            <a:r>
              <a:rPr sz="1200" b="0">
                <a:solidFill>
                  <a:srgbClr val="151515"/>
                </a:solidFill>
                <a:latin typeface="Segoe UI"/>
              </a:rPr>
              <a:t> + </a:t>
            </a:r>
            <a:r>
              <a:rPr sz="1150" b="0">
                <a:solidFill>
                  <a:srgbClr val="B54408"/>
                </a:solidFill>
                <a:latin typeface="Consolas"/>
              </a:rPr>
              <a:t>"at"</a:t>
            </a:r>
            <a:r>
              <a:rPr sz="1200" b="0">
                <a:solidFill>
                  <a:srgbClr val="151515"/>
                </a:solidFill>
                <a:latin typeface="Segoe UI"/>
              </a:rPr>
              <a:t>. The tokenizer just learned a word nobody told it about.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773168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491947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WHOLE POINT, IN ONE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202936"/>
            <a:ext cx="10728655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Common words collapse to </a:t>
            </a:r>
            <a:r>
              <a:rPr sz="1250" b="1">
                <a:solidFill>
                  <a:srgbClr val="151515"/>
                </a:solidFill>
                <a:latin typeface="Segoe UI"/>
              </a:rPr>
              <a:t>one</a:t>
            </a:r>
            <a:r>
              <a:rPr sz="1250" b="0">
                <a:solidFill>
                  <a:srgbClr val="151515"/>
                </a:solidFill>
                <a:latin typeface="Segoe UI"/>
              </a:rPr>
              <a:t> token; rare words stay in pieces. That is exactly why </a:t>
            </a:r>
            <a:r>
              <a:rPr sz="1200" b="0">
                <a:solidFill>
                  <a:srgbClr val="B54408"/>
                </a:solidFill>
                <a:latin typeface="Consolas"/>
              </a:rPr>
              <a:t>"the"</a:t>
            </a:r>
            <a:r>
              <a:rPr sz="1250" b="0">
                <a:solidFill>
                  <a:srgbClr val="151515"/>
                </a:solidFill>
                <a:latin typeface="Segoe UI"/>
              </a:rPr>
              <a:t> costs 1 token and a rare name costs 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DRY RUN  ·  BPE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Applying learned merges to new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151515"/>
                </a:solidFill>
                <a:latin typeface="Segoe UI"/>
              </a:rPr>
              <a:t>Encoding is the same merges replayed </a:t>
            </a:r>
            <a:r>
              <a:rPr sz="1300" b="1">
                <a:solidFill>
                  <a:srgbClr val="151515"/>
                </a:solidFill>
                <a:latin typeface="Segoe UI"/>
              </a:rPr>
              <a:t>in the order they were learned</a:t>
            </a:r>
            <a:r>
              <a:rPr sz="1300" b="0">
                <a:solidFill>
                  <a:srgbClr val="151515"/>
                </a:solidFill>
                <a:latin typeface="Segoe UI"/>
              </a:rPr>
              <a:t> — lowest id first — until none apply.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47088"/>
            <a:ext cx="28346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51515"/>
                </a:solidFill>
                <a:latin typeface="Segoe UI"/>
              </a:rPr>
              <a:t>start: raw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195681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t  h  e  ␣  c  a  t  ␣  s  a 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116 104 101 32 99 97 116 32 115 97 116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23160"/>
            <a:ext cx="28346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51515"/>
                </a:solidFill>
                <a:latin typeface="Segoe UI"/>
              </a:rPr>
              <a:t>apply 256 (a+t → 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253288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t  h  e  ␣  c  at  ␣  s  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54203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116 104 101 32 99 256 32 115 256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99232"/>
            <a:ext cx="28346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51515"/>
                </a:solidFill>
                <a:latin typeface="Segoe UI"/>
              </a:rPr>
              <a:t>apply 257 (t+h → th)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310896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th  e  ␣  c  at  ␣  s  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118104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257 101 32 99 256 32 115 256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75304"/>
            <a:ext cx="28346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51515"/>
                </a:solidFill>
                <a:latin typeface="Segoe UI"/>
              </a:rPr>
              <a:t>apply 258 (th+e → the)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368503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the  ␣  c  at  ␣  s  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69417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258 32 99 256 32 115 256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51376"/>
            <a:ext cx="28346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51515"/>
                </a:solidFill>
                <a:latin typeface="Segoe UI"/>
              </a:rPr>
              <a:t>apply 260, 261 (→ ' cat')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39" y="4261104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the   cat  ␣  s  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27024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258 261 32 115 256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27448"/>
            <a:ext cx="2834640" cy="475488"/>
          </a:xfrm>
          <a:prstGeom prst="roundRect">
            <a:avLst>
              <a:gd name="adj" fmla="val 12000"/>
            </a:avLst>
          </a:prstGeom>
          <a:solidFill>
            <a:srgbClr val="FFF2E8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apply 262, 263 (→ ' sat')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483717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the   cat   sat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48463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258 261 263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04688"/>
            <a:ext cx="11185855" cy="77724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" y="5650992"/>
            <a:ext cx="10728655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B54408"/>
                </a:solidFill>
                <a:latin typeface="Consolas"/>
              </a:rPr>
              <a:t>'the cat sat' -&gt; [258, 261, 263]</a:t>
            </a:r>
            <a:r>
              <a:rPr sz="1250" b="0">
                <a:solidFill>
                  <a:srgbClr val="151515"/>
                </a:solidFill>
                <a:latin typeface="Segoe UI"/>
              </a:rPr>
              <a:t>   →   </a:t>
            </a:r>
            <a:r>
              <a:rPr sz="1200" b="0">
                <a:solidFill>
                  <a:srgbClr val="B54408"/>
                </a:solidFill>
                <a:latin typeface="Consolas"/>
              </a:rPr>
              <a:t>['the', ' cat', ' sat']</a:t>
            </a:r>
            <a:r>
              <a:rPr sz="1250" b="0">
                <a:solidFill>
                  <a:srgbClr val="151515"/>
                </a:solidFill>
                <a:latin typeface="Segoe UI"/>
              </a:rPr>
              <a:t>   →   </a:t>
            </a:r>
            <a:r>
              <a:rPr sz="1250" b="1">
                <a:solidFill>
                  <a:srgbClr val="151515"/>
                </a:solidFill>
                <a:latin typeface="Segoe UI"/>
              </a:rPr>
              <a:t>3 tokens instead of 11.</a:t>
            </a:r>
            <a:r>
              <a:rPr sz="1250" b="0">
                <a:solidFill>
                  <a:srgbClr val="151515"/>
                </a:solidFill>
                <a:latin typeface="Segoe UI"/>
              </a:rPr>
              <a:t> Char would have used 11; BPE uses 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TOKENIZER2.PY  ·  THE THREE DETAILS THAT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SPLIT, the cache, and why decode can produce a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85855" cy="86868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1 — THE SPLIT REGEX, RUN BEFORE ANY MERGING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73351"/>
            <a:ext cx="10820095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300" b="0">
                <a:solidFill>
                  <a:srgbClr val="151515"/>
                </a:solidFill>
                <a:latin typeface="Consolas"/>
              </a:rPr>
              <a:t>SPLIT = re.compile(r"\s</a:t>
            </a:r>
            <a:r>
              <a:rPr sz="1300" b="0" i="1">
                <a:solidFill>
                  <a:srgbClr val="151515"/>
                </a:solidFill>
                <a:latin typeface="Consolas"/>
              </a:rPr>
              <a:t>\w+|\s</a:t>
            </a:r>
            <a:r>
              <a:rPr sz="1300" b="0">
                <a:solidFill>
                  <a:srgbClr val="151515"/>
                </a:solidFill>
                <a:latin typeface="Consolas"/>
              </a:rPr>
              <a:t>[^\s\w]+|\s+")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58568"/>
            <a:ext cx="1118585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Text is chopped into word-ish chunks </a:t>
            </a:r>
            <a:r>
              <a:rPr sz="1250" b="1">
                <a:solidFill>
                  <a:srgbClr val="151515"/>
                </a:solidFill>
                <a:latin typeface="Segoe UI"/>
              </a:rPr>
              <a:t>first</a:t>
            </a:r>
            <a:r>
              <a:rPr sz="1250" b="0">
                <a:solidFill>
                  <a:srgbClr val="151515"/>
                </a:solidFill>
                <a:latin typeface="Segoe UI"/>
              </a:rPr>
              <a:t>, so a merge can never glue the end of one word onto the start of the next. Without it, </a:t>
            </a:r>
            <a:r>
              <a:rPr sz="1200" b="0">
                <a:solidFill>
                  <a:srgbClr val="B54408"/>
                </a:solidFill>
                <a:latin typeface="Consolas"/>
              </a:rPr>
              <a:t>"cat dog"</a:t>
            </a:r>
            <a:r>
              <a:rPr sz="1250" b="0">
                <a:solidFill>
                  <a:srgbClr val="151515"/>
                </a:solidFill>
                <a:latin typeface="Segoe UI"/>
              </a:rPr>
              <a:t> could become a token </a:t>
            </a:r>
            <a:r>
              <a:rPr sz="1200" b="0">
                <a:solidFill>
                  <a:srgbClr val="B54408"/>
                </a:solidFill>
                <a:latin typeface="Consolas"/>
              </a:rPr>
              <a:t>"t d"</a:t>
            </a:r>
            <a:r>
              <a:rPr sz="1250" b="0">
                <a:solidFill>
                  <a:srgbClr val="151515"/>
                </a:solidFill>
                <a:latin typeface="Segoe UI"/>
              </a:rPr>
              <a:t>, and the tokenizer would waste ids on nonsense that never generalises. </a:t>
            </a:r>
            <a:r>
              <a:rPr sz="1250" b="1">
                <a:solidFill>
                  <a:srgbClr val="151515"/>
                </a:solidFill>
                <a:latin typeface="Segoe UI"/>
              </a:rPr>
              <a:t>GPT-2 does exactly this too.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81528"/>
            <a:ext cx="5364327" cy="12344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3081528"/>
            <a:ext cx="41148" cy="12344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3200400"/>
            <a:ext cx="499856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2 — THE _cache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456432"/>
            <a:ext cx="4998567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if chunk not in self._cache: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self._cache[chunk] = self._encode_chunk(chunk)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07408"/>
            <a:ext cx="536432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150" b="0">
                <a:solidFill>
                  <a:srgbClr val="B54408"/>
                </a:solidFill>
                <a:latin typeface="Consolas"/>
              </a:rPr>
              <a:t>_encode_chunk</a:t>
            </a:r>
            <a:r>
              <a:rPr sz="1200" b="0">
                <a:solidFill>
                  <a:srgbClr val="151515"/>
                </a:solidFill>
                <a:latin typeface="Segoe UI"/>
              </a:rPr>
              <a:t> is a loop over merges — slow in pure Python. Real text repeats the same words constantly, so memoising each chunk makes encoding a 1 MB file take seconds instead of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447" y="3081528"/>
            <a:ext cx="5364327" cy="12344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24447" y="3081528"/>
            <a:ext cx="41148" cy="12344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5615" y="3200400"/>
            <a:ext cx="499856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3 — DECODE, AND THE ? CHARACTER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5615" y="3456432"/>
            <a:ext cx="4998567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raw = b"".join(self.vocab[i] for i in ids)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return raw.decode("utf-8", errors="replace")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407408"/>
            <a:ext cx="536432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151515"/>
                </a:solidFill>
                <a:latin typeface="Segoe UI"/>
              </a:rPr>
              <a:t>A token can hold </a:t>
            </a:r>
            <a:r>
              <a:rPr sz="1200" b="1">
                <a:solidFill>
                  <a:srgbClr val="151515"/>
                </a:solidFill>
                <a:latin typeface="Segoe UI"/>
              </a:rPr>
              <a:t>half</a:t>
            </a:r>
            <a:r>
              <a:rPr sz="1200" b="0">
                <a:solidFill>
                  <a:srgbClr val="151515"/>
                </a:solidFill>
                <a:latin typeface="Segoe UI"/>
              </a:rPr>
              <a:t> of a multi-byte character. If a model stops generating mid-emoji, those bytes are not valid UTF-8. </a:t>
            </a:r>
            <a:r>
              <a:rPr sz="1150" b="0">
                <a:solidFill>
                  <a:srgbClr val="B54408"/>
                </a:solidFill>
                <a:latin typeface="Consolas"/>
              </a:rPr>
              <a:t>errors="replace"</a:t>
            </a:r>
            <a:r>
              <a:rPr sz="1200" b="0">
                <a:solidFill>
                  <a:srgbClr val="151515"/>
                </a:solidFill>
                <a:latin typeface="Segoe UI"/>
              </a:rPr>
              <a:t> turns them into </a:t>
            </a:r>
            <a:r>
              <a:rPr sz="1150" b="0">
                <a:solidFill>
                  <a:srgbClr val="B54408"/>
                </a:solidFill>
                <a:latin typeface="Consolas"/>
              </a:rPr>
              <a:t>?</a:t>
            </a:r>
            <a:r>
              <a:rPr sz="1200" b="0">
                <a:solidFill>
                  <a:srgbClr val="151515"/>
                </a:solidFill>
                <a:latin typeface="Segoe UI"/>
              </a:rPr>
              <a:t> instead of crashing your live demo.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733288"/>
            <a:ext cx="11185855" cy="86868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" y="587959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WHERE THE TOKENIZER IS STORED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6163055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B54408"/>
                </a:solidFill>
                <a:latin typeface="Consolas"/>
              </a:rPr>
              <a:t>to_dict</a:t>
            </a:r>
            <a:r>
              <a:rPr sz="1250" b="0">
                <a:solidFill>
                  <a:srgbClr val="151515"/>
                </a:solidFill>
                <a:latin typeface="Segoe UI"/>
              </a:rPr>
              <a:t> / </a:t>
            </a:r>
            <a:r>
              <a:rPr sz="1200" b="0">
                <a:solidFill>
                  <a:srgbClr val="B54408"/>
                </a:solidFill>
                <a:latin typeface="Consolas"/>
              </a:rPr>
              <a:t>from_dict</a:t>
            </a:r>
            <a:r>
              <a:rPr sz="1250" b="0">
                <a:solidFill>
                  <a:srgbClr val="151515"/>
                </a:solidFill>
                <a:latin typeface="Segoe UI"/>
              </a:rPr>
              <a:t> serialise it to JSON. The </a:t>
            </a:r>
            <a:r>
              <a:rPr sz="1250" b="1">
                <a:solidFill>
                  <a:srgbClr val="151515"/>
                </a:solidFill>
                <a:latin typeface="Segoe UI"/>
              </a:rPr>
              <a:t>checkpoint stores the tokenizer</a:t>
            </a:r>
            <a:r>
              <a:rPr sz="1250" b="0">
                <a:solidFill>
                  <a:srgbClr val="151515"/>
                </a:solidFill>
                <a:latin typeface="Segoe UI"/>
              </a:rPr>
              <a:t>, because the numbers are meaningless without the mapping back to text. Lose the tokenizer and your trained model is a pile of integers.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CHAR VS BPE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scoreboard, with real numbers from this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5853" cy="42597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2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4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/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CharTokenizer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BPETokenizer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Vocabulary size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Tiny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— 65 for Shakespeare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Bigger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— 1,024 here; real models use 32k-128k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Sequence length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Long.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"the cat sat on the mat" = 22 tokens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~2.5× shorter.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Same sentence = 6 tokens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Full Shakespeare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1,115,394 tokens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453,113 tokens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— the same text in 41% of the space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What the model must learn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Spelling from scratch.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It burns capacity learning that t-h-e is a thing.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Words arrive </a:t>
                      </a: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pre-chunked.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Capacity goes to meaning, not spelling.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Effective memory (block 128)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~20-25 words of history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~90-100 words of history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Out-of-vocabulary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A never-before-seen character breaks it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Impossible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— it falls back to raw bytes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Build time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Instant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~90 seconds on full Shakespeare (pure Python)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Embedding table cost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65 × n_embd — negligible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1,024 × n_embd — noticeable at small n_embd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Best for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Teaching, tiny models, small alphabets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Everything real.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This is what production uses.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70448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5C5C5C"/>
                </a:solidFill>
                <a:latin typeface="Segoe UI"/>
              </a:rPr>
              <a:t>The interface is identical</a:t>
            </a:r>
            <a:r>
              <a:rPr sz="1200" b="0">
                <a:solidFill>
                  <a:srgbClr val="5C5C5C"/>
                </a:solidFill>
                <a:latin typeface="Segoe UI"/>
              </a:rPr>
              <a:t>, so switching is one CLI word: </a:t>
            </a:r>
            <a:r>
              <a:rPr sz="1150" b="0">
                <a:solidFill>
                  <a:srgbClr val="B54408"/>
                </a:solidFill>
                <a:latin typeface="Consolas"/>
              </a:rPr>
              <a:t>--tokenizer char</a:t>
            </a:r>
            <a:r>
              <a:rPr sz="1200" b="0">
                <a:solidFill>
                  <a:srgbClr val="5C5C5C"/>
                </a:solidFill>
                <a:latin typeface="Segoe UI"/>
              </a:rPr>
              <a:t> vs </a:t>
            </a:r>
            <a:r>
              <a:rPr sz="1150" b="0">
                <a:solidFill>
                  <a:srgbClr val="B54408"/>
                </a:solidFill>
                <a:latin typeface="Consolas"/>
              </a:rPr>
              <a:t>--tokenizer bpe</a:t>
            </a:r>
            <a:r>
              <a:rPr sz="1200" b="0">
                <a:solidFill>
                  <a:srgbClr val="5C5C5C"/>
                </a:solidFill>
                <a:latin typeface="Segoe UI"/>
              </a:rPr>
              <a:t>. Nothing in the model, training or generation code changes. (Callback to Session 4's pluggable LLM interface.)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BEYOND OUR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other tokenizer algorithms, and who uses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5853" cy="4864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3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5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9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7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Algorithm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How it decides what to merge / split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Trade-off vs our BPE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Used by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1">
                          <a:solidFill>
                            <a:srgbClr val="151515"/>
                          </a:solidFill>
                          <a:latin typeface="Segoe UI"/>
                        </a:rPr>
                        <a:t>Byte-level BPE</a:t>
                      </a: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 </a:t>
                      </a:r>
                      <a:r>
                        <a:rPr sz="969" b="0" i="1">
                          <a:solidFill>
                            <a:srgbClr val="151515"/>
                          </a:solidFill>
                          <a:latin typeface="Segoe UI"/>
                        </a:rPr>
                        <a:t>(ours)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Greedily merge the most </a:t>
                      </a:r>
                      <a:r>
                        <a:rPr sz="969" b="1">
                          <a:solidFill>
                            <a:srgbClr val="151515"/>
                          </a:solidFill>
                          <a:latin typeface="Segoe UI"/>
                        </a:rPr>
                        <a:t>frequent</a:t>
                      </a: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 adjacent pair. Start from 256 bytes.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Simple, fast at inference, never OOV. Purely frequency-driven — no notion of whether a merge is </a:t>
                      </a:r>
                      <a:r>
                        <a:rPr sz="969" b="0" i="1">
                          <a:solidFill>
                            <a:srgbClr val="151515"/>
                          </a:solidFill>
                          <a:latin typeface="Segoe UI"/>
                        </a:rPr>
                        <a:t>linguistically</a:t>
                      </a: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 sensible.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GPT-2, GPT-3, GPT-4, Llama, Mistral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1">
                          <a:solidFill>
                            <a:srgbClr val="151515"/>
                          </a:solidFill>
                          <a:latin typeface="Segoe UI"/>
                        </a:rPr>
                        <a:t>WordPiece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Merge the pair that most increases the </a:t>
                      </a:r>
                      <a:r>
                        <a:rPr sz="969" b="1">
                          <a:solidFill>
                            <a:srgbClr val="151515"/>
                          </a:solidFill>
                          <a:latin typeface="Segoe UI"/>
                        </a:rPr>
                        <a:t>likelihood</a:t>
                      </a: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 of the corpus, not the raw count — roughly </a:t>
                      </a:r>
                      <a:r>
                        <a:rPr sz="919" b="0">
                          <a:solidFill>
                            <a:srgbClr val="B54408"/>
                          </a:solidFill>
                          <a:latin typeface="Consolas"/>
                        </a:rPr>
                        <a:t>count(ab) / (count(a)·count(b))</a:t>
                      </a: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Prefers merges that are genuinely informative over merely common. Slightly better subwords, slower to train, marks continuations with </a:t>
                      </a:r>
                      <a:r>
                        <a:rPr sz="919" b="0">
                          <a:solidFill>
                            <a:srgbClr val="B54408"/>
                          </a:solidFill>
                          <a:latin typeface="Consolas"/>
                        </a:rPr>
                        <a:t>##</a:t>
                      </a: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BERT, DistilBERT, Electra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1">
                          <a:solidFill>
                            <a:srgbClr val="151515"/>
                          </a:solidFill>
                          <a:latin typeface="Segoe UI"/>
                        </a:rPr>
                        <a:t>Unigram LM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Start with a </a:t>
                      </a:r>
                      <a:r>
                        <a:rPr sz="969" b="1">
                          <a:solidFill>
                            <a:srgbClr val="151515"/>
                          </a:solidFill>
                          <a:latin typeface="Segoe UI"/>
                        </a:rPr>
                        <a:t>huge</a:t>
                      </a: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 candidate vocabulary and iteratively </a:t>
                      </a:r>
                      <a:r>
                        <a:rPr sz="969" b="1">
                          <a:solidFill>
                            <a:srgbClr val="151515"/>
                          </a:solidFill>
                          <a:latin typeface="Segoe UI"/>
                        </a:rPr>
                        <a:t>delete</a:t>
                      </a: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 the tokens whose removal hurts corpus likelihood least. Top-down, not bottom-up.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Can give several valid segmentations of a word with probabilities, which enables </a:t>
                      </a:r>
                      <a:r>
                        <a:rPr sz="969" b="1">
                          <a:solidFill>
                            <a:srgbClr val="151515"/>
                          </a:solidFill>
                          <a:latin typeface="Segoe UI"/>
                        </a:rPr>
                        <a:t>subword regularisation</a:t>
                      </a: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 (train-time augmentation). Slower to build.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T5, ALBERT, XLNet, mBART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1">
                          <a:solidFill>
                            <a:srgbClr val="151515"/>
                          </a:solidFill>
                          <a:latin typeface="Segoe UI"/>
                        </a:rPr>
                        <a:t>SentencePiece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Not an algorithm — a </a:t>
                      </a:r>
                      <a:r>
                        <a:rPr sz="969" b="1">
                          <a:solidFill>
                            <a:srgbClr val="151515"/>
                          </a:solidFill>
                          <a:latin typeface="Segoe UI"/>
                        </a:rPr>
                        <a:t>library</a:t>
                      </a: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 that runs BPE or Unigram directly on raw text, treating space as a normal character (</a:t>
                      </a:r>
                      <a:r>
                        <a:rPr sz="919" b="0">
                          <a:solidFill>
                            <a:srgbClr val="B54408"/>
                          </a:solidFill>
                          <a:latin typeface="Consolas"/>
                        </a:rPr>
                        <a:t>▁</a:t>
                      </a: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).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Language-agnostic: works on Japanese/Thai with no whitespace. Fully reversible. The usual packaging for Unigram.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T5, Llama 1/2, Gemma, most multilingual models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1">
                          <a:solidFill>
                            <a:srgbClr val="151515"/>
                          </a:solidFill>
                          <a:latin typeface="Segoe UI"/>
                        </a:rPr>
                        <a:t>tiktoken-style regex BPE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Byte-level BPE plus a much more careful pre-split regex (digits grouped, contractions, leading spaces handled explicitly).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Better handling of numbers and code. Our </a:t>
                      </a:r>
                      <a:r>
                        <a:rPr sz="919" b="0">
                          <a:solidFill>
                            <a:srgbClr val="B54408"/>
                          </a:solidFill>
                          <a:latin typeface="Consolas"/>
                        </a:rPr>
                        <a:t>SPLIT</a:t>
                      </a: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 regex is the simple ancestor of this.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GPT-3.5, GPT-4, gpt-oss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1">
                          <a:solidFill>
                            <a:srgbClr val="151515"/>
                          </a:solidFill>
                          <a:latin typeface="Segoe UI"/>
                        </a:rPr>
                        <a:t>Tokenizer-free / byte-latent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Delete the tokenizer entirely. Feed raw bytes and let a small learned network group them into dynamic patches.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No vocabulary, no OOV, no tokenizer bugs, fair across languages. Costs more compute per character. Active research, not yet standard.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69" b="0">
                          <a:solidFill>
                            <a:srgbClr val="151515"/>
                          </a:solidFill>
                          <a:latin typeface="Segoe UI"/>
                        </a:rPr>
                        <a:t>ByT5, MegaByte, BLT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FILE</a:t>
            </a:r>
          </a:p>
          <a:p>
            <a:pPr>
              <a:spcBef>
                <a:spcPts val="0"/>
              </a:spcBef>
            </a:pPr>
            <a:r>
              <a:rPr sz="9600" b="1">
                <a:solidFill>
                  <a:srgbClr val="E8590C"/>
                </a:solidFill>
                <a:latin typeface="Segoe U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6280" y="2084831"/>
            <a:ext cx="707105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>
                <a:solidFill>
                  <a:srgbClr val="151515"/>
                </a:solidFill>
                <a:latin typeface="Segoe UI"/>
              </a:rPr>
              <a:t>data3.py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2852928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6280" y="3063240"/>
            <a:ext cx="70710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>
                <a:solidFill>
                  <a:srgbClr val="5C5C5C"/>
                </a:solidFill>
                <a:latin typeface="Segoe UI"/>
              </a:rPr>
              <a:t>The reusable one — text in, train.bin and val.bin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3794760"/>
            <a:ext cx="70710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It imports nothing from this project except the two tokenizers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y is x shifted one place left — and that shift is the entire training signal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Why raw binary, and not JSON, not CSV, not a vector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DATA3.PY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Three jobs, and one rule it obeys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484778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download(name)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3018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fetch the raw .txt once and cache it on disk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14015"/>
            <a:ext cx="3484778" cy="13716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414015"/>
            <a:ext cx="41148" cy="13716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532887"/>
            <a:ext cx="3119018" cy="1161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shakespeare  1.1 MB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tinystories  19 MB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coding       11.6 MB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custom       your 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3458" y="1298448"/>
            <a:ext cx="3484778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prepare(...)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898" y="1920240"/>
            <a:ext cx="33018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build the tokenizer, encode everything, split 90/10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3458" y="2414015"/>
            <a:ext cx="3484778" cy="13716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53458" y="2414015"/>
            <a:ext cx="41148" cy="13716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4626" y="2532887"/>
            <a:ext cx="3119018" cy="1161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-&gt; tokenizer.json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-&gt; train.bin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-&gt; val.bin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3996" y="1298448"/>
            <a:ext cx="3484778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get_batch(...)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5436" y="1920240"/>
            <a:ext cx="33018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hand back random windows of tokens during 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3996" y="2414015"/>
            <a:ext cx="3484778" cy="13716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03996" y="2414015"/>
            <a:ext cx="41148" cy="13716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05164" y="2532887"/>
            <a:ext cx="3119018" cy="1161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x = tokens i .. i+127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y = tokens i+1 .. i+128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called ~2,000 times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41648"/>
            <a:ext cx="11185855" cy="9601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" y="418795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RULE THIS FILE OBEYS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4471416"/>
            <a:ext cx="1072865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It imports </a:t>
            </a:r>
            <a:r>
              <a:rPr sz="1250" b="1">
                <a:solidFill>
                  <a:srgbClr val="151515"/>
                </a:solidFill>
                <a:latin typeface="Segoe UI"/>
              </a:rPr>
              <a:t>nothing</a:t>
            </a:r>
            <a:r>
              <a:rPr sz="1250" b="0">
                <a:solidFill>
                  <a:srgbClr val="151515"/>
                </a:solidFill>
                <a:latin typeface="Segoe UI"/>
              </a:rPr>
              <a:t> else from this project — no config, no model. Every function takes plain numbers and strings. </a:t>
            </a:r>
            <a:r>
              <a:rPr sz="1250" b="1">
                <a:solidFill>
                  <a:srgbClr val="151515"/>
                </a:solidFill>
                <a:latin typeface="Segoe UI"/>
              </a:rPr>
              <a:t>That is the only reason you can copy it into your next project unchanged.</a:t>
            </a:r>
            <a:r>
              <a:rPr sz="1250" b="0">
                <a:solidFill>
                  <a:srgbClr val="151515"/>
                </a:solidFill>
                <a:latin typeface="Segoe UI"/>
              </a:rPr>
              <a:t> Any model that reads </a:t>
            </a:r>
            <a:r>
              <a:rPr sz="1200" b="0">
                <a:solidFill>
                  <a:srgbClr val="B54408"/>
                </a:solidFill>
                <a:latin typeface="Consolas"/>
              </a:rPr>
              <a:t>train.bin</a:t>
            </a:r>
            <a:r>
              <a:rPr sz="1250" b="0">
                <a:solidFill>
                  <a:srgbClr val="151515"/>
                </a:solidFill>
                <a:latin typeface="Segoe UI"/>
              </a:rPr>
              <a:t> works with this file.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184648"/>
            <a:ext cx="111858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151515"/>
                </a:solidFill>
                <a:latin typeface="Segoe UI"/>
              </a:rPr>
              <a:t>For a pretraining LLM the dataset is just </a:t>
            </a:r>
            <a:r>
              <a:rPr sz="1300" b="1">
                <a:solidFill>
                  <a:srgbClr val="151515"/>
                </a:solidFill>
                <a:latin typeface="Segoe UI"/>
              </a:rPr>
              <a:t>one big pile of text</a:t>
            </a:r>
            <a:r>
              <a:rPr sz="1300" b="0">
                <a:solidFill>
                  <a:srgbClr val="151515"/>
                </a:solidFill>
                <a:latin typeface="Segoe UI"/>
              </a:rPr>
              <a:t>. No labels, no question/answer pairs. This is </a:t>
            </a:r>
            <a:r>
              <a:rPr sz="1300" b="1">
                <a:solidFill>
                  <a:srgbClr val="151515"/>
                </a:solidFill>
                <a:latin typeface="Segoe UI"/>
              </a:rPr>
              <a:t>self-supervised</a:t>
            </a:r>
            <a:r>
              <a:rPr sz="1300" b="0">
                <a:solidFill>
                  <a:srgbClr val="151515"/>
                </a:solidFill>
                <a:latin typeface="Segoe UI"/>
              </a:rPr>
              <a:t> learning: the text </a:t>
            </a:r>
            <a:r>
              <a:rPr sz="1300" b="0" i="1">
                <a:solidFill>
                  <a:srgbClr val="151515"/>
                </a:solidFill>
                <a:latin typeface="Segoe UI"/>
              </a:rPr>
              <a:t>is</a:t>
            </a:r>
            <a:r>
              <a:rPr sz="1300" b="0">
                <a:solidFill>
                  <a:srgbClr val="151515"/>
                </a:solidFill>
                <a:latin typeface="Segoe UI"/>
              </a:rPr>
              <a:t> its own answer key, because the correct next token is simply the token that actually came next.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DATA3.PY  ·  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aha moment of the whole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85855" cy="109728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0972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get_batch, THE TWO LINES THAT ARE THE ENTIRE TRAINING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73351"/>
            <a:ext cx="10820095" cy="6309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350" b="0">
                <a:solidFill>
                  <a:srgbClr val="151515"/>
                </a:solidFill>
                <a:latin typeface="Consolas"/>
              </a:rPr>
              <a:t>x = data[i     : i + block_size]    </a:t>
            </a:r>
            <a:r>
              <a:rPr sz="1350" b="0">
                <a:solidFill>
                  <a:srgbClr val="B54408"/>
                </a:solidFill>
                <a:latin typeface="Consolas"/>
              </a:rPr>
              <a:t>  # "the cat sat on the ma"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350" b="0">
                <a:solidFill>
                  <a:srgbClr val="151515"/>
                </a:solidFill>
                <a:latin typeface="Consolas"/>
              </a:rPr>
              <a:t>y = data[i + 1 : i + 1 + block_size]</a:t>
            </a:r>
            <a:r>
              <a:rPr sz="1350" b="0">
                <a:solidFill>
                  <a:srgbClr val="B54408"/>
                </a:solidFill>
                <a:latin typeface="Consolas"/>
              </a:rPr>
              <a:t>  # "he cat sat on the mat"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7860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DRY RUN — ONE WINDOW, CHAR TOKENIZER, BLOCK_SIZE =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108960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2926079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0824" y="2926079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4328" y="2926079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2926079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31336" y="2926079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926079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2926079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41848" y="2926079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3913632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9072" y="3730752"/>
            <a:ext cx="603504" cy="603504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22576" y="3730752"/>
            <a:ext cx="603504" cy="603504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3730752"/>
            <a:ext cx="603504" cy="603504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9584" y="3730752"/>
            <a:ext cx="603504" cy="603504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3088" y="3730752"/>
            <a:ext cx="603504" cy="603504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36592" y="3730752"/>
            <a:ext cx="603504" cy="603504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0096" y="3730752"/>
            <a:ext cx="603504" cy="603504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730752"/>
            <a:ext cx="603504" cy="603504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96265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51515"/>
                </a:solidFill>
                <a:latin typeface="Segoe UI"/>
              </a:rPr>
              <a:t>y is x, moved one place left.</a:t>
            </a:r>
            <a:r>
              <a:rPr sz="1300" b="0">
                <a:solidFill>
                  <a:srgbClr val="151515"/>
                </a:solidFill>
                <a:latin typeface="Segoe UI"/>
              </a:rPr>
              <a:t>
Nothing else happened.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63016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At position 0 the model sees “t” and must predict “h”.
At position 6 it sees “the cat ” and must predict “s”.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636008"/>
            <a:ext cx="11185855" cy="132588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0664" y="478231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WHY THIS IS SUCH A BIG DEAL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" y="5065776"/>
            <a:ext cx="1072865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There is </a:t>
            </a:r>
            <a:r>
              <a:rPr sz="1250" b="1">
                <a:solidFill>
                  <a:srgbClr val="151515"/>
                </a:solidFill>
                <a:latin typeface="Segoe UI"/>
              </a:rPr>
              <a:t>no separate answers file.</a:t>
            </a:r>
            <a:r>
              <a:rPr sz="1250" b="0">
                <a:solidFill>
                  <a:srgbClr val="151515"/>
                </a:solidFill>
                <a:latin typeface="Segoe UI"/>
              </a:rPr>
              <a:t> The shift manufactures </a:t>
            </a:r>
            <a:r>
              <a:rPr sz="1200" b="0">
                <a:solidFill>
                  <a:srgbClr val="B54408"/>
                </a:solidFill>
                <a:latin typeface="Consolas"/>
              </a:rPr>
              <a:t>block_size</a:t>
            </a:r>
            <a:r>
              <a:rPr sz="1250" b="0">
                <a:solidFill>
                  <a:srgbClr val="151515"/>
                </a:solidFill>
                <a:latin typeface="Segoe UI"/>
              </a:rPr>
              <a:t> supervised prediction problems out of every single window of text, for free. One sequence of 128 tokens is </a:t>
            </a:r>
            <a:r>
              <a:rPr sz="1250" b="1">
                <a:solidFill>
                  <a:srgbClr val="151515"/>
                </a:solidFill>
                <a:latin typeface="Segoe UI"/>
              </a:rPr>
              <a:t>128 training examples</a:t>
            </a:r>
            <a:r>
              <a:rPr sz="1250" b="0">
                <a:solidFill>
                  <a:srgbClr val="151515"/>
                </a:solidFill>
                <a:latin typeface="Segoe UI"/>
              </a:rPr>
              <a:t>, not one.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That is where the “self” in self-supervised comes from — and it is why the causal mask (file 4) matters so much: the mask is what lets all 128 be learned in </a:t>
            </a:r>
            <a:r>
              <a:rPr sz="1250" b="1">
                <a:solidFill>
                  <a:srgbClr val="151515"/>
                </a:solidFill>
                <a:latin typeface="Segoe UI"/>
              </a:rPr>
              <a:t>one</a:t>
            </a:r>
            <a:r>
              <a:rPr sz="1250" b="0">
                <a:solidFill>
                  <a:srgbClr val="151515"/>
                </a:solidFill>
                <a:latin typeface="Segoe UI"/>
              </a:rPr>
              <a:t> forward pass.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DATA3.PY  ·  WHY .BIN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Raw uint16 numbers on disk. No format, no library, no parsing.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85855" cy="12344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2344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prepare(), THE FOUR LINES THAT WRITE THE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73351"/>
            <a:ext cx="10820095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assert tok.vocab_size &lt; 65536, "vocab too big for uint16 - use uint32"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ids = np.array(tok.encode(text), dtype=np.uint16)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n = int(0.9 * len(ids))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ids[:n].tofile(".../train.bin");   ids[n:].tofile(".../val.bin")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1576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WHAT IS ACTUALLY ON DISK — EVERY TOKEN IS EXACTLY 2 BYTES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273551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token 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3063239"/>
            <a:ext cx="658368" cy="658368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3063239"/>
            <a:ext cx="658368" cy="658368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43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71215" y="3063239"/>
            <a:ext cx="658368" cy="658368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9584" y="3063239"/>
            <a:ext cx="658368" cy="658368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7952" y="3063239"/>
            <a:ext cx="658368" cy="658368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53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3063239"/>
            <a:ext cx="658368" cy="658368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931920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on disk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721607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2E 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2848" y="3721607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2B 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71215" y="3721607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32 00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9584" y="3721607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32 00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7952" y="3721607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35 00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3721607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01 00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3099815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token #500,000 lives at byte offset </a:t>
            </a:r>
            <a:r>
              <a:rPr sz="1250" b="1">
                <a:solidFill>
                  <a:srgbClr val="151515"/>
                </a:solidFill>
                <a:latin typeface="Segoe UI"/>
              </a:rPr>
              <a:t>1,000,000</a:t>
            </a:r>
            <a:r>
              <a:rPr sz="1250" b="0">
                <a:solidFill>
                  <a:srgbClr val="151515"/>
                </a:solidFill>
                <a:latin typeface="Segoe UI"/>
              </a:rPr>
              <a:t>.
Exactly. Always. No searching, no parsing.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3767327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B54408"/>
                </a:solidFill>
                <a:latin typeface="Consolas"/>
              </a:rPr>
              <a:t>np.fromfile(path, dtype=np.uint16)</a:t>
            </a:r>
            <a:r>
              <a:rPr sz="1150" b="0">
                <a:solidFill>
                  <a:srgbClr val="5C5C5C"/>
                </a:solidFill>
                <a:latin typeface="Segoe UI"/>
              </a:rPr>
              <a:t> hands you a
numpy array in one call — already in the exact
memory layout a tensor wants.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498848"/>
            <a:ext cx="1118585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1">
                <a:solidFill>
                  <a:srgbClr val="151515"/>
                </a:solidFill>
                <a:latin typeface="Segoe UI"/>
              </a:rPr>
              <a:t>Fixed width buys random access.</a:t>
            </a:r>
            <a:r>
              <a:rPr sz="1300" b="0">
                <a:solidFill>
                  <a:srgbClr val="151515"/>
                </a:solidFill>
                <a:latin typeface="Segoe UI"/>
              </a:rPr>
              <a:t> </a:t>
            </a:r>
            <a:r>
              <a:rPr sz="1250" b="0">
                <a:solidFill>
                  <a:srgbClr val="B54408"/>
                </a:solidFill>
                <a:latin typeface="Consolas"/>
              </a:rPr>
              <a:t>get_batch</a:t>
            </a:r>
            <a:r>
              <a:rPr sz="1300" b="0">
                <a:solidFill>
                  <a:srgbClr val="151515"/>
                </a:solidFill>
                <a:latin typeface="Segoe UI"/>
              </a:rPr>
              <a:t> needs </a:t>
            </a:r>
            <a:r>
              <a:rPr sz="1250" b="0">
                <a:solidFill>
                  <a:srgbClr val="B54408"/>
                </a:solidFill>
                <a:latin typeface="Consolas"/>
              </a:rPr>
              <a:t>data[i : i+128]</a:t>
            </a:r>
            <a:r>
              <a:rPr sz="1300" b="0">
                <a:solidFill>
                  <a:srgbClr val="151515"/>
                </a:solidFill>
                <a:latin typeface="Segoe UI"/>
              </a:rPr>
              <a:t> for a </a:t>
            </a:r>
            <a:r>
              <a:rPr sz="1300" b="0" i="1">
                <a:solidFill>
                  <a:srgbClr val="151515"/>
                </a:solidFill>
                <a:latin typeface="Segoe UI"/>
              </a:rPr>
              <a:t>random</a:t>
            </a:r>
            <a:r>
              <a:rPr sz="1300" b="0">
                <a:solidFill>
                  <a:srgbClr val="151515"/>
                </a:solidFill>
                <a:latin typeface="Segoe UI"/>
              </a:rPr>
              <a:t> i, thousands of times. Fixed-width means that is a pointer arithmetic — O(1).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1">
                <a:solidFill>
                  <a:srgbClr val="151515"/>
                </a:solidFill>
                <a:latin typeface="Segoe UI"/>
              </a:rPr>
              <a:t>uint16 holds 0-65,535</a:t>
            </a:r>
            <a:r>
              <a:rPr sz="1300" b="0">
                <a:solidFill>
                  <a:srgbClr val="151515"/>
                </a:solidFill>
                <a:latin typeface="Segoe UI"/>
              </a:rPr>
              <a:t>, which covers char (65) and our BPE (1,024) with room to spare. A Llama-style 128k vocab would need </a:t>
            </a:r>
            <a:r>
              <a:rPr sz="1250" b="0">
                <a:solidFill>
                  <a:srgbClr val="B54408"/>
                </a:solidFill>
                <a:latin typeface="Consolas"/>
              </a:rPr>
              <a:t>uint32</a:t>
            </a:r>
            <a:r>
              <a:rPr sz="1300" b="0">
                <a:solidFill>
                  <a:srgbClr val="151515"/>
                </a:solidFill>
                <a:latin typeface="Segoe UI"/>
              </a:rPr>
              <a:t> — the assert catches this for you.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WHY NOT JSON?  WHY NOT CSV OR PARQUET?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same 1,115,394 Shakespeare tokens, four 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5854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5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7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7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Format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Size on disk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To read token #500,000 you must…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1">
                          <a:solidFill>
                            <a:srgbClr val="151515"/>
                          </a:solidFill>
                          <a:latin typeface="Segoe UI"/>
                        </a:rPr>
                        <a:t>train.bin</a:t>
                      </a: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 (uint16)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1">
                          <a:solidFill>
                            <a:srgbClr val="151515"/>
                          </a:solidFill>
                          <a:latin typeface="Segoe UI"/>
                        </a:rPr>
                        <a:t>2.23 MB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seek to byte 1,000,000 and read 2 bytes. </a:t>
                      </a:r>
                      <a:r>
                        <a:rPr sz="1040" b="1">
                          <a:solidFill>
                            <a:srgbClr val="151515"/>
                          </a:solidFill>
                          <a:latin typeface="Segoe UI"/>
                        </a:rPr>
                        <a:t>O(1).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1">
                          <a:solidFill>
                            <a:srgbClr val="151515"/>
                          </a:solidFill>
                          <a:latin typeface="Segoe UI"/>
                        </a:rPr>
                        <a:t>What we use.</a:t>
                      </a: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 Zero parsing, random access, memory-mappable if the file exceeds RAM.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JSON </a:t>
                      </a:r>
                      <a:r>
                        <a:rPr sz="990" b="0">
                          <a:solidFill>
                            <a:srgbClr val="B54408"/>
                          </a:solidFill>
                          <a:latin typeface="Consolas"/>
                        </a:rPr>
                        <a:t>[46, 43, 50, …]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~4.46 MB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parse the </a:t>
                      </a:r>
                      <a:r>
                        <a:rPr sz="1040" b="1">
                          <a:solidFill>
                            <a:srgbClr val="151515"/>
                          </a:solidFill>
                          <a:latin typeface="Segoe UI"/>
                        </a:rPr>
                        <a:t>entire file</a:t>
                      </a: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 from the beginning — numbers are variable-width, so byte offset tells you nothing.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2× the size, and </a:t>
                      </a:r>
                      <a:r>
                        <a:rPr sz="990" b="0">
                          <a:solidFill>
                            <a:srgbClr val="B54408"/>
                          </a:solidFill>
                          <a:latin typeface="Consolas"/>
                        </a:rPr>
                        <a:t>json.loads</a:t>
                      </a: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 builds a Python list of </a:t>
                      </a:r>
                      <a:r>
                        <a:rPr sz="1040" b="1">
                          <a:solidFill>
                            <a:srgbClr val="151515"/>
                          </a:solidFill>
                          <a:latin typeface="Segoe UI"/>
                        </a:rPr>
                        <a:t>1.1M int objects ≈ 40 MB of RAM</a:t>
                      </a: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 with pointer chasing on every access.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CSV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~4.5 MB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same problem — parse from the start, split on commas.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All of JSON's costs plus a text encoder/decoder. Built for spreadsheets, not tensors.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Parquet / Arrow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~1.5 MB (compressed)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decompress the row group containing it, then index.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Genuinely good for </a:t>
                      </a:r>
                      <a:r>
                        <a:rPr sz="1040" b="1">
                          <a:solidFill>
                            <a:srgbClr val="151515"/>
                          </a:solidFill>
                          <a:latin typeface="Segoe UI"/>
                        </a:rPr>
                        <a:t>large, columnar, typed</a:t>
                      </a:r>
                      <a:r>
                        <a:rPr sz="1040" b="0">
                          <a:solidFill>
                            <a:srgbClr val="151515"/>
                          </a:solidFill>
                          <a:latin typeface="Segoe UI"/>
                        </a:rPr>
                        <a:t> datasets and it is what HuggingFace uses at scale. Overkill here: a library dependency and a decode step to save 0.7 MB.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413248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555955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HONEST SUMMARY FOR THE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5843016"/>
            <a:ext cx="10728655" cy="374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We are not storing a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dataset</a:t>
            </a:r>
            <a:r>
              <a:rPr sz="1250" b="0">
                <a:solidFill>
                  <a:srgbClr val="151515"/>
                </a:solidFill>
                <a:latin typeface="Segoe UI"/>
              </a:rPr>
              <a:t> in the database sense. We are storing </a:t>
            </a:r>
            <a:r>
              <a:rPr sz="1250" b="1">
                <a:solidFill>
                  <a:srgbClr val="151515"/>
                </a:solidFill>
                <a:latin typeface="Segoe UI"/>
              </a:rPr>
              <a:t>one enormous array of small integers</a:t>
            </a:r>
            <a:r>
              <a:rPr sz="1250" b="0">
                <a:solidFill>
                  <a:srgbClr val="151515"/>
                </a:solidFill>
                <a:latin typeface="Segoe UI"/>
              </a:rPr>
              <a:t> that we slice at random offsets a few thousand times a minute. For that job, the fastest format is the one with </a:t>
            </a:r>
            <a:r>
              <a:rPr sz="1250" b="1">
                <a:solidFill>
                  <a:srgbClr val="151515"/>
                </a:solidFill>
                <a:latin typeface="Segoe UI"/>
              </a:rPr>
              <a:t>no format at all.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WHY NOT A VECTOR DATABASE?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62" b="1">
                <a:solidFill>
                  <a:srgbClr val="151515"/>
                </a:solidFill>
                <a:latin typeface="Segoe UI"/>
              </a:rPr>
              <a:t>The question every student asks after Session 3 — and it's a good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5364327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444751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WHAT A VECTOR DB IS BUILT TO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728216"/>
            <a:ext cx="4907127" cy="1746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Store </a:t>
            </a:r>
            <a:r>
              <a:rPr sz="1250" b="1">
                <a:solidFill>
                  <a:srgbClr val="151515"/>
                </a:solidFill>
                <a:latin typeface="Segoe UI"/>
              </a:rPr>
              <a:t>embeddings</a:t>
            </a:r>
            <a:r>
              <a:rPr sz="1250" b="0">
                <a:solidFill>
                  <a:srgbClr val="151515"/>
                </a:solidFill>
                <a:latin typeface="Segoe UI"/>
              </a:rPr>
              <a:t> and answer one question: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“which stored items are most similar to this one?”</a:t>
            </a:r>
            <a:r>
              <a:rPr sz="1250" b="0">
                <a:solidFill>
                  <a:srgbClr val="151515"/>
                </a:solidFill>
                <a:latin typeface="Segoe UI"/>
              </a:rPr>
              <a:t> — via approximate nearest-neighbour search.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It is an </a:t>
            </a:r>
            <a:r>
              <a:rPr sz="1250" b="1">
                <a:solidFill>
                  <a:srgbClr val="151515"/>
                </a:solidFill>
                <a:latin typeface="Segoe UI"/>
              </a:rPr>
              <a:t>unordered set</a:t>
            </a:r>
            <a:r>
              <a:rPr sz="1250" b="0">
                <a:solidFill>
                  <a:srgbClr val="151515"/>
                </a:solidFill>
                <a:latin typeface="Segoe UI"/>
              </a:rPr>
              <a:t> with a similarity index. There is no such thing as “the next row”.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That is exactly right for </a:t>
            </a:r>
            <a:r>
              <a:rPr sz="1250" b="1">
                <a:solidFill>
                  <a:srgbClr val="151515"/>
                </a:solidFill>
                <a:latin typeface="Segoe UI"/>
              </a:rPr>
              <a:t>RAG at inference time</a:t>
            </a:r>
            <a:r>
              <a:rPr sz="1250" b="0">
                <a:solidFill>
                  <a:srgbClr val="151515"/>
                </a:solidFill>
                <a:latin typeface="Segoe UI"/>
              </a:rPr>
              <a:t>, which is what Session 3 built.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16736"/>
            <a:ext cx="5272887" cy="2743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4447" y="1298448"/>
            <a:ext cx="5364327" cy="22860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2191" y="1444751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WHAT PRETRAINING ACTUALLY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191" y="1728216"/>
            <a:ext cx="4907127" cy="1746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51515"/>
                </a:solidFill>
                <a:latin typeface="Segoe UI"/>
              </a:rPr>
              <a:t>Exact, contiguous order.</a:t>
            </a:r>
            <a:r>
              <a:rPr sz="1250" b="0">
                <a:solidFill>
                  <a:srgbClr val="151515"/>
                </a:solidFill>
                <a:latin typeface="Segoe UI"/>
              </a:rPr>
              <a:t> Token 5 must be followed by token 6 — the entire training signal is “what came next”. Order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is</a:t>
            </a:r>
            <a:r>
              <a:rPr sz="1250" b="0">
                <a:solidFill>
                  <a:srgbClr val="151515"/>
                </a:solidFill>
                <a:latin typeface="Segoe UI"/>
              </a:rPr>
              <a:t> the label.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A slice of 128 consecutive tokens, a few thousand times, as fast as memory allows.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Nothing is ever searched. Nothing is ever compared for similarity.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13048"/>
            <a:ext cx="11185855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3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50" b="1">
                <a:solidFill>
                  <a:srgbClr val="151515"/>
                </a:solidFill>
                <a:latin typeface="Segoe UI"/>
              </a:rPr>
              <a:t>The embeddings don't exist yet.</a:t>
            </a:r>
            <a:r>
              <a:rPr sz="1350" b="0">
                <a:solidFill>
                  <a:srgbClr val="151515"/>
                </a:solidFill>
                <a:latin typeface="Segoe UI"/>
              </a:rPr>
              <a:t> </a:t>
            </a:r>
            <a:r>
              <a:rPr sz="1300" b="0">
                <a:solidFill>
                  <a:srgbClr val="B54408"/>
                </a:solidFill>
                <a:latin typeface="Consolas"/>
              </a:rPr>
              <a:t>tok_emb</a:t>
            </a:r>
            <a:r>
              <a:rPr sz="1350" b="0">
                <a:solidFill>
                  <a:srgbClr val="151515"/>
                </a:solidFill>
                <a:latin typeface="Segoe UI"/>
              </a:rPr>
              <a:t> is </a:t>
            </a:r>
            <a:r>
              <a:rPr sz="1350" b="0" i="1">
                <a:solidFill>
                  <a:srgbClr val="151515"/>
                </a:solidFill>
                <a:latin typeface="Segoe UI"/>
              </a:rPr>
              <a:t>learned by training</a:t>
            </a:r>
            <a:r>
              <a:rPr sz="1350" b="0">
                <a:solidFill>
                  <a:srgbClr val="151515"/>
                </a:solidFill>
                <a:latin typeface="Segoe UI"/>
              </a:rPr>
              <a:t>. Vectors are an </a:t>
            </a:r>
            <a:r>
              <a:rPr sz="1350" b="1">
                <a:solidFill>
                  <a:srgbClr val="151515"/>
                </a:solidFill>
                <a:latin typeface="Segoe UI"/>
              </a:rPr>
              <a:t>output</a:t>
            </a:r>
            <a:r>
              <a:rPr sz="1350" b="0">
                <a:solidFill>
                  <a:srgbClr val="151515"/>
                </a:solidFill>
                <a:latin typeface="Segoe UI"/>
              </a:rPr>
              <a:t> of this process, not an input to it. Putting them in a DB beforehand is backwards.</a:t>
            </a:r>
          </a:p>
          <a:p>
            <a:pPr>
              <a:lnSpc>
                <a:spcPct val="116000"/>
              </a:lnSpc>
              <a:spcBef>
                <a:spcPts val="1300"/>
              </a:spcBef>
            </a:pPr>
            <a:r>
              <a:rPr sz="13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50" b="1">
                <a:solidFill>
                  <a:srgbClr val="151515"/>
                </a:solidFill>
                <a:latin typeface="Segoe UI"/>
              </a:rPr>
              <a:t>Speed.</a:t>
            </a:r>
            <a:r>
              <a:rPr sz="1350" b="0">
                <a:solidFill>
                  <a:srgbClr val="151515"/>
                </a:solidFill>
                <a:latin typeface="Segoe UI"/>
              </a:rPr>
              <a:t> An ANN lookup is milliseconds; a numpy slice is nanoseconds. At 2,000 steps × 32 sequences you would add hours of latency to a three-minute job — to answer a question we never ask.</a:t>
            </a:r>
          </a:p>
          <a:p>
            <a:pPr>
              <a:lnSpc>
                <a:spcPct val="116000"/>
              </a:lnSpc>
              <a:spcBef>
                <a:spcPts val="1300"/>
              </a:spcBef>
            </a:pPr>
            <a:r>
              <a:rPr sz="13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50" b="1">
                <a:solidFill>
                  <a:srgbClr val="151515"/>
                </a:solidFill>
                <a:latin typeface="Segoe UI"/>
              </a:rPr>
              <a:t>Right tool, wrong stage.</a:t>
            </a:r>
            <a:r>
              <a:rPr sz="1350" b="0">
                <a:solidFill>
                  <a:srgbClr val="151515"/>
                </a:solidFill>
                <a:latin typeface="Segoe UI"/>
              </a:rPr>
              <a:t> Vector DBs are for </a:t>
            </a:r>
            <a:r>
              <a:rPr sz="1350" b="0" i="1">
                <a:solidFill>
                  <a:srgbClr val="151515"/>
                </a:solidFill>
                <a:latin typeface="Segoe UI"/>
              </a:rPr>
              <a:t>retrieval at inference</a:t>
            </a:r>
            <a:r>
              <a:rPr sz="1350" b="0">
                <a:solidFill>
                  <a:srgbClr val="151515"/>
                </a:solidFill>
                <a:latin typeface="Segoe UI"/>
              </a:rPr>
              <a:t>: give the model facts it was never trained on. Pretraining is </a:t>
            </a:r>
            <a:r>
              <a:rPr sz="1350" b="0" i="1">
                <a:solidFill>
                  <a:srgbClr val="151515"/>
                </a:solidFill>
                <a:latin typeface="Segoe UI"/>
              </a:rPr>
              <a:t>compression into weights</a:t>
            </a:r>
            <a:r>
              <a:rPr sz="1350" b="0">
                <a:solidFill>
                  <a:srgbClr val="151515"/>
                </a:solidFill>
                <a:latin typeface="Segoe UI"/>
              </a:rPr>
              <a:t>. Different job, different data structure.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DATA3.PY  ·  GET_BATCH AND THE HONESTY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How one batch is assembled, and what val.bin is really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33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766560" cy="210312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21031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32 RANDOM START POINTS, 32 WINDOWS, ONE TENSOR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73351"/>
            <a:ext cx="6400800" cy="1636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starts = torch.randint(len(data) - block_size - 1, (batch_size,))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x = torch.stack([torch.from_numpy(data[i : i+block_size]...)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             for i in starts])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y = torch.stack([torch.from_numpy(data[i+1 : i+1+block_size]...)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             for i in starts])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return x.to(device), y.to(device)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298448"/>
            <a:ext cx="4099255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150" b="0">
                <a:solidFill>
                  <a:srgbClr val="B54408"/>
                </a:solidFill>
                <a:latin typeface="Consolas"/>
              </a:rPr>
              <a:t>randint</a:t>
            </a:r>
            <a:r>
              <a:rPr sz="1200" b="0">
                <a:solidFill>
                  <a:srgbClr val="151515"/>
                </a:solidFill>
                <a:latin typeface="Segoe UI"/>
              </a:rPr>
              <a:t> picks </a:t>
            </a:r>
            <a:r>
              <a:rPr sz="1200" b="1">
                <a:solidFill>
                  <a:srgbClr val="151515"/>
                </a:solidFill>
                <a:latin typeface="Segoe UI"/>
              </a:rPr>
              <a:t>random</a:t>
            </a:r>
            <a:r>
              <a:rPr sz="1200" b="0">
                <a:solidFill>
                  <a:srgbClr val="151515"/>
                </a:solidFill>
                <a:latin typeface="Segoe UI"/>
              </a:rPr>
              <a:t> start points every step — the model never sees the file in order, so it can't learn position-in-file as a shortcut.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150" b="0">
                <a:solidFill>
                  <a:srgbClr val="B54408"/>
                </a:solidFill>
                <a:latin typeface="Consolas"/>
              </a:rPr>
              <a:t>- block_size - 1</a:t>
            </a:r>
            <a:r>
              <a:rPr sz="1200" b="0">
                <a:solidFill>
                  <a:srgbClr val="151515"/>
                </a:solidFill>
                <a:latin typeface="Segoe UI"/>
              </a:rPr>
              <a:t> keeps the </a:t>
            </a:r>
            <a:r>
              <a:rPr sz="1150" b="0">
                <a:solidFill>
                  <a:srgbClr val="B54408"/>
                </a:solidFill>
                <a:latin typeface="Consolas"/>
              </a:rPr>
              <a:t>y</a:t>
            </a:r>
            <a:r>
              <a:rPr sz="1200" b="0">
                <a:solidFill>
                  <a:srgbClr val="151515"/>
                </a:solidFill>
                <a:latin typeface="Segoe UI"/>
              </a:rPr>
              <a:t> slice inside the array.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Output shapes: </a:t>
            </a:r>
            <a:r>
              <a:rPr sz="1150" b="0">
                <a:solidFill>
                  <a:srgbClr val="B54408"/>
                </a:solidFill>
                <a:latin typeface="Consolas"/>
              </a:rPr>
              <a:t>x</a:t>
            </a:r>
            <a:r>
              <a:rPr sz="1200" b="0">
                <a:solidFill>
                  <a:srgbClr val="151515"/>
                </a:solidFill>
                <a:latin typeface="Segoe UI"/>
              </a:rPr>
              <a:t> and </a:t>
            </a:r>
            <a:r>
              <a:rPr sz="1150" b="0">
                <a:solidFill>
                  <a:srgbClr val="B54408"/>
                </a:solidFill>
                <a:latin typeface="Consolas"/>
              </a:rPr>
              <a:t>y</a:t>
            </a:r>
            <a:r>
              <a:rPr sz="1200" b="0">
                <a:solidFill>
                  <a:srgbClr val="151515"/>
                </a:solidFill>
                <a:latin typeface="Segoe UI"/>
              </a:rPr>
              <a:t> are both </a:t>
            </a:r>
            <a:r>
              <a:rPr sz="1200" b="1">
                <a:solidFill>
                  <a:srgbClr val="151515"/>
                </a:solidFill>
                <a:latin typeface="Segoe UI"/>
              </a:rPr>
              <a:t>(32, 128)</a:t>
            </a:r>
            <a:r>
              <a:rPr sz="1200" b="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75887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3822191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_LOADED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105655"/>
            <a:ext cx="4907127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Each </a:t>
            </a:r>
            <a:r>
              <a:rPr sz="1200" b="0">
                <a:solidFill>
                  <a:srgbClr val="B54408"/>
                </a:solidFill>
                <a:latin typeface="Consolas"/>
              </a:rPr>
              <a:t>.bin</a:t>
            </a:r>
            <a:r>
              <a:rPr sz="1250" b="0">
                <a:solidFill>
                  <a:srgbClr val="151515"/>
                </a:solidFill>
                <a:latin typeface="Segoe UI"/>
              </a:rPr>
              <a:t> is read into memory </a:t>
            </a:r>
            <a:r>
              <a:rPr sz="1250" b="1">
                <a:solidFill>
                  <a:srgbClr val="151515"/>
                </a:solidFill>
                <a:latin typeface="Segoe UI"/>
              </a:rPr>
              <a:t>once</a:t>
            </a:r>
            <a:r>
              <a:rPr sz="1250" b="0">
                <a:solidFill>
                  <a:srgbClr val="151515"/>
                </a:solidFill>
                <a:latin typeface="Segoe UI"/>
              </a:rPr>
              <a:t> and kept in a module-level dict. Shakespeare is 2 MB — this costs nothing and beats re-reading disk 2,000 times.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94175"/>
            <a:ext cx="5272887" cy="2743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24447" y="3675887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2191" y="3822191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90 / 10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191" y="4105655"/>
            <a:ext cx="4907127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The last 10% becomes </a:t>
            </a:r>
            <a:r>
              <a:rPr sz="1200" b="0">
                <a:solidFill>
                  <a:srgbClr val="B54408"/>
                </a:solidFill>
                <a:latin typeface="Consolas"/>
              </a:rPr>
              <a:t>val.bin</a:t>
            </a:r>
            <a:r>
              <a:rPr sz="1250" b="0">
                <a:solidFill>
                  <a:srgbClr val="151515"/>
                </a:solidFill>
                <a:latin typeface="Segoe UI"/>
              </a:rPr>
              <a:t> — text the model </a:t>
            </a:r>
            <a:r>
              <a:rPr sz="1250" b="1">
                <a:solidFill>
                  <a:srgbClr val="151515"/>
                </a:solidFill>
                <a:latin typeface="Segoe UI"/>
              </a:rPr>
              <a:t>never trains on</a:t>
            </a:r>
            <a:r>
              <a:rPr sz="1250" b="0">
                <a:solidFill>
                  <a:srgbClr val="151515"/>
                </a:solidFill>
                <a:latin typeface="Segoe UI"/>
              </a:rPr>
              <a:t>. It is the experiment's control group.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64607"/>
            <a:ext cx="11185855" cy="128016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" y="501091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LIE DETECTOR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5294375"/>
            <a:ext cx="10728655" cy="740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51515"/>
                </a:solidFill>
                <a:latin typeface="Segoe UI"/>
              </a:rPr>
              <a:t>Both losses falling</a:t>
            </a:r>
            <a:r>
              <a:rPr sz="1250" b="0">
                <a:solidFill>
                  <a:srgbClr val="151515"/>
                </a:solidFill>
                <a:latin typeface="Segoe UI"/>
              </a:rPr>
              <a:t> → the model is learning the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language</a:t>
            </a:r>
            <a:r>
              <a:rPr sz="1250" b="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1">
                <a:solidFill>
                  <a:srgbClr val="151515"/>
                </a:solidFill>
                <a:latin typeface="Segoe UI"/>
              </a:rPr>
              <a:t>Train falls, val rises or flattens</a:t>
            </a:r>
            <a:r>
              <a:rPr sz="1250" b="0">
                <a:solidFill>
                  <a:srgbClr val="151515"/>
                </a:solidFill>
                <a:latin typeface="Segoe UI"/>
              </a:rPr>
              <a:t> → the model is </a:t>
            </a:r>
            <a:r>
              <a:rPr sz="1250" b="1">
                <a:solidFill>
                  <a:srgbClr val="151515"/>
                </a:solidFill>
                <a:latin typeface="Segoe UI"/>
              </a:rPr>
              <a:t>memorising the training text</a:t>
            </a:r>
            <a:r>
              <a:rPr sz="1250" b="0">
                <a:solidFill>
                  <a:srgbClr val="151515"/>
                </a:solidFill>
                <a:latin typeface="Segoe UI"/>
              </a:rPr>
              <a:t>. With 1 MB of data and 0.8M parameters this is a real risk, and watching two numbers instead of one is how you catch it live, on screen, in front of the class.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FILE</a:t>
            </a:r>
          </a:p>
          <a:p>
            <a:pPr>
              <a:spcBef>
                <a:spcPts val="0"/>
              </a:spcBef>
            </a:pPr>
            <a:r>
              <a:rPr sz="9600" b="1">
                <a:solidFill>
                  <a:srgbClr val="E8590C"/>
                </a:solidFill>
                <a:latin typeface="Segoe U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6280" y="2084831"/>
            <a:ext cx="707105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>
                <a:solidFill>
                  <a:srgbClr val="151515"/>
                </a:solidFill>
                <a:latin typeface="Segoe UI"/>
              </a:rPr>
              <a:t>model4.py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2852928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6280" y="3063240"/>
            <a:ext cx="70710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>
                <a:solidFill>
                  <a:srgbClr val="5C5C5C"/>
                </a:solidFill>
                <a:latin typeface="Segoe UI"/>
              </a:rPr>
              <a:t>The transformer itself — the file you came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3794760"/>
            <a:ext cx="70710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A GPT is a stack of identical blocks: attention, then MLP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Q, K, V, the attention formula written out by hand, and the causal mask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About 130 lines. Nothing in it knows what English 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MODEL4.PY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whole forward pass, on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44168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51515"/>
                </a:solidFill>
                <a:latin typeface="Segoe UI"/>
              </a:rPr>
              <a:t>idx  (B, T)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5C5C5C"/>
                </a:solidFill>
                <a:latin typeface="Segoe UI"/>
              </a:rPr>
              <a:t>a batch of token ids</a:t>
            </a:r>
          </a:p>
        </p:txBody>
      </p:sp>
      <p:sp>
        <p:nvSpPr>
          <p:cNvPr id="8" name="Down Arrow 7"/>
          <p:cNvSpPr/>
          <p:nvPr/>
        </p:nvSpPr>
        <p:spPr>
          <a:xfrm>
            <a:off x="2240279" y="1856232"/>
            <a:ext cx="182880" cy="274320"/>
          </a:xfrm>
          <a:prstGeom prst="down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185416"/>
            <a:ext cx="3200400" cy="566928"/>
          </a:xfrm>
          <a:prstGeom prst="roundRect">
            <a:avLst>
              <a:gd name="adj" fmla="val 12000"/>
            </a:avLst>
          </a:prstGeom>
          <a:solidFill>
            <a:srgbClr val="FFF2E8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51515"/>
                </a:solidFill>
                <a:latin typeface="Segoe UI"/>
              </a:rPr>
              <a:t>tok_emb(idx)  +  pos_emb(pos)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5C5C5C"/>
                </a:solidFill>
                <a:latin typeface="Segoe UI"/>
              </a:rPr>
              <a:t>WHAT the token is  +  WHERE it sits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240279" y="2807208"/>
            <a:ext cx="182880" cy="274320"/>
          </a:xfrm>
          <a:prstGeom prst="down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3136391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51515"/>
                </a:solidFill>
                <a:latin typeface="Segoe UI"/>
              </a:rPr>
              <a:t>x  (B, T, C)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240279" y="3648456"/>
            <a:ext cx="182880" cy="274320"/>
          </a:xfrm>
          <a:prstGeom prst="down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3200400" cy="777240"/>
          </a:xfrm>
          <a:prstGeom prst="roundRect">
            <a:avLst>
              <a:gd name="adj" fmla="val 12000"/>
            </a:avLst>
          </a:prstGeom>
          <a:solidFill>
            <a:srgbClr val="FFF2E8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51515"/>
                </a:solidFill>
                <a:latin typeface="Segoe UI"/>
              </a:rPr>
              <a:t>Block 1 → Block 2 → … → Block N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5C5C5C"/>
                </a:solidFill>
                <a:latin typeface="Segoe UI"/>
              </a:rPr>
              <a:t>each: attention, then MLP, both with residuals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240279" y="4809744"/>
            <a:ext cx="182880" cy="274320"/>
          </a:xfrm>
          <a:prstGeom prst="down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5138928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51515"/>
                </a:solidFill>
                <a:latin typeface="Segoe UI"/>
              </a:rPr>
              <a:t>ln_f  →  head  (C → vocab)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240279" y="5650992"/>
            <a:ext cx="182880" cy="256032"/>
          </a:xfrm>
          <a:prstGeom prst="down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5961888"/>
            <a:ext cx="3200400" cy="38404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logits  (B, T, vocab)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298448"/>
            <a:ext cx="7299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THREE LETTERS, EVERYWHERE IN THIS FILE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389120" y="1591056"/>
          <a:ext cx="7299653" cy="16125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4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4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/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Means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TINY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SMALL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batch — how many sequences at once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time — how many tokens per sequence (≤ block_size)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128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256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channels — n_embd, the size of one token's vector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128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384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389120" y="3264408"/>
            <a:ext cx="7299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WHAT THE OUTPUT ACTUALLY 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584448"/>
            <a:ext cx="729965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B54408"/>
                </a:solidFill>
                <a:latin typeface="Consolas"/>
              </a:rPr>
              <a:t>logits</a:t>
            </a:r>
            <a:r>
              <a:rPr sz="1250" b="0">
                <a:solidFill>
                  <a:srgbClr val="151515"/>
                </a:solidFill>
                <a:latin typeface="Segoe UI"/>
              </a:rPr>
              <a:t> is a raw score for </a:t>
            </a:r>
            <a:r>
              <a:rPr sz="1250" b="1">
                <a:solidFill>
                  <a:srgbClr val="151515"/>
                </a:solidFill>
                <a:latin typeface="Segoe UI"/>
              </a:rPr>
              <a:t>every possible next token</a:t>
            </a:r>
            <a:r>
              <a:rPr sz="1250" b="0">
                <a:solidFill>
                  <a:srgbClr val="151515"/>
                </a:solidFill>
                <a:latin typeface="Segoe UI"/>
              </a:rPr>
              <a:t>, at </a:t>
            </a:r>
            <a:r>
              <a:rPr sz="1250" b="1">
                <a:solidFill>
                  <a:srgbClr val="151515"/>
                </a:solidFill>
                <a:latin typeface="Segoe UI"/>
              </a:rPr>
              <a:t>every position</a:t>
            </a:r>
            <a:r>
              <a:rPr sz="1250" b="0">
                <a:solidFill>
                  <a:srgbClr val="151515"/>
                </a:solidFill>
                <a:latin typeface="Segoe UI"/>
              </a:rPr>
              <a:t>, simultaneously. With B=32, T=128, vocab=65 that is 32 × 128 × 65 = </a:t>
            </a:r>
            <a:r>
              <a:rPr sz="1250" b="1">
                <a:solidFill>
                  <a:srgbClr val="151515"/>
                </a:solidFill>
                <a:latin typeface="Segoe UI"/>
              </a:rPr>
              <a:t>266,240 numbers per forward pass</a:t>
            </a:r>
            <a:r>
              <a:rPr sz="1250" b="0">
                <a:solidFill>
                  <a:srgbClr val="151515"/>
                </a:solidFill>
                <a:latin typeface="Segoe UI"/>
              </a:rPr>
              <a:t> — and 4,096 of them are real predictions we can score.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773168"/>
            <a:ext cx="7299655" cy="13716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26864" y="4919472"/>
            <a:ext cx="6842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SAY THIS OUT 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5202936"/>
            <a:ext cx="6842455" cy="832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A GPT is a stack of identical blocks. Each block does two things: </a:t>
            </a:r>
            <a:r>
              <a:rPr sz="1250" b="1">
                <a:solidFill>
                  <a:srgbClr val="151515"/>
                </a:solidFill>
                <a:latin typeface="Segoe UI"/>
              </a:rPr>
              <a:t>attention</a:t>
            </a:r>
            <a:r>
              <a:rPr sz="1250" b="0">
                <a:solidFill>
                  <a:srgbClr val="151515"/>
                </a:solidFill>
                <a:latin typeface="Segoe UI"/>
              </a:rPr>
              <a:t> (tokens look at each other and share information) and </a:t>
            </a:r>
            <a:r>
              <a:rPr sz="1250" b="1">
                <a:solidFill>
                  <a:srgbClr val="151515"/>
                </a:solidFill>
                <a:latin typeface="Segoe UI"/>
              </a:rPr>
              <a:t>MLP</a:t>
            </a:r>
            <a:r>
              <a:rPr sz="1250" b="0">
                <a:solidFill>
                  <a:srgbClr val="151515"/>
                </a:solidFill>
                <a:latin typeface="Segoe UI"/>
              </a:rPr>
              <a:t> (each token thinks quietly about what it just heard). Repeat N times, then guess. </a:t>
            </a:r>
            <a:r>
              <a:rPr sz="1250" b="1">
                <a:solidFill>
                  <a:srgbClr val="151515"/>
                </a:solidFill>
                <a:latin typeface="Segoe UI"/>
              </a:rPr>
              <a:t>Everything else in the file is plumbing.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MODEL4.PY  · 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What the token is, plus where it sits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583680" cy="16916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6916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6217920" cy="14813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self.tok_emb = nn.Embedding(cfg.vocab_size, cfg.n_embd)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WHAT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self.pos_emb = nn.Embedding(cfg.block_size, cfg.n_embd)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WHERE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50" b="0">
              <a:solidFill>
                <a:srgbClr val="B54408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pos = torch.arange(T, device=idx.device)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x = self.drop(self.tok_emb(idx) + self.pos_emb(pos))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2724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AN NN.EMBEDDING IS A LOOKUP TABLE, NOTHING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648456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ids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3493008"/>
            <a:ext cx="5486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20" y="3493008"/>
            <a:ext cx="5486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3493008"/>
            <a:ext cx="5486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08960" y="3584448"/>
            <a:ext cx="411480" cy="219456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703320" y="3493008"/>
            <a:ext cx="640080" cy="6400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0.31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493008"/>
            <a:ext cx="640080" cy="6400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-1.2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79" y="3493008"/>
            <a:ext cx="640080" cy="6400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0.04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59" y="3493008"/>
            <a:ext cx="640080" cy="6400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4133087"/>
            <a:ext cx="640080" cy="6400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0.88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4133087"/>
            <a:ext cx="640080" cy="6400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0.15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79" y="4133087"/>
            <a:ext cx="640080" cy="6400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-0.7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59" y="4133087"/>
            <a:ext cx="640080" cy="6400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4773168"/>
            <a:ext cx="640080" cy="6400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-0.2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773168"/>
            <a:ext cx="640080" cy="6400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0.44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79" y="4773168"/>
            <a:ext cx="640080" cy="6400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1.1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59" y="4773168"/>
            <a:ext cx="640080" cy="6400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53872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← row 3
← row 5
← row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550468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B54408"/>
                </a:solidFill>
                <a:latin typeface="Segoe UI"/>
              </a:rPr>
              <a:t>n_embd wide, learned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1298448"/>
            <a:ext cx="42821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WHY POSITION HAS TO BE ADDED AT 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1591056"/>
            <a:ext cx="428213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Attention is a </a:t>
            </a:r>
            <a:r>
              <a:rPr sz="1250" b="1">
                <a:solidFill>
                  <a:srgbClr val="151515"/>
                </a:solidFill>
                <a:latin typeface="Segoe UI"/>
              </a:rPr>
              <a:t>weighted sum</a:t>
            </a:r>
            <a:r>
              <a:rPr sz="1250" b="0">
                <a:solidFill>
                  <a:srgbClr val="151515"/>
                </a:solidFill>
                <a:latin typeface="Segoe UI"/>
              </a:rPr>
              <a:t> — sums have no order. Without </a:t>
            </a:r>
            <a:r>
              <a:rPr sz="1200" b="0">
                <a:solidFill>
                  <a:srgbClr val="B54408"/>
                </a:solidFill>
                <a:latin typeface="Consolas"/>
              </a:rPr>
              <a:t>pos_emb</a:t>
            </a:r>
            <a:r>
              <a:rPr sz="1250" b="0">
                <a:solidFill>
                  <a:srgbClr val="151515"/>
                </a:solidFill>
                <a:latin typeface="Segoe UI"/>
              </a:rPr>
              <a:t>,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“dog bites man”</a:t>
            </a:r>
            <a:r>
              <a:rPr sz="1250" b="0">
                <a:solidFill>
                  <a:srgbClr val="151515"/>
                </a:solidFill>
                <a:latin typeface="Segoe UI"/>
              </a:rPr>
              <a:t> and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“man bites dog”</a:t>
            </a:r>
            <a:r>
              <a:rPr sz="1250" b="0">
                <a:solidFill>
                  <a:srgbClr val="151515"/>
                </a:solidFill>
                <a:latin typeface="Segoe UI"/>
              </a:rPr>
              <a:t> are literally the same input. We add position information in by hand.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3035808"/>
            <a:ext cx="4282135" cy="16002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44383" y="3182112"/>
            <a:ext cx="38249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WEIGHT TYING — A FREE WIN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4383" y="3465576"/>
            <a:ext cx="3824935" cy="1060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B54408"/>
                </a:solidFill>
                <a:latin typeface="Consolas"/>
              </a:rPr>
              <a:t>self.head.weight = self.tok_emb.weight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The matrix that turns tokens </a:t>
            </a:r>
            <a:r>
              <a:rPr sz="1250" b="1">
                <a:solidFill>
                  <a:srgbClr val="151515"/>
                </a:solidFill>
                <a:latin typeface="Segoe UI"/>
              </a:rPr>
              <a:t>into</a:t>
            </a:r>
            <a:r>
              <a:rPr sz="1250" b="0">
                <a:solidFill>
                  <a:srgbClr val="151515"/>
                </a:solidFill>
                <a:latin typeface="Segoe UI"/>
              </a:rPr>
              <a:t> vectors is reused to turn vectors </a:t>
            </a:r>
            <a:r>
              <a:rPr sz="1250" b="1">
                <a:solidFill>
                  <a:srgbClr val="151515"/>
                </a:solidFill>
                <a:latin typeface="Segoe UI"/>
              </a:rPr>
              <a:t>back into</a:t>
            </a:r>
            <a:r>
              <a:rPr sz="1250" b="0">
                <a:solidFill>
                  <a:srgbClr val="151515"/>
                </a:solidFill>
                <a:latin typeface="Segoe UI"/>
              </a:rPr>
              <a:t> token scores. It saves </a:t>
            </a:r>
            <a:r>
              <a:rPr sz="1200" b="0">
                <a:solidFill>
                  <a:srgbClr val="B54408"/>
                </a:solidFill>
                <a:latin typeface="Consolas"/>
              </a:rPr>
              <a:t>vocab × n_embd</a:t>
            </a:r>
            <a:r>
              <a:rPr sz="1250" b="0">
                <a:solidFill>
                  <a:srgbClr val="151515"/>
                </a:solidFill>
                <a:latin typeface="Segoe UI"/>
              </a:rPr>
              <a:t> parameters and empirically trains better — the two jobs are inverses, so they should share a map.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MODEL4.PY  ·  Q, K,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three vectors every token produces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484778" cy="56692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q   —  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84248"/>
            <a:ext cx="3484778" cy="14173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130552"/>
            <a:ext cx="3027578" cy="1161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“here is what I am looking for”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151515"/>
                </a:solidFill>
                <a:latin typeface="Segoe UI"/>
              </a:rPr>
              <a:t>A token in the middle of a quotation might be querying for “who opened this quote?”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458" y="1298448"/>
            <a:ext cx="3484778" cy="56692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k   —  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1984248"/>
            <a:ext cx="3484778" cy="14173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1202" y="2130552"/>
            <a:ext cx="3027578" cy="1161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“here is what I am about”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151515"/>
                </a:solidFill>
                <a:latin typeface="Segoe UI"/>
              </a:rPr>
              <a:t>An opening quote mark advertises itself as exactly that.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03996" y="1298448"/>
            <a:ext cx="3484778" cy="56692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v   —  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03996" y="1984248"/>
            <a:ext cx="3484778" cy="14173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41740" y="2130552"/>
            <a:ext cx="3027578" cy="1161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“here is what I will tell you if you pick me”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151515"/>
                </a:solidFill>
                <a:latin typeface="Segoe UI"/>
              </a:rPr>
              <a:t>The actual information that gets copied over, which need not equal the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3016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50" b="0">
                <a:solidFill>
                  <a:srgbClr val="151515"/>
                </a:solidFill>
                <a:latin typeface="Segoe UI"/>
              </a:rPr>
              <a:t>A token's </a:t>
            </a:r>
            <a:r>
              <a:rPr sz="1350" b="1">
                <a:solidFill>
                  <a:srgbClr val="151515"/>
                </a:solidFill>
                <a:latin typeface="Segoe UI"/>
              </a:rPr>
              <a:t>query</a:t>
            </a:r>
            <a:r>
              <a:rPr sz="1350" b="0">
                <a:solidFill>
                  <a:srgbClr val="151515"/>
                </a:solidFill>
                <a:latin typeface="Segoe UI"/>
              </a:rPr>
              <a:t> is compared against every token's </a:t>
            </a:r>
            <a:r>
              <a:rPr sz="1350" b="1">
                <a:solidFill>
                  <a:srgbClr val="151515"/>
                </a:solidFill>
                <a:latin typeface="Segoe UI"/>
              </a:rPr>
              <a:t>key</a:t>
            </a:r>
            <a:r>
              <a:rPr sz="1350" b="0">
                <a:solidFill>
                  <a:srgbClr val="151515"/>
                </a:solidFill>
                <a:latin typeface="Segoe UI"/>
              </a:rPr>
              <a:t>. Good matches score high, and the token receives a </a:t>
            </a:r>
            <a:r>
              <a:rPr sz="1350" b="1">
                <a:solidFill>
                  <a:srgbClr val="151515"/>
                </a:solidFill>
                <a:latin typeface="Segoe UI"/>
              </a:rPr>
              <a:t>blend of those tokens' values</a:t>
            </a:r>
            <a:r>
              <a:rPr sz="1350" b="0">
                <a:solidFill>
                  <a:srgbClr val="151515"/>
                </a:solidFill>
                <a:latin typeface="Segoe UI"/>
              </a:rPr>
              <a:t>. That is the entire mechanism by which information moves between positions.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15968"/>
            <a:ext cx="11185855" cy="173736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315968"/>
            <a:ext cx="41148" cy="17373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4434840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ONE LINEAR, NOT THREE — WHY?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690872"/>
            <a:ext cx="10820095" cy="12710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self.qkv  = nn.Linear(cfg.n_embd, 3 * cfg.n_embd) </a:t>
            </a:r>
            <a:r>
              <a:rPr sz="1200" b="0">
                <a:solidFill>
                  <a:srgbClr val="B54408"/>
                </a:solidFill>
                <a:latin typeface="Consolas"/>
              </a:rPr>
              <a:t>  # one wide matmul makes all three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self.proj = nn.Linear(cfg.n_embd, cfg.n_embd)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200" b="0">
              <a:solidFill>
                <a:srgbClr val="151515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q, k, v = self.qkv(x).split(C, dim=2)             </a:t>
            </a:r>
            <a:r>
              <a:rPr sz="1200" b="0">
                <a:solidFill>
                  <a:srgbClr val="B54408"/>
                </a:solidFill>
                <a:latin typeface="Consolas"/>
              </a:rPr>
              <a:t>  # each is (B, T, 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90488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Three separate </a:t>
            </a:r>
            <a:r>
              <a:rPr sz="1200" b="0">
                <a:solidFill>
                  <a:srgbClr val="B54408"/>
                </a:solidFill>
                <a:latin typeface="Consolas"/>
              </a:rPr>
              <a:t>(C → C)</a:t>
            </a:r>
            <a:r>
              <a:rPr sz="1250" b="0">
                <a:solidFill>
                  <a:srgbClr val="151515"/>
                </a:solidFill>
                <a:latin typeface="Segoe UI"/>
              </a:rPr>
              <a:t> layers would be mathematically identical. One </a:t>
            </a:r>
            <a:r>
              <a:rPr sz="1200" b="0">
                <a:solidFill>
                  <a:srgbClr val="B54408"/>
                </a:solidFill>
                <a:latin typeface="Consolas"/>
              </a:rPr>
              <a:t>(C → 3C)</a:t>
            </a:r>
            <a:r>
              <a:rPr sz="1250" b="0">
                <a:solidFill>
                  <a:srgbClr val="151515"/>
                </a:solidFill>
                <a:latin typeface="Segoe UI"/>
              </a:rPr>
              <a:t> layer is </a:t>
            </a:r>
            <a:r>
              <a:rPr sz="1250" b="1">
                <a:solidFill>
                  <a:srgbClr val="151515"/>
                </a:solidFill>
                <a:latin typeface="Segoe UI"/>
              </a:rPr>
              <a:t>one</a:t>
            </a:r>
            <a:r>
              <a:rPr sz="1250" b="0">
                <a:solidFill>
                  <a:srgbClr val="151515"/>
                </a:solidFill>
                <a:latin typeface="Segoe UI"/>
              </a:rPr>
              <a:t> matrix multiply instead of three, which is meaningfully faster on a GPU — kernel launches are expensive. </a:t>
            </a:r>
            <a:r>
              <a:rPr sz="1200" b="0">
                <a:solidFill>
                  <a:srgbClr val="B54408"/>
                </a:solidFill>
                <a:latin typeface="Consolas"/>
              </a:rPr>
              <a:t>.split(C, dim=2)</a:t>
            </a:r>
            <a:r>
              <a:rPr sz="1250" b="0">
                <a:solidFill>
                  <a:srgbClr val="151515"/>
                </a:solidFill>
                <a:latin typeface="Segoe UI"/>
              </a:rPr>
              <a:t> then chops the result into thirds.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MODEL4.PY  ·  MULTI-HEAD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Reshaping C into parallel heads, and back again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85855" cy="16916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6916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10820095" cy="14813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head_size = C // self.n_head                         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128 // 4 = 32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q = q.view(B, T, self.n_head, head_size).transpose(1, 2)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(B, 4, T, 32)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...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y = y.transpose(1, 2).reshape(B, T, C)               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glue heads back: (B, T, 128)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64408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(B, T, 128)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33087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C5C5C"/>
                </a:solidFill>
                <a:latin typeface="Segoe UI"/>
              </a:rPr>
              <a:t>one wide vector
per token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16351" y="3557015"/>
            <a:ext cx="265176" cy="182880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108960" y="3264408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.view(B, T, 4, 32)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133087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C5C5C"/>
                </a:solidFill>
                <a:latin typeface="Segoe UI"/>
              </a:rPr>
              <a:t>same numbers,
regrouped into 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102352" y="3557015"/>
            <a:ext cx="265176" cy="182880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394960" y="3264408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FFF2E8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.transpose(1, 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133087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C5C5C"/>
                </a:solidFill>
                <a:latin typeface="Segoe UI"/>
              </a:rPr>
              <a:t>(B, 4, T, 32)
heads become a
batch dimension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388352" y="3557015"/>
            <a:ext cx="265176" cy="182880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680960" y="3264408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FFF2E8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attention runs
4 times in parallel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133087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C5C5C"/>
                </a:solidFill>
                <a:latin typeface="Segoe UI"/>
              </a:rPr>
              <a:t>each head sees
only its 32 numbers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674352" y="3557015"/>
            <a:ext cx="265176" cy="182880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966960" y="3264408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.reshape(B, T, 128)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4133087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C5C5C"/>
                </a:solidFill>
                <a:latin typeface="Segoe UI"/>
              </a:rPr>
              <a:t>concatenated
back together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81728"/>
            <a:ext cx="1118585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1">
                <a:solidFill>
                  <a:srgbClr val="151515"/>
                </a:solidFill>
                <a:latin typeface="Segoe UI"/>
              </a:rPr>
              <a:t>No parameters are added.</a:t>
            </a:r>
            <a:r>
              <a:rPr sz="1300" b="0">
                <a:solidFill>
                  <a:srgbClr val="151515"/>
                </a:solidFill>
                <a:latin typeface="Segoe UI"/>
              </a:rPr>
              <a:t> The same 128 numbers are simply grouped 4 ways. </a:t>
            </a:r>
            <a:r>
              <a:rPr sz="1250" b="0">
                <a:solidFill>
                  <a:srgbClr val="B54408"/>
                </a:solidFill>
                <a:latin typeface="Consolas"/>
              </a:rPr>
              <a:t>n_head</a:t>
            </a:r>
            <a:r>
              <a:rPr sz="1300" b="0">
                <a:solidFill>
                  <a:srgbClr val="151515"/>
                </a:solidFill>
                <a:latin typeface="Segoe UI"/>
              </a:rPr>
              <a:t> changes </a:t>
            </a:r>
            <a:r>
              <a:rPr sz="1300" b="0" i="1">
                <a:solidFill>
                  <a:srgbClr val="151515"/>
                </a:solidFill>
                <a:latin typeface="Segoe UI"/>
              </a:rPr>
              <a:t>how the model is allowed to organise its attention</a:t>
            </a:r>
            <a:r>
              <a:rPr sz="1300" b="0">
                <a:solidFill>
                  <a:srgbClr val="151515"/>
                </a:solidFill>
                <a:latin typeface="Segoe UI"/>
              </a:rPr>
              <a:t>, not how big it is.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0">
                <a:solidFill>
                  <a:srgbClr val="151515"/>
                </a:solidFill>
                <a:latin typeface="Segoe UI"/>
              </a:rPr>
              <a:t>Putting heads in the </a:t>
            </a:r>
            <a:r>
              <a:rPr sz="1300" b="1">
                <a:solidFill>
                  <a:srgbClr val="151515"/>
                </a:solidFill>
                <a:latin typeface="Segoe UI"/>
              </a:rPr>
              <a:t>batch dimension</a:t>
            </a:r>
            <a:r>
              <a:rPr sz="1300" b="0">
                <a:solidFill>
                  <a:srgbClr val="151515"/>
                </a:solidFill>
                <a:latin typeface="Segoe UI"/>
              </a:rPr>
              <a:t> is why this is fast: PyTorch runs all 4 heads as one batched matmul, not a Python loop.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0">
                <a:solidFill>
                  <a:srgbClr val="151515"/>
                </a:solidFill>
                <a:latin typeface="Segoe UI"/>
              </a:rPr>
              <a:t>Each head learns a different relationship. In real trained models people have found heads that track matching brackets, subject→verb agreement, and “copy the previous occurrence of this token”.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MODEL4.PY  ·  THE ATTENTION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Four lines. This is the whole transformer.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39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85855" cy="196596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9659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10820095" cy="17556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att = (q @ k.transpose(-2, -1)) / math.sqrt(head_size)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1. match every query to every key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att = att.masked_fill(self.mask[:T,:T] == 0, -inf)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2. blank out the FUTURE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att = F.softmax(att, dim=-1)                    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3. scores -&gt; % that sum to 1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att = self.dropout(att)                         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   regularise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y   = att @ v                                   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4. collect a weighted mix of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3872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593592"/>
            <a:ext cx="18820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51515"/>
                </a:solidFill>
                <a:latin typeface="Segoe UI"/>
              </a:rP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97096"/>
            <a:ext cx="252214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every query dot every key
(T × T numbers per head)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823" y="353872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0903" y="3593592"/>
            <a:ext cx="18820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51515"/>
                </a:solidFill>
                <a:latin typeface="Segoe UI"/>
              </a:rPr>
              <a:t>MASK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0823" y="4197096"/>
            <a:ext cx="252214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future positions → −∞
so softmax makes them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353872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8807" y="3593592"/>
            <a:ext cx="18820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51515"/>
                </a:solidFill>
                <a:latin typeface="Segoe UI"/>
              </a:rPr>
              <a:t>SOFTMAX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4197096"/>
            <a:ext cx="252214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each row now sums to 1.0
“how much attention, in %”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6631" y="353872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6711" y="3593592"/>
            <a:ext cx="18820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51515"/>
                </a:solidFill>
                <a:latin typeface="Segoe UI"/>
              </a:rPr>
              <a:t>GATHER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4197096"/>
            <a:ext cx="252214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weighted average of values
the information actually moves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56048"/>
            <a:ext cx="11185855" cy="105156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" y="510235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FOR THE SHARP STUDENT WHO ASKS ABOUT SPEED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5385816"/>
            <a:ext cx="107286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Those four lines are mathematically identical to PyTorch's fused </a:t>
            </a:r>
            <a:r>
              <a:rPr sz="1200" b="0">
                <a:solidFill>
                  <a:srgbClr val="B54408"/>
                </a:solidFill>
                <a:latin typeface="Consolas"/>
              </a:rPr>
              <a:t>F.scaled_dot_product_attention(q, k, v, is_causal=True)</a:t>
            </a:r>
            <a:r>
              <a:rPr sz="1250" b="0">
                <a:solidFill>
                  <a:srgbClr val="151515"/>
                </a:solidFill>
                <a:latin typeface="Segoe UI"/>
              </a:rPr>
              <a:t>, which is what you would ship. It never materialises the T×T matrix in memory. </a:t>
            </a:r>
            <a:r>
              <a:rPr sz="1250" b="1">
                <a:solidFill>
                  <a:srgbClr val="151515"/>
                </a:solidFill>
                <a:latin typeface="Segoe UI"/>
              </a:rPr>
              <a:t>We wrote it out longhand so you can see it — that is the only reason.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DRY RUN 1  ·  THE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Four tokens, one head, head_size =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THE SETUP — HAND-PICKED NUMBERS SO THE ARITHMETIC IS VISIBLE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91056"/>
            <a:ext cx="11185855" cy="12344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91056"/>
            <a:ext cx="41148" cy="12344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709928"/>
            <a:ext cx="10820095" cy="10241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tokens:   1 "the"        2 "cat"        3 "sat"        4 "on"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q:        [1, 0]         [0, 1]         [1, 1]         [ 1, -1]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k:        [1, 0]         [0, 1]         [1, 1]         [-1,  1]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v:        [1, 0]         [0, 1]         [1, 1]         [ 2,  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2724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STEP 1 — Q @ Kᵀ : EVERY QUERY DOTTED WITH EVERY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55848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k:the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3355848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k:cat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3355848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k:sat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3355848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k:on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1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q:the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363016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84832" y="363016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06624" y="363016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28416" y="363016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-1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443983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q:cat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4251959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84832" y="4251959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06624" y="4251959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28416" y="4251959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065776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q:sat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4873752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84832" y="4873752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6624" y="4873752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28416" y="4873752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68756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q:on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5495544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84832" y="5495544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-1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06624" y="5495544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28416" y="5495544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-2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343400" y="4498848"/>
            <a:ext cx="548640" cy="274320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0" y="4864608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B54408"/>
                </a:solidFill>
                <a:latin typeface="Segoe UI"/>
              </a:rPr>
              <a:t>÷ √2
= 1.414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94959" y="363016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0.71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16751" y="363016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38544" y="363016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0.71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0336" y="363016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-0.71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59" y="4251959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16751" y="4251959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0.71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38544" y="4251959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0.71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0336" y="4251959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0.71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4959" y="4873752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0.71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16751" y="4873752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0.71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38544" y="4873752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1.41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60336" y="4873752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59" y="5495544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0.71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16751" y="5495544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-0.71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38544" y="5495544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0336" y="5495544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-1.41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80" y="376732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515"/>
                </a:solidFill>
                <a:latin typeface="Segoe UI"/>
              </a:rPr>
              <a:t>Read row 3: token “sat” matches
“sat” best (1.41), then “the” and
“cat” equally (0.71), and “on”
not at all (0.00).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80" y="500176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54408"/>
                </a:solidFill>
                <a:latin typeface="Segoe UI"/>
              </a:rPr>
              <a:t>Nothing has been blocked yet.
Right now token 1 can see token 4 —
</a:t>
            </a:r>
            <a:r>
              <a:rPr sz="1200" b="1">
                <a:solidFill>
                  <a:srgbClr val="B54408"/>
                </a:solidFill>
                <a:latin typeface="Segoe UI"/>
              </a:rPr>
              <a:t>that is the future, and it is cheating.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DRY RUN 2  ·  MASK, THEN SOFTMAX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Where the future gets deleted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STEP 2 — MASKED_FILL(MASK == 0, −INF)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2" y="1481328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cat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6624" y="1481328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sat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416" y="1481328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47672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175564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0.71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84832" y="1755648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−inf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06624" y="1755648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−inf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28416" y="1755648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−inf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569464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cat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2377440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0.00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84832" y="2377440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0.71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6624" y="2377440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−inf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28416" y="2377440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−inf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191256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sat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2999232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0.71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84832" y="2999232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0.71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06624" y="2999232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1.41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28416" y="2999232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−inf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81304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3621024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0.71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84832" y="3621024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-0.71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06624" y="3621024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0.00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28416" y="3621024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-1.41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343400" y="2578608"/>
            <a:ext cx="548640" cy="274320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0" y="2944368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B54408"/>
                </a:solidFill>
                <a:latin typeface="Segoe UI"/>
              </a:rPr>
              <a:t>softmax
per row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59" y="12984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STEP 3 — SOFTMAX TURNS EACH ROW INTO PERCENTAGES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59" y="1755648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1.00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16751" y="1755648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544" y="1755648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0336" y="1755648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59" y="2377440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0.33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16751" y="2377440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0.67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38544" y="2377440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0336" y="2377440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94959" y="2999232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0.25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16751" y="2999232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38544" y="2999232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0336" y="2999232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94959" y="3621024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0.54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16751" y="3621024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38544" y="3621024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0.27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60336" y="3621024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18470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51515"/>
                </a:solidFill>
                <a:latin typeface="Segoe UI"/>
              </a:rPr>
              <a:t>e^(−inf) = 0.</a:t>
            </a:r>
            <a:r>
              <a:rPr sz="1200" b="0">
                <a:solidFill>
                  <a:srgbClr val="151515"/>
                </a:solidFill>
                <a:latin typeface="Segoe UI"/>
              </a:rPr>
              <a:t> The future does not
just score low — it scores exactly
zero. It cannot leak.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28072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Every row sums to </a:t>
            </a:r>
            <a:r>
              <a:rPr sz="1200" b="1">
                <a:solidFill>
                  <a:srgbClr val="5C5C5C"/>
                </a:solidFill>
                <a:latin typeface="Segoe UI"/>
              </a:rPr>
              <a:t>1.00</a:t>
            </a:r>
            <a:r>
              <a:rPr sz="1200" b="0">
                <a:solidFill>
                  <a:srgbClr val="5C5C5C"/>
                </a:solidFill>
                <a:latin typeface="Segoe UI"/>
              </a:rPr>
              <a:t>. Token 1
has no choice but to attend 100%
to itself.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40740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WHERE ROW 3 CAME FROM — THE ARITHMETIC, IN FULL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700016"/>
            <a:ext cx="11185855" cy="12344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02920" y="4700016"/>
            <a:ext cx="41148" cy="12344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4088" y="4818888"/>
            <a:ext cx="10820095" cy="10241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row 3 scores after mask:   [0.71, 0.71, 1.41, -inf]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e^x:                       [2.03, 2.03, 4.11, 0.00]      sum = 8.17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divide by the sum:         [0.25, 0.25, 0.50, 0.00]      &lt;- 25% / 25% / 50% / nothing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DRY RUN 3  ·  GATHERING THE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att @ v — where information actually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ATTENTION 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the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709928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1.00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84832" y="1709928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6624" y="1709928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8416" y="1709928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523744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cat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2331720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0.33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84832" y="2331720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0.67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06624" y="2331720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28416" y="2331720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145536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sat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953512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84832" y="2953512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06624" y="2953512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28416" y="2953512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76732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3575304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0.54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84832" y="3575304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06624" y="3575304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28416" y="3575304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253288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E8590C"/>
                </a:solidFill>
                <a:latin typeface="Segoe UI"/>
              </a:rPr>
              <a:t>@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12984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VALUES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170992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68112" y="170992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2331720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68112" y="2331720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953512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68112" y="2953512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575304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68112" y="3575304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51515"/>
                </a:solidFill>
                <a:latin typeface="Consolas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253288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E8590C"/>
                </a:solidFill>
                <a:latin typeface="Segoe UI"/>
              </a:rPr>
              <a:t>=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59" y="12984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OUTPUT 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59" y="1709928"/>
            <a:ext cx="621792" cy="62179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16952" y="1709928"/>
            <a:ext cx="621792" cy="62179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59" y="2331720"/>
            <a:ext cx="621792" cy="62179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0.33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16952" y="2331720"/>
            <a:ext cx="621792" cy="62179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0.67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5159" y="2953512"/>
            <a:ext cx="621792" cy="62179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0.75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16952" y="2953512"/>
            <a:ext cx="621792" cy="62179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0.75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95159" y="3575304"/>
            <a:ext cx="621792" cy="62179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0.93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16952" y="3575304"/>
            <a:ext cx="621792" cy="62179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175564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Token 1 got only itself back.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239572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Token 3 is now a blend:
25% “the” + 25% “cat” + 50% itself.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326440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That blend is the information
transfer.</a:t>
            </a:r>
            <a:r>
              <a:rPr sz="1150" b="0">
                <a:solidFill>
                  <a:srgbClr val="151515"/>
                </a:solidFill>
                <a:latin typeface="Segoe UI"/>
              </a:rPr>
              <a:t> Nothing else in the
model moves data between
positions.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453128"/>
            <a:ext cx="11185855" cy="96012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2920" y="4453128"/>
            <a:ext cx="41148" cy="9601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4088" y="4572000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ROW 3, WORKED OUT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" y="4828032"/>
            <a:ext cx="10820095" cy="493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Consolas"/>
              </a:rPr>
              <a:t>y[3] = 0.25 x [1,0]  +  0.25 x [0,1]  +  0.50 x [1,1]  +  0 x [2,0]  =  [0.75, 0.75]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5961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5C5C5C"/>
                </a:solidFill>
                <a:latin typeface="Segoe UI"/>
              </a:rPr>
              <a:t>Then </a:t>
            </a:r>
            <a:r>
              <a:rPr sz="1200" b="0">
                <a:solidFill>
                  <a:srgbClr val="B54408"/>
                </a:solidFill>
                <a:latin typeface="Consolas"/>
              </a:rPr>
              <a:t>self.proj(y)</a:t>
            </a:r>
            <a:r>
              <a:rPr sz="1250" b="0">
                <a:solidFill>
                  <a:srgbClr val="5C5C5C"/>
                </a:solidFill>
                <a:latin typeface="Segoe UI"/>
              </a:rPr>
              <a:t> mixes the heads' outputs back together and </a:t>
            </a:r>
            <a:r>
              <a:rPr sz="1200" b="0">
                <a:solidFill>
                  <a:srgbClr val="B54408"/>
                </a:solidFill>
                <a:latin typeface="Consolas"/>
              </a:rPr>
              <a:t>self.dropout</a:t>
            </a:r>
            <a:r>
              <a:rPr sz="1250" b="0">
                <a:solidFill>
                  <a:srgbClr val="5C5C5C"/>
                </a:solidFill>
                <a:latin typeface="Segoe UI"/>
              </a:rPr>
              <a:t> regularises — and that is </a:t>
            </a:r>
            <a:r>
              <a:rPr sz="1200" b="0">
                <a:solidFill>
                  <a:srgbClr val="B54408"/>
                </a:solidFill>
                <a:latin typeface="Consolas"/>
              </a:rPr>
              <a:t>SelfAttention.forward</a:t>
            </a:r>
            <a:r>
              <a:rPr sz="1250" b="0">
                <a:solidFill>
                  <a:srgbClr val="5C5C5C"/>
                </a:solidFill>
                <a:latin typeface="Segoe UI"/>
              </a:rPr>
              <a:t> finished.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WHY DIVIDE BY √HEAD_SIZE?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one line that stops training from stalling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151515"/>
                </a:solidFill>
                <a:latin typeface="Segoe UI"/>
              </a:rPr>
              <a:t>Dot products of two </a:t>
            </a:r>
            <a:r>
              <a:rPr sz="1250" b="0">
                <a:solidFill>
                  <a:srgbClr val="B54408"/>
                </a:solidFill>
                <a:latin typeface="Consolas"/>
              </a:rPr>
              <a:t>head_size</a:t>
            </a:r>
            <a:r>
              <a:rPr sz="1300" b="0">
                <a:solidFill>
                  <a:srgbClr val="151515"/>
                </a:solidFill>
                <a:latin typeface="Segoe UI"/>
              </a:rPr>
              <a:t>-dimensional vectors grow with the dimension. Big scores make softmax </a:t>
            </a:r>
            <a:r>
              <a:rPr sz="1300" b="1">
                <a:solidFill>
                  <a:srgbClr val="151515"/>
                </a:solidFill>
                <a:latin typeface="Segoe UI"/>
              </a:rPr>
              <a:t>saturate</a:t>
            </a:r>
            <a:r>
              <a:rPr sz="1300" b="0">
                <a:solidFill>
                  <a:srgbClr val="151515"/>
                </a:solidFill>
                <a:latin typeface="Segoe UI"/>
              </a:rPr>
              <a:t> — one weight ≈ 1, the rest ≈ 0 — and a flat softmax has almost no gradient. Training stops.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84248"/>
          <a:ext cx="6400800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head_size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typical |q·k|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std of scores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after ÷ √d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1.0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1.44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1.02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6.4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7.94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0.99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512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18.6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23.29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1.03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81304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C5C5C"/>
                </a:solidFill>
                <a:latin typeface="Segoe UI"/>
              </a:rPr>
              <a:t>measured over 4,000 random vector pairs — the scale factor holds the spread at ~1 no matter the 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984248"/>
            <a:ext cx="4419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WHAT SATURATION LOOKS LIKE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2276856"/>
            <a:ext cx="4419295" cy="173736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69480" y="2276856"/>
            <a:ext cx="41148" cy="17373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70648" y="2395727"/>
            <a:ext cx="4053535" cy="1527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scores  [3.0, 1.0, 0.5, 0.2]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00" b="0">
              <a:solidFill>
                <a:srgbClr val="151515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unscaled  -&gt; [1.00, 0.00, 0.00, 0.00]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scaled    -&gt; [0.78, 0.11, 0.06, 0.05]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133087"/>
            <a:ext cx="44192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151515"/>
                </a:solidFill>
                <a:latin typeface="Segoe UI"/>
              </a:rPr>
              <a:t>Unscaled, the model attends 100% to one token and </a:t>
            </a:r>
            <a:r>
              <a:rPr sz="1200" b="1">
                <a:solidFill>
                  <a:srgbClr val="151515"/>
                </a:solidFill>
                <a:latin typeface="Segoe UI"/>
              </a:rPr>
              <a:t>learns nothing about the others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their gradient is zero.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61688"/>
            <a:ext cx="1118585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3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50" b="0">
                <a:solidFill>
                  <a:srgbClr val="151515"/>
                </a:solidFill>
                <a:latin typeface="Segoe UI"/>
              </a:rPr>
              <a:t>This is a genuinely great exam question, and the answer is one sentence: </a:t>
            </a:r>
            <a:r>
              <a:rPr sz="1350" b="1">
                <a:solidFill>
                  <a:srgbClr val="151515"/>
                </a:solidFill>
                <a:latin typeface="Segoe UI"/>
              </a:rPr>
              <a:t>√d keeps the variance of the scores at ~1 so softmax stays soft and gradients keep flowing.</a:t>
            </a:r>
          </a:p>
          <a:p>
            <a:pPr>
              <a:lnSpc>
                <a:spcPct val="116000"/>
              </a:lnSpc>
              <a:spcBef>
                <a:spcPts val="1100"/>
              </a:spcBef>
            </a:pPr>
            <a:r>
              <a:rPr sz="13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50" b="0">
                <a:solidFill>
                  <a:srgbClr val="151515"/>
                </a:solidFill>
                <a:latin typeface="Segoe UI"/>
              </a:rPr>
              <a:t>It is also why </a:t>
            </a:r>
            <a:r>
              <a:rPr sz="1300" b="0">
                <a:solidFill>
                  <a:srgbClr val="B54408"/>
                </a:solidFill>
                <a:latin typeface="Consolas"/>
              </a:rPr>
              <a:t>head_size</a:t>
            </a:r>
            <a:r>
              <a:rPr sz="1350" b="0">
                <a:solidFill>
                  <a:srgbClr val="151515"/>
                </a:solidFill>
                <a:latin typeface="Segoe UI"/>
              </a:rPr>
              <a:t> is usually kept at 64 in real models even as </a:t>
            </a:r>
            <a:r>
              <a:rPr sz="1300" b="0">
                <a:solidFill>
                  <a:srgbClr val="B54408"/>
                </a:solidFill>
                <a:latin typeface="Consolas"/>
              </a:rPr>
              <a:t>n_embd</a:t>
            </a:r>
            <a:r>
              <a:rPr sz="1350" b="0">
                <a:solidFill>
                  <a:srgbClr val="151515"/>
                </a:solidFill>
                <a:latin typeface="Segoe UI"/>
              </a:rPr>
              <a:t> grows to thousands — you add </a:t>
            </a:r>
            <a:r>
              <a:rPr sz="1350" b="1">
                <a:solidFill>
                  <a:srgbClr val="151515"/>
                </a:solidFill>
                <a:latin typeface="Segoe UI"/>
              </a:rPr>
              <a:t>more heads</a:t>
            </a:r>
            <a:r>
              <a:rPr sz="1350" b="0">
                <a:solidFill>
                  <a:srgbClr val="151515"/>
                </a:solidFill>
                <a:latin typeface="Segoe UI"/>
              </a:rPr>
              <a:t>, not fatter ones.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THE CAUSAL 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single line that makes this a GPT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44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5943600" cy="11430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143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5577840" cy="9326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self.register_buffer("mask",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torch.tril(torch.ones(cfg.block_size, cfg.block_size)))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328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TORCH.TRIL — A LOWER TRIANGLE OF 1S.  1 = MAY LOOK, 0 = BLOCKED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tok0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8803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tok1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803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tok2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803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tok3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8803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tok4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tok5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26440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tok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31546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1546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1546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31546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1546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1546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72160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tok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6118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36118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36118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36118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6118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36118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17880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tok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40690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40690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40690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" y="40690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40690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40690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463600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tok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54480" y="45262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45262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45262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45262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0" y="45262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45262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509320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tok 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49834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49834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49834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49834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49834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4983480"/>
            <a:ext cx="457200" cy="457200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" y="555040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tok 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54480" y="54406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1680" y="54406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0" y="54406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0" y="54406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80" y="54406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0480" y="5440680"/>
            <a:ext cx="457200" cy="457200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54480" y="60350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B54408"/>
                </a:solidFill>
                <a:latin typeface="Segoe UI"/>
              </a:rPr>
              <a:t>a triangle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1298448"/>
            <a:ext cx="487649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B54408"/>
                </a:solidFill>
                <a:latin typeface="Consolas"/>
              </a:rPr>
              <a:t>register_buffer</a:t>
            </a:r>
            <a:r>
              <a:rPr sz="1250" b="0">
                <a:solidFill>
                  <a:srgbClr val="151515"/>
                </a:solidFill>
                <a:latin typeface="Segoe UI"/>
              </a:rPr>
              <a:t> = saved with the model, moved to the GPU with it, but </a:t>
            </a:r>
            <a:r>
              <a:rPr sz="1250" b="1">
                <a:solidFill>
                  <a:srgbClr val="151515"/>
                </a:solidFill>
                <a:latin typeface="Segoe UI"/>
              </a:rPr>
              <a:t>never trained</a:t>
            </a:r>
            <a:r>
              <a:rPr sz="1250" b="0">
                <a:solidFill>
                  <a:srgbClr val="151515"/>
                </a:solidFill>
                <a:latin typeface="Segoe UI"/>
              </a:rPr>
              <a:t>. It is a rule, not a parameter.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50" b="0">
                <a:solidFill>
                  <a:srgbClr val="151515"/>
                </a:solidFill>
                <a:latin typeface="Segoe UI"/>
              </a:rPr>
              <a:t>Token 0 sees only itself. Token 7 sees everyone before it. The zeros in the top-right corner are </a:t>
            </a:r>
            <a:r>
              <a:rPr sz="1250" b="1">
                <a:solidFill>
                  <a:srgbClr val="151515"/>
                </a:solidFill>
                <a:latin typeface="Segoe UI"/>
              </a:rPr>
              <a:t>the future</a:t>
            </a:r>
            <a:r>
              <a:rPr sz="1250" b="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B54408"/>
                </a:solidFill>
                <a:latin typeface="Consolas"/>
              </a:rPr>
              <a:t>masked_fill(mask == 0, -inf)</a:t>
            </a:r>
            <a:r>
              <a:rPr sz="1250" b="0">
                <a:solidFill>
                  <a:srgbClr val="151515"/>
                </a:solidFill>
                <a:latin typeface="Segoe UI"/>
              </a:rPr>
              <a:t> — and </a:t>
            </a:r>
            <a:r>
              <a:rPr sz="1200" b="0">
                <a:solidFill>
                  <a:srgbClr val="B54408"/>
                </a:solidFill>
                <a:latin typeface="Consolas"/>
              </a:rPr>
              <a:t>e^(−inf) = 0</a:t>
            </a:r>
            <a:r>
              <a:rPr sz="1250" b="0">
                <a:solidFill>
                  <a:srgbClr val="151515"/>
                </a:solidFill>
                <a:latin typeface="Segoe UI"/>
              </a:rPr>
              <a:t>, so after softmax those weights are exactly zero. Not small. </a:t>
            </a:r>
            <a:r>
              <a:rPr sz="1250" b="1">
                <a:solidFill>
                  <a:srgbClr val="151515"/>
                </a:solidFill>
                <a:latin typeface="Segoe UI"/>
              </a:rPr>
              <a:t>Zero.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12280" y="3950208"/>
            <a:ext cx="4876495" cy="16459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050024" y="4096512"/>
            <a:ext cx="4419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WHY “CAUSAL”?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50024" y="4379976"/>
            <a:ext cx="4419295" cy="1106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Because when we </a:t>
            </a:r>
            <a:r>
              <a:rPr sz="1250" b="1">
                <a:solidFill>
                  <a:srgbClr val="151515"/>
                </a:solidFill>
                <a:latin typeface="Segoe UI"/>
              </a:rPr>
              <a:t>generate</a:t>
            </a:r>
            <a:r>
              <a:rPr sz="1250" b="0">
                <a:solidFill>
                  <a:srgbClr val="151515"/>
                </a:solidFill>
                <a:latin typeface="Segoe UI"/>
              </a:rPr>
              <a:t>, the future does not exist yet. Training must match that exactly: predicting token 5 may only use tokens 1-4. If training let it peek, the model would learn to rely on information that vanishes the moment you deploy it.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09159" y="5623560"/>
            <a:ext cx="69796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150" b="0">
                <a:solidFill>
                  <a:srgbClr val="B54408"/>
                </a:solidFill>
                <a:latin typeface="Consolas"/>
              </a:rPr>
              <a:t>model4.py</a:t>
            </a:r>
            <a:r>
              <a:rPr sz="1200" b="0">
                <a:solidFill>
                  <a:srgbClr val="B54408"/>
                </a:solidFill>
                <a:latin typeface="Segoe UI"/>
              </a:rPr>
              <a:t> prints exactly this 6×6 triangle when you run it. </a:t>
            </a:r>
            <a:r>
              <a:rPr sz="1200" b="1">
                <a:solidFill>
                  <a:srgbClr val="B54408"/>
                </a:solidFill>
                <a:latin typeface="Segoe UI"/>
              </a:rPr>
              <a:t>Show it on screen</a:t>
            </a:r>
            <a:r>
              <a:rPr sz="1200" b="0">
                <a:solidFill>
                  <a:srgbClr val="B54408"/>
                </a:solidFill>
                <a:latin typeface="Segoe UI"/>
              </a:rPr>
              <a:t> — it is the most convincing 60 seconds in the whole file.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BENEFITS OF THE CAUSAL 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Four things you get from a triangle of zeros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316736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51515"/>
                </a:solidFill>
                <a:latin typeface="Segoe UI"/>
              </a:rPr>
              <a:t>T predictions from ONE forward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1682495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This is the underrated one. Without the mask you could only train on the last position — one label per sequence. With it, </a:t>
            </a:r>
            <a:r>
              <a:rPr sz="1150" b="1">
                <a:solidFill>
                  <a:srgbClr val="5C5C5C"/>
                </a:solidFill>
                <a:latin typeface="Segoe UI"/>
              </a:rPr>
              <a:t>every</a:t>
            </a:r>
            <a:r>
              <a:rPr sz="1150" b="0">
                <a:solidFill>
                  <a:srgbClr val="5C5C5C"/>
                </a:solidFill>
                <a:latin typeface="Segoe UI"/>
              </a:rPr>
              <a:t> position is a valid supervised example at once, because none of them can see their own answer. A 128-token window is </a:t>
            </a:r>
            <a:r>
              <a:rPr sz="1150" b="1">
                <a:solidFill>
                  <a:srgbClr val="5C5C5C"/>
                </a:solidFill>
                <a:latin typeface="Segoe UI"/>
              </a:rPr>
              <a:t>128 training examples</a:t>
            </a:r>
            <a:r>
              <a:rPr sz="1150" b="0">
                <a:solidFill>
                  <a:srgbClr val="5C5C5C"/>
                </a:solidFill>
                <a:latin typeface="Segoe UI"/>
              </a:rPr>
              <a:t>, computed in parallel. That is a 128× data-efficiency multiplier for free.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054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52374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51515"/>
                </a:solidFill>
                <a:latin typeface="Segoe UI"/>
              </a:rPr>
              <a:t>Train and test conditions match exactly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88950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At generation time there is no future. The mask makes training obey the same rule, so there is zero distribution shift between how it learned and how it runs. A model trained without the mask would score beautifully in training and collapse instantly on real generation.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124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373075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51515"/>
                </a:solidFill>
                <a:latin typeface="Segoe UI"/>
              </a:rPr>
              <a:t>It makes the KV cache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409651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Because token t's attention </a:t>
            </a:r>
            <a:r>
              <a:rPr sz="1150" b="1">
                <a:solidFill>
                  <a:srgbClr val="5C5C5C"/>
                </a:solidFill>
                <a:latin typeface="Segoe UI"/>
              </a:rPr>
              <a:t>never changes</a:t>
            </a:r>
            <a:r>
              <a:rPr sz="1150" b="0">
                <a:solidFill>
                  <a:srgbClr val="5C5C5C"/>
                </a:solidFill>
                <a:latin typeface="Segoe UI"/>
              </a:rPr>
              <a:t> when you append token t+1, the keys and values already computed stay valid forever. So generation can cache them and each new token costs O(T) instead of recomputing O(T²). Every fast inference server on earth depends on this property.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19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4937759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51515"/>
                </a:solidFill>
                <a:latin typeface="Segoe UI"/>
              </a:rPr>
              <a:t>It is completely 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5303520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No parameters, no extra compute, no memory beyond one boolean triangle that is shared by every layer. Compare that to almost any other capability in deep learning.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WHAT COULD REPLACE THE CAUSAL MASK?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Every alternative — and exactly why it does not beat it for a GPT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46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5854" cy="4809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5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2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Instead of causal…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Why it does not perform better here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No mask at all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Every token attends to every token, past and future.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It cheats.</a:t>
                      </a: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 Position t can read position t+1, which </a:t>
                      </a:r>
                      <a:r>
                        <a:rPr sz="980" b="0" i="1">
                          <a:solidFill>
                            <a:srgbClr val="151515"/>
                          </a:solidFill>
                          <a:latin typeface="Segoe UI"/>
                        </a:rPr>
                        <a:t>is</a:t>
                      </a: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 the answer. Train loss collapses toward 0 and generation produces garbage, because at run time the future it learned to rely on is empty. This is the most instructive failure to demo.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Bidirectional (BERT)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See the whole sentence; train by masking out ~15% of tokens and filling the blanks.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Excellent for classification, embeddings and search. But you only get a signal on the ~15% that were masked, so it is </a:t>
                      </a: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~6× less data-efficient per pass</a:t>
                      </a: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, and there is no natural left-to-right generation loop. Different tool, different job.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Prefix-LM (UL2, T5-style)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The prompt is fully bidirectional; only the generated part is causal.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Genuinely useful — the prompt gets richer representations. Costs a second attention pattern, complicates the KV cache, and gives little benefit once models are large. Mostly survives inside encoder-decoder models.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Sliding window / local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Causal, but only the last W tokens (Mistral: 4,096; gpt-oss: 128).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Not a replacement — a </a:t>
                      </a: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restriction layered on top of</a:t>
                      </a: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 causal. Buys O(T·W) instead of O(T²), loses long-range recall, so real models </a:t>
                      </a: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alternate</a:t>
                      </a: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 windowed and full layers.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Sparse / block (BigBird, Longformer)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Attend to a chosen subset: a few global tokens, some random, a local band.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Makes 100k-token documents affordable. At ordinary lengths it is strictly an approximation — quality drops and complexity rises for no gain.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Diffusion / any-order LMs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Drop left-to-right entirely; denoise or fill tokens in arbitrary order.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A real research direction with genuine parallel-decoding upside. As of now it is still </a:t>
                      </a: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behind autoregressive models on quality per unit of compute</a:t>
                      </a: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, which is why nothing at the frontier ships it.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MODEL4.PY  ·  PROJ AND DROPOUT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two pieces of SelfAttention nobody explains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3643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PROJ  —  NN.LINEAR(N_EMBD, N_EMBD)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91056"/>
            <a:ext cx="5364327" cy="105156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91056"/>
            <a:ext cx="41148" cy="10515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709928"/>
            <a:ext cx="4998567" cy="8412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y = y.transpose(1, 2).reshape(B, T, C)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return self.dropout(self.proj(y))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9776"/>
            <a:ext cx="5364327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After the heads are glued back together, the vector is just </a:t>
            </a:r>
            <a:r>
              <a:rPr sz="1200" b="1">
                <a:solidFill>
                  <a:srgbClr val="151515"/>
                </a:solidFill>
                <a:latin typeface="Segoe UI"/>
              </a:rPr>
              <a:t>4 independent chunks sitting next to each other</a:t>
            </a:r>
            <a:r>
              <a:rPr sz="1200" b="0">
                <a:solidFill>
                  <a:srgbClr val="151515"/>
                </a:solidFill>
                <a:latin typeface="Segoe UI"/>
              </a:rPr>
              <a:t>. Nothing has mixed them.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150" b="0">
                <a:solidFill>
                  <a:srgbClr val="B54408"/>
                </a:solidFill>
                <a:latin typeface="Consolas"/>
              </a:rPr>
              <a:t>proj</a:t>
            </a:r>
            <a:r>
              <a:rPr sz="1200" b="0">
                <a:solidFill>
                  <a:srgbClr val="151515"/>
                </a:solidFill>
                <a:latin typeface="Segoe UI"/>
              </a:rPr>
              <a:t> is the layer that lets the model </a:t>
            </a:r>
            <a:r>
              <a:rPr sz="1200" b="1">
                <a:solidFill>
                  <a:srgbClr val="151515"/>
                </a:solidFill>
                <a:latin typeface="Segoe UI"/>
              </a:rPr>
              <a:t>combine what different heads found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e.g. “head 2 found the subject and head 3 found the verb, now relate them”.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It also puts the output back on the right scale to be </a:t>
            </a:r>
            <a:r>
              <a:rPr sz="1200" b="1">
                <a:solidFill>
                  <a:srgbClr val="151515"/>
                </a:solidFill>
                <a:latin typeface="Segoe UI"/>
              </a:rPr>
              <a:t>added to the residual stream</a:t>
            </a:r>
            <a:r>
              <a:rPr sz="1200" b="0">
                <a:solidFill>
                  <a:srgbClr val="151515"/>
                </a:solidFill>
                <a:latin typeface="Segoe UI"/>
              </a:rPr>
              <a:t>. Without it, every block would dump raw concatenated head output into </a:t>
            </a:r>
            <a:r>
              <a:rPr sz="1150" b="0">
                <a:solidFill>
                  <a:srgbClr val="B54408"/>
                </a:solidFill>
                <a:latin typeface="Consolas"/>
              </a:rPr>
              <a:t>x</a:t>
            </a:r>
            <a:r>
              <a:rPr sz="1200" b="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Delete it and the model still trains — noticeably worse. It is cheap: </a:t>
            </a:r>
            <a:r>
              <a:rPr sz="1150" b="0">
                <a:solidFill>
                  <a:srgbClr val="B54408"/>
                </a:solidFill>
                <a:latin typeface="Consolas"/>
              </a:rPr>
              <a:t>1 · C²</a:t>
            </a:r>
            <a:r>
              <a:rPr sz="1200" b="0">
                <a:solidFill>
                  <a:srgbClr val="151515"/>
                </a:solidFill>
                <a:latin typeface="Segoe UI"/>
              </a:rPr>
              <a:t> of the </a:t>
            </a:r>
            <a:r>
              <a:rPr sz="1150" b="0">
                <a:solidFill>
                  <a:srgbClr val="B54408"/>
                </a:solidFill>
                <a:latin typeface="Consolas"/>
              </a:rPr>
              <a:t>12 · C²</a:t>
            </a:r>
            <a:r>
              <a:rPr sz="1200" b="0">
                <a:solidFill>
                  <a:srgbClr val="151515"/>
                </a:solidFill>
                <a:latin typeface="Segoe UI"/>
              </a:rPr>
              <a:t> per block.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298448"/>
            <a:ext cx="53643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DROPOUT  —  IT APPEARS THREE TIMES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24447" y="1591056"/>
          <a:ext cx="5364326" cy="20299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1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3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Where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it protects against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after the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embedding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sum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over-relying on any one input feature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on the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attention weights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over-relying on one specific token — forces the head to spread its attention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after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proj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and inside the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MLP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over-relying on any single neuron in the residual stream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324447" y="3813048"/>
            <a:ext cx="5364327" cy="178308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2191" y="395935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DETAIL THAT CATCHES PEOPLE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191" y="4242816"/>
            <a:ext cx="4907127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Dropout is </a:t>
            </a:r>
            <a:r>
              <a:rPr sz="1250" b="1">
                <a:solidFill>
                  <a:srgbClr val="151515"/>
                </a:solidFill>
                <a:latin typeface="Segoe UI"/>
              </a:rPr>
              <a:t>on</a:t>
            </a:r>
            <a:r>
              <a:rPr sz="1250" b="0">
                <a:solidFill>
                  <a:srgbClr val="151515"/>
                </a:solidFill>
                <a:latin typeface="Segoe UI"/>
              </a:rPr>
              <a:t> in </a:t>
            </a:r>
            <a:r>
              <a:rPr sz="1200" b="0">
                <a:solidFill>
                  <a:srgbClr val="B54408"/>
                </a:solidFill>
                <a:latin typeface="Consolas"/>
              </a:rPr>
              <a:t>model.train()</a:t>
            </a:r>
            <a:r>
              <a:rPr sz="1250" b="0">
                <a:solidFill>
                  <a:srgbClr val="151515"/>
                </a:solidFill>
                <a:latin typeface="Segoe UI"/>
              </a:rPr>
              <a:t> and </a:t>
            </a:r>
            <a:r>
              <a:rPr sz="1250" b="1">
                <a:solidFill>
                  <a:srgbClr val="151515"/>
                </a:solidFill>
                <a:latin typeface="Segoe UI"/>
              </a:rPr>
              <a:t>off</a:t>
            </a:r>
            <a:r>
              <a:rPr sz="1250" b="0">
                <a:solidFill>
                  <a:srgbClr val="151515"/>
                </a:solidFill>
                <a:latin typeface="Segoe UI"/>
              </a:rPr>
              <a:t> in </a:t>
            </a:r>
            <a:r>
              <a:rPr sz="1200" b="0">
                <a:solidFill>
                  <a:srgbClr val="B54408"/>
                </a:solidFill>
                <a:latin typeface="Consolas"/>
              </a:rPr>
              <a:t>model.eval()</a:t>
            </a:r>
            <a:r>
              <a:rPr sz="1250" b="0">
                <a:solidFill>
                  <a:srgbClr val="151515"/>
                </a:solidFill>
                <a:latin typeface="Segoe UI"/>
              </a:rPr>
              <a:t>. That is why </a:t>
            </a:r>
            <a:r>
              <a:rPr sz="1200" b="0">
                <a:solidFill>
                  <a:srgbClr val="B54408"/>
                </a:solidFill>
                <a:latin typeface="Consolas"/>
              </a:rPr>
              <a:t>estimate_loss</a:t>
            </a:r>
            <a:r>
              <a:rPr sz="1250" b="0">
                <a:solidFill>
                  <a:srgbClr val="151515"/>
                </a:solidFill>
                <a:latin typeface="Segoe UI"/>
              </a:rPr>
              <a:t> and </a:t>
            </a:r>
            <a:r>
              <a:rPr sz="1200" b="0">
                <a:solidFill>
                  <a:srgbClr val="B54408"/>
                </a:solidFill>
                <a:latin typeface="Consolas"/>
              </a:rPr>
              <a:t>generate</a:t>
            </a:r>
            <a:r>
              <a:rPr sz="1250" b="0">
                <a:solidFill>
                  <a:srgbClr val="151515"/>
                </a:solidFill>
                <a:latin typeface="Segoe UI"/>
              </a:rPr>
              <a:t> both call </a:t>
            </a:r>
            <a:r>
              <a:rPr sz="1200" b="0">
                <a:solidFill>
                  <a:srgbClr val="B54408"/>
                </a:solidFill>
                <a:latin typeface="Consolas"/>
              </a:rPr>
              <a:t>model.eval()</a:t>
            </a:r>
            <a:r>
              <a:rPr sz="1250" b="0">
                <a:solidFill>
                  <a:srgbClr val="151515"/>
                </a:solidFill>
                <a:latin typeface="Segoe UI"/>
              </a:rPr>
              <a:t> first.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Forget it and your validation loss is measured on a </a:t>
            </a:r>
            <a:r>
              <a:rPr sz="1250" b="1">
                <a:solidFill>
                  <a:srgbClr val="151515"/>
                </a:solidFill>
                <a:latin typeface="Segoe UI"/>
              </a:rPr>
              <a:t>randomly damaged model</a:t>
            </a:r>
            <a:r>
              <a:rPr sz="1250" b="0">
                <a:solidFill>
                  <a:srgbClr val="151515"/>
                </a:solidFill>
                <a:latin typeface="Segoe UI"/>
              </a:rPr>
              <a:t> — it will read higher than the truth and jump around between evals.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MODEL4.PY  ·  THE MLP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Attention was tokens talking. This is one token thinking.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48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400800" cy="18288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828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6035040" cy="1618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self.net = nn.Sequential(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nn.Linear(cfg.n_embd, 4 * cfg.n_embd),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nn.GELU(),                     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a smooth ReLU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nn.Linear(4 * cfg.n_embd, cfg.n_embd),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nn.Dropout(cfg.dropout),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01568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51515"/>
                </a:solidFill>
                <a:latin typeface="Segoe UI"/>
              </a:rPr>
              <a:t>128</a:t>
            </a:r>
          </a:p>
          <a:p>
            <a:pPr algn="ctr">
              <a:spcBef>
                <a:spcPts val="200"/>
              </a:spcBef>
            </a:pPr>
            <a:r>
              <a:rPr sz="1050" b="0">
                <a:solidFill>
                  <a:srgbClr val="5C5C5C"/>
                </a:solidFill>
                <a:latin typeface="Segoe UI"/>
              </a:rPr>
              <a:t>n_embd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43200" y="3575303"/>
            <a:ext cx="457200" cy="20116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83280" y="3401568"/>
            <a:ext cx="2194560" cy="548640"/>
          </a:xfrm>
          <a:prstGeom prst="roundRect">
            <a:avLst>
              <a:gd name="adj" fmla="val 12000"/>
            </a:avLst>
          </a:prstGeom>
          <a:solidFill>
            <a:srgbClr val="FFF2E8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51515"/>
                </a:solidFill>
                <a:latin typeface="Segoe UI"/>
              </a:rPr>
              <a:t>512</a:t>
            </a:r>
          </a:p>
          <a:p>
            <a:pPr algn="ctr">
              <a:spcBef>
                <a:spcPts val="200"/>
              </a:spcBef>
            </a:pPr>
            <a:r>
              <a:rPr sz="1050" b="0">
                <a:solidFill>
                  <a:srgbClr val="5C5C5C"/>
                </a:solidFill>
                <a:latin typeface="Segoe UI"/>
              </a:rPr>
              <a:t>4 × n_embd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15000" y="3575303"/>
            <a:ext cx="457200" cy="20116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81447" y="436626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51515"/>
                </a:solidFill>
                <a:latin typeface="Segoe UI"/>
              </a:rPr>
              <a:t>128</a:t>
            </a:r>
          </a:p>
          <a:p>
            <a:pPr algn="ctr">
              <a:spcBef>
                <a:spcPts val="200"/>
              </a:spcBef>
            </a:pPr>
            <a:r>
              <a:rPr sz="1050" b="0">
                <a:solidFill>
                  <a:srgbClr val="5C5C5C"/>
                </a:solidFill>
                <a:latin typeface="Segoe UI"/>
              </a:rPr>
              <a:t>back 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04621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B54408"/>
                </a:solidFill>
                <a:latin typeface="Segoe UI"/>
              </a:rPr>
              <a:t>GELU applied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298448"/>
            <a:ext cx="441929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Why widen at all?</a:t>
            </a:r>
            <a:r>
              <a:rPr sz="1200" b="0">
                <a:solidFill>
                  <a:srgbClr val="151515"/>
                </a:solidFill>
                <a:latin typeface="Segoe UI"/>
              </a:rPr>
              <a:t> The wide layer is where the model has room to compute intermediate features. Think of it as scratch space that gets thrown away.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Why 4×?</a:t>
            </a:r>
            <a:r>
              <a:rPr sz="1200" b="0">
                <a:solidFill>
                  <a:srgbClr val="151515"/>
                </a:solidFill>
                <a:latin typeface="Segoe UI"/>
              </a:rPr>
              <a:t> It is the ratio the original 2017 Transformer paper used and everyone kept. There is no derivation. People have tried 2× and 8×; 4× is a good default.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Why a non-linearity?</a:t>
            </a:r>
            <a:r>
              <a:rPr sz="1200" b="0">
                <a:solidFill>
                  <a:srgbClr val="151515"/>
                </a:solidFill>
                <a:latin typeface="Segoe UI"/>
              </a:rPr>
              <a:t> Without GELU, </a:t>
            </a:r>
            <a:r>
              <a:rPr sz="1150" b="0">
                <a:solidFill>
                  <a:srgbClr val="B54408"/>
                </a:solidFill>
                <a:latin typeface="Consolas"/>
              </a:rPr>
              <a:t>Linear → Linear</a:t>
            </a:r>
            <a:r>
              <a:rPr sz="1200" b="0">
                <a:solidFill>
                  <a:srgbClr val="151515"/>
                </a:solidFill>
                <a:latin typeface="Segoe UI"/>
              </a:rPr>
              <a:t> collapses into a single Linear — the whole MLP would be mathematically pointless. </a:t>
            </a:r>
            <a:r>
              <a:rPr sz="1200" b="1">
                <a:solidFill>
                  <a:srgbClr val="151515"/>
                </a:solidFill>
                <a:latin typeface="Segoe UI"/>
              </a:rPr>
              <a:t>The non-linearity is the only reason depth buys anything.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Why GELU and not ReLU?</a:t>
            </a:r>
            <a:r>
              <a:rPr sz="1200" b="0">
                <a:solidFill>
                  <a:srgbClr val="151515"/>
                </a:solidFill>
                <a:latin typeface="Segoe UI"/>
              </a:rPr>
              <a:t> GELU is smooth around zero, so gradients do not have a hard kink. Slightly better in practice; GPT-2 used it, so we do.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Two thirds of the parameters live here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8 of the 12 · C² per block. The MLP, not attention, is where most of a GPT's knowledge is stored.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MODEL4.PY  ·  THE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Talk, then think — and never overwrite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49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583680" cy="150876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5087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6217920" cy="1298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def forward(self, x):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    x = x + self.attn(self.ln1(x))   </a:t>
            </a:r>
            <a:r>
              <a:rPr sz="1200" b="0">
                <a:solidFill>
                  <a:srgbClr val="B54408"/>
                </a:solidFill>
                <a:latin typeface="Consolas"/>
              </a:rPr>
              <a:t>  # talk to the other tokens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    x = x + self.mlp(self.ln2(x))    </a:t>
            </a:r>
            <a:r>
              <a:rPr sz="1200" b="0">
                <a:solidFill>
                  <a:srgbClr val="B54408"/>
                </a:solidFill>
                <a:latin typeface="Consolas"/>
              </a:rPr>
              <a:t>  # think about what you heard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    return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27248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THE RESIDUAL STREAM — WHY  X = X + …  AND NOT  X =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11296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51515"/>
                </a:solidFill>
                <a:latin typeface="Segoe UI"/>
              </a:rPr>
              <a:t>x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74519" y="3611880"/>
            <a:ext cx="365760" cy="20116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31720" y="3511296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51515"/>
                </a:solidFill>
                <a:latin typeface="Segoe UI"/>
              </a:rPr>
              <a:t>ln1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94760" y="3611880"/>
            <a:ext cx="365760" cy="20116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51959" y="3511296"/>
            <a:ext cx="1463040" cy="502920"/>
          </a:xfrm>
          <a:prstGeom prst="roundRect">
            <a:avLst>
              <a:gd name="adj" fmla="val 12000"/>
            </a:avLst>
          </a:prstGeom>
          <a:solidFill>
            <a:srgbClr val="FFF2E8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51515"/>
                </a:solidFill>
                <a:latin typeface="Segoe UI"/>
              </a:rPr>
              <a:t>attn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06440" y="3611880"/>
            <a:ext cx="365760" cy="20116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63640" y="3511296"/>
            <a:ext cx="822960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33087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B54408"/>
                </a:solidFill>
                <a:latin typeface="Segoe UI"/>
              </a:rPr>
              <a:t>the original x flows straight through and the block only </a:t>
            </a:r>
            <a:r>
              <a:rPr sz="1150" b="1">
                <a:solidFill>
                  <a:srgbClr val="B54408"/>
                </a:solidFill>
                <a:latin typeface="Segoe UI"/>
              </a:rPr>
              <a:t>adds a correction</a:t>
            </a:r>
            <a:r>
              <a:rPr sz="1150" b="0">
                <a:solidFill>
                  <a:srgbClr val="B54408"/>
                </a:solidFill>
                <a:latin typeface="Segoe UI"/>
              </a:rPr>
              <a:t> to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298448"/>
            <a:ext cx="423641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Each block </a:t>
            </a:r>
            <a:r>
              <a:rPr sz="1200" b="1">
                <a:solidFill>
                  <a:srgbClr val="151515"/>
                </a:solidFill>
                <a:latin typeface="Segoe UI"/>
              </a:rPr>
              <a:t>adds a small correction</a:t>
            </a:r>
            <a:r>
              <a:rPr sz="1200" b="0">
                <a:solidFill>
                  <a:srgbClr val="151515"/>
                </a:solidFill>
                <a:latin typeface="Segoe UI"/>
              </a:rPr>
              <a:t> rather than replacing everything. A block that has learned nothing yet outputs ~0 and is harmless.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Gradients flow backwards through the </a:t>
            </a:r>
            <a:r>
              <a:rPr sz="1150" b="0">
                <a:solidFill>
                  <a:srgbClr val="B54408"/>
                </a:solidFill>
                <a:latin typeface="Consolas"/>
              </a:rPr>
              <a:t>+</a:t>
            </a:r>
            <a:r>
              <a:rPr sz="1200" b="0">
                <a:solidFill>
                  <a:srgbClr val="151515"/>
                </a:solidFill>
                <a:latin typeface="Segoe UI"/>
              </a:rPr>
              <a:t> </a:t>
            </a:r>
            <a:r>
              <a:rPr sz="1200" b="1">
                <a:solidFill>
                  <a:srgbClr val="151515"/>
                </a:solidFill>
                <a:latin typeface="Segoe UI"/>
              </a:rPr>
              <a:t>undiminished</a:t>
            </a:r>
            <a:r>
              <a:rPr sz="1200" b="0">
                <a:solidFill>
                  <a:srgbClr val="151515"/>
                </a:solidFill>
                <a:latin typeface="Segoe UI"/>
              </a:rPr>
              <a:t>. Without residuals, deep networks simply refuse to train — this is the trick that made “deep” learning deep.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Think of </a:t>
            </a:r>
            <a:r>
              <a:rPr sz="1150" b="0">
                <a:solidFill>
                  <a:srgbClr val="B54408"/>
                </a:solidFill>
                <a:latin typeface="Consolas"/>
              </a:rPr>
              <a:t>x</a:t>
            </a:r>
            <a:r>
              <a:rPr sz="1200" b="0">
                <a:solidFill>
                  <a:srgbClr val="151515"/>
                </a:solidFill>
                <a:latin typeface="Segoe UI"/>
              </a:rPr>
              <a:t> as a </a:t>
            </a:r>
            <a:r>
              <a:rPr sz="1200" b="1">
                <a:solidFill>
                  <a:srgbClr val="151515"/>
                </a:solidFill>
                <a:latin typeface="Segoe UI"/>
              </a:rPr>
              <a:t>shared notepad</a:t>
            </a:r>
            <a:r>
              <a:rPr sz="1200" b="0">
                <a:solidFill>
                  <a:srgbClr val="151515"/>
                </a:solidFill>
                <a:latin typeface="Segoe UI"/>
              </a:rPr>
              <a:t> every block reads from and writes 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3950208"/>
            <a:ext cx="4236415" cy="16459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90104" y="4096512"/>
            <a:ext cx="3779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PRE-NORM VS POST-NORM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0104" y="4379976"/>
            <a:ext cx="3779215" cy="1106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We normalise </a:t>
            </a:r>
            <a:r>
              <a:rPr sz="1250" b="1">
                <a:solidFill>
                  <a:srgbClr val="151515"/>
                </a:solidFill>
                <a:latin typeface="Segoe UI"/>
              </a:rPr>
              <a:t>before</a:t>
            </a:r>
            <a:r>
              <a:rPr sz="1250" b="0">
                <a:solidFill>
                  <a:srgbClr val="151515"/>
                </a:solidFill>
                <a:latin typeface="Segoe UI"/>
              </a:rPr>
              <a:t> each sub-layer (</a:t>
            </a:r>
            <a:r>
              <a:rPr sz="1200" b="0">
                <a:solidFill>
                  <a:srgbClr val="B54408"/>
                </a:solidFill>
                <a:latin typeface="Consolas"/>
              </a:rPr>
              <a:t>ln1(x)</a:t>
            </a:r>
            <a:r>
              <a:rPr sz="1250" b="0">
                <a:solidFill>
                  <a:srgbClr val="151515"/>
                </a:solidFill>
                <a:latin typeface="Segoe UI"/>
              </a:rPr>
              <a:t> then attention). The 2017 paper normalised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after</a:t>
            </a:r>
            <a:r>
              <a:rPr sz="1250" b="0">
                <a:solidFill>
                  <a:srgbClr val="151515"/>
                </a:solidFill>
                <a:latin typeface="Segoe UI"/>
              </a:rPr>
              <a:t>, which needed a careful learning-rate warmup or it diverged.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Pre-norm keeps the residual path completely clean — nothing rescales it — and that is what makes deep transformers stable. </a:t>
            </a:r>
            <a:r>
              <a:rPr sz="1250" b="1">
                <a:solidFill>
                  <a:srgbClr val="151515"/>
                </a:solidFill>
                <a:latin typeface="Segoe UI"/>
              </a:rPr>
              <a:t>Every modern model does pre-norm.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MODEL4.PY  ·  THE ARGPT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Assembling it, and scoring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50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766560" cy="30632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30632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6400800" cy="2852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self.tok_emb = nn.Embedding(cfg.vocab_size, cfg.n_embd)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self.pos_emb = nn.Embedding(cfg.block_size, cfg.n_embd)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self.drop    = nn.Dropout(cfg.dropout)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self.blocks  = nn.ModuleList([Block(cfg) for _ in range(cfg.n_layer)])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self.ln_f    = nn.LayerNorm(cfg.n_embd)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self.head    = nn.Linear(cfg.n_embd, cfg.vocab_size, bias=False)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self.head.weight = self.tok_emb.weight      </a:t>
            </a:r>
            <a:r>
              <a:rPr sz="1100" b="0">
                <a:solidFill>
                  <a:srgbClr val="B54408"/>
                </a:solidFill>
                <a:latin typeface="Consolas"/>
              </a:rPr>
              <a:t>  # weight tying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self.apply(self._init_weights)              </a:t>
            </a:r>
            <a:r>
              <a:rPr sz="1100" b="0">
                <a:solidFill>
                  <a:srgbClr val="B54408"/>
                </a:solidFill>
                <a:latin typeface="Consolas"/>
              </a:rPr>
              <a:t>  # N(0, 0.02), GPT-2's value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00" b="0">
              <a:solidFill>
                <a:srgbClr val="B54408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loss = F.cross_entropy(logits.view(-1, logits.size(-1)),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                   targets.view(-1))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298448"/>
            <a:ext cx="40992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THE LOSS, IN ONE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591056"/>
            <a:ext cx="4099255" cy="9144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27264" y="1737360"/>
            <a:ext cx="364205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“How surprised was the model by the token that actually came next?”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670048"/>
            <a:ext cx="409925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150" b="0">
                <a:solidFill>
                  <a:srgbClr val="B54408"/>
                </a:solidFill>
                <a:latin typeface="Consolas"/>
              </a:rPr>
              <a:t>.view(-1, …)</a:t>
            </a:r>
            <a:r>
              <a:rPr sz="1200" b="0">
                <a:solidFill>
                  <a:srgbClr val="151515"/>
                </a:solidFill>
                <a:latin typeface="Segoe UI"/>
              </a:rPr>
              <a:t> flattens B and T into one long list of predictions — cross-entropy does not care where a prediction came from.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Measured in </a:t>
            </a:r>
            <a:r>
              <a:rPr sz="1200" b="1">
                <a:solidFill>
                  <a:srgbClr val="151515"/>
                </a:solidFill>
                <a:latin typeface="Segoe UI"/>
              </a:rPr>
              <a:t>nats</a:t>
            </a:r>
            <a:r>
              <a:rPr sz="1200" b="0">
                <a:solidFill>
                  <a:srgbClr val="151515"/>
                </a:solidFill>
                <a:latin typeface="Segoe UI"/>
              </a:rPr>
              <a:t>. Lower = less surprised. 0 would be perfect and is impossible; language is not deterministic.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4590288"/>
          <a:ext cx="11185853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2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9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Checkpoint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Shakespeare, char (vocab 65)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untrained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≈ 4.17  =  ln(65)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guessing uniformly — the free sanity check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after ~250 steps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≈ 2.5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learned letter frequencies and spacing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after ~2,000 steps (TINY)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≈ 1.7 - 1.8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word shapes, capital letters, name colons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a good SMALL run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≈ 1.5 - 1.6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readable Shakespeare-flavoured structure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MODEL4.PY  ·  THE HONEST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What this file does and does not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444751"/>
            <a:ext cx="1072865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500" b="0">
                <a:solidFill>
                  <a:srgbClr val="151515"/>
                </a:solidFill>
                <a:latin typeface="Segoe UI"/>
              </a:rPr>
              <a:t>Nothing in this file knows about English. It only learns which number tends to follow which other numbers. </a:t>
            </a:r>
            <a:r>
              <a:rPr sz="1500" b="1">
                <a:solidFill>
                  <a:srgbClr val="151515"/>
                </a:solidFill>
                <a:latin typeface="Segoe UI"/>
              </a:rPr>
              <a:t>Grammar is a side effect of doing that well.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41448"/>
            <a:ext cx="53643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EVERY CLASS IN THE FILE, IN ONE LINE EACH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734056"/>
          <a:ext cx="5364326" cy="2340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3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Class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One sentence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B54408"/>
                          </a:solidFill>
                          <a:latin typeface="Consolas"/>
                        </a:rPr>
                        <a:t>SelfAttention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tokens look backward at each other and blend information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B54408"/>
                          </a:solidFill>
                          <a:latin typeface="Consolas"/>
                        </a:rPr>
                        <a:t>MLP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each token thinks alone: widen, GELU, narrow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B54408"/>
                          </a:solidFill>
                          <a:latin typeface="Consolas"/>
                        </a:rPr>
                        <a:t>Block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attention + MLP, each wrapped in pre-norm and a residual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B54408"/>
                          </a:solidFill>
                          <a:latin typeface="Consolas"/>
                        </a:rPr>
                        <a:t>ARGPT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embeddings → N blocks → final norm → vocab scores → loss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24447" y="2441448"/>
            <a:ext cx="53643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FACTS WORTH REPEATING AT THE END OF THIS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2761488"/>
            <a:ext cx="5364327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The </a:t>
            </a:r>
            <a:r>
              <a:rPr sz="1200" b="1">
                <a:solidFill>
                  <a:srgbClr val="151515"/>
                </a:solidFill>
                <a:latin typeface="Segoe UI"/>
              </a:rPr>
              <a:t>mask</a:t>
            </a:r>
            <a:r>
              <a:rPr sz="1200" b="0">
                <a:solidFill>
                  <a:srgbClr val="151515"/>
                </a:solidFill>
                <a:latin typeface="Segoe UI"/>
              </a:rPr>
              <a:t> is the only thing making this a GPT instead of a BERT.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Two thirds of the parameters are in the MLPs</a:t>
            </a:r>
            <a:r>
              <a:rPr sz="1200" b="0">
                <a:solidFill>
                  <a:srgbClr val="151515"/>
                </a:solidFill>
                <a:latin typeface="Segoe UI"/>
              </a:rPr>
              <a:t>, not in attention.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The model has </a:t>
            </a:r>
            <a:r>
              <a:rPr sz="1200" b="1">
                <a:solidFill>
                  <a:srgbClr val="151515"/>
                </a:solidFill>
                <a:latin typeface="Segoe UI"/>
              </a:rPr>
              <a:t>no memory</a:t>
            </a:r>
            <a:r>
              <a:rPr sz="1200" b="0">
                <a:solidFill>
                  <a:srgbClr val="151515"/>
                </a:solidFill>
                <a:latin typeface="Segoe UI"/>
              </a:rPr>
              <a:t> beyond </a:t>
            </a:r>
            <a:r>
              <a:rPr sz="1150" b="0">
                <a:solidFill>
                  <a:srgbClr val="B54408"/>
                </a:solidFill>
                <a:latin typeface="Consolas"/>
              </a:rPr>
              <a:t>block_size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no hidden state carries over.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It is ~130 lines. GPT-4's core is the same shape; it is the data, the scale and the post-training that differ.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FILE</a:t>
            </a:r>
          </a:p>
          <a:p>
            <a:pPr>
              <a:spcBef>
                <a:spcPts val="0"/>
              </a:spcBef>
            </a:pPr>
            <a:r>
              <a:rPr sz="9600" b="1">
                <a:solidFill>
                  <a:srgbClr val="E8590C"/>
                </a:solidFill>
                <a:latin typeface="Segoe U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6280" y="2084831"/>
            <a:ext cx="707105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>
                <a:solidFill>
                  <a:srgbClr val="151515"/>
                </a:solidFill>
                <a:latin typeface="Segoe UI"/>
              </a:rPr>
              <a:t>train5.py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2852928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6280" y="3063240"/>
            <a:ext cx="70710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>
                <a:solidFill>
                  <a:srgbClr val="5C5C5C"/>
                </a:solidFill>
                <a:latin typeface="Segoe UI"/>
              </a:rPr>
              <a:t>Teaching ARGPT to predict the next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3794760"/>
            <a:ext cx="70710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Five steps, repeated. There is no step six.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This is how every neural network on earth is trained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The same function later runs unchanged on a GPU in file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TRAIN5.PY  · 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Five steps, forever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53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949440" cy="196596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9659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6583679" cy="17556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for step in range(1, cfg.max_iters + 1):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x, y = get_batch("train", ...)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1. grab a random batch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_, loss = model(x, y)      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2+3. predict, and score how wrong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opt.zero_grad()            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    clear last step's gradients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loss.backward()            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4. which way should each weight go?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clip_grad_norm_(params, 1.0)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    guardrail: no wild jumps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opt.step()                        </a:t>
            </a:r>
            <a:r>
              <a:rPr sz="1150" b="0">
                <a:solidFill>
                  <a:srgbClr val="B54408"/>
                </a:solidFill>
                <a:latin typeface="Consolas"/>
              </a:rPr>
              <a:t>  # 5. move every weight a little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29844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1353312"/>
            <a:ext cx="33677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51515"/>
                </a:solidFill>
                <a:latin typeface="Segoe UI"/>
              </a:rPr>
              <a:t>get a batch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77393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28800"/>
            <a:ext cx="33677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51515"/>
                </a:solidFill>
                <a:latin typeface="Segoe UI"/>
              </a:rPr>
              <a:t>predict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2494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304288"/>
            <a:ext cx="33677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51515"/>
                </a:solidFill>
                <a:latin typeface="Segoe UI"/>
              </a:rPr>
              <a:t>measure the 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7249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79776"/>
            <a:ext cx="33677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51515"/>
                </a:solidFill>
                <a:latin typeface="Segoe UI"/>
              </a:rPr>
              <a:t>compute gradients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200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255264"/>
            <a:ext cx="33677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51515"/>
                </a:solidFill>
                <a:latin typeface="Segoe UI"/>
              </a:rPr>
              <a:t>nudge the weights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918704" y="3694176"/>
            <a:ext cx="109728" cy="274320"/>
          </a:xfrm>
          <a:prstGeom prst="down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0" y="3995928"/>
            <a:ext cx="3916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54408"/>
                </a:solidFill>
                <a:latin typeface="Segoe UI"/>
              </a:rPr>
              <a:t>repeat 2,000 times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04487"/>
            <a:ext cx="6949440" cy="86868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" y="4050791"/>
            <a:ext cx="6492240" cy="61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400" b="1">
                <a:solidFill>
                  <a:srgbClr val="151515"/>
                </a:solidFill>
                <a:latin typeface="Segoe UI"/>
              </a:rPr>
              <a:t>There is no step 6.</a:t>
            </a:r>
            <a:r>
              <a:rPr sz="1400" b="0">
                <a:solidFill>
                  <a:srgbClr val="151515"/>
                </a:solidFill>
                <a:latin typeface="Segoe UI"/>
              </a:rPr>
              <a:t> Every neural network you have ever used was trained by this loop.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4956048"/>
          <a:ext cx="11185854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7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8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Line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it guards against if you delete it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B54408"/>
                          </a:solidFill>
                          <a:latin typeface="Consolas"/>
                        </a:rPr>
                        <a:t>opt.zero_grad()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PyTorch </a:t>
                      </a: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accumulates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gradients by default. Skip this and step 2's gradient is added to step 1's, then step 3's on top — the model walks in a direction that is the sum of everything it has ever seen. Loss stalls or explodes.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B54408"/>
                          </a:solidFill>
                          <a:latin typeface="Consolas"/>
                        </a:rPr>
                        <a:t>clip_grad_norm_(…, 1.0)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One unlucky batch produces a huge gradient, the weights jump outside their sane range, and every number afterwards is </a:t>
                      </a:r>
                      <a:r>
                        <a:rPr sz="1030" b="0">
                          <a:solidFill>
                            <a:srgbClr val="B54408"/>
                          </a:solidFill>
                          <a:latin typeface="Consolas"/>
                        </a:rPr>
                        <a:t>nan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. Clipping caps the size of a single step — the seatbelt.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B54408"/>
                          </a:solidFill>
                          <a:latin typeface="Consolas"/>
                        </a:rPr>
                        <a:t>torch.manual_seed(1337)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Without it your live demo produces different text every run and you cannot reproduce a bug a student reports.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DRY RUN  ·  ONE TRAINING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Following a single weight through the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35331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get_batch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62456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x = (32, 128) token ids     y = the same, shifted by 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92024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model(x, 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929384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forward pass → logits (32, 128, 65) = 266,240 raw scores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32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48716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cross_entropy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96312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loss = 4.17    ← the model is as surprised as random guessing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9923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305409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loss.backward()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63239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for each of 818,048 weights, compute ∂loss/∂w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630168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e.g.  w = 0.0213     ∂loss/∂w = +0.85     ← raising w makes it worse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33087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4187951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opt.step()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197096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w ← 0.0213 − (lr × adjusted gradient) = 0.0210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10328"/>
            <a:ext cx="11185855" cy="14173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" y="50566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REPEAT THAT 2,000 TIMES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" y="5340096"/>
            <a:ext cx="10728655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Every step moves </a:t>
            </a:r>
            <a:r>
              <a:rPr sz="1250" b="1">
                <a:solidFill>
                  <a:srgbClr val="151515"/>
                </a:solidFill>
                <a:latin typeface="Segoe UI"/>
              </a:rPr>
              <a:t>all 818,048 weights</a:t>
            </a:r>
            <a:r>
              <a:rPr sz="1250" b="0">
                <a:solidFill>
                  <a:srgbClr val="151515"/>
                </a:solidFill>
                <a:latin typeface="Segoe UI"/>
              </a:rPr>
              <a:t> a tiny amount in the direction that would have made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that batch</a:t>
            </a:r>
            <a:r>
              <a:rPr sz="1250" b="0">
                <a:solidFill>
                  <a:srgbClr val="151515"/>
                </a:solidFill>
                <a:latin typeface="Segoe UI"/>
              </a:rPr>
              <a:t> less surprising. No single step matters. The average of thousands of them is what turns noise into Shakespeare.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TINY sees </a:t>
            </a:r>
            <a:r>
              <a:rPr sz="1200" b="0">
                <a:solidFill>
                  <a:srgbClr val="B54408"/>
                </a:solidFill>
                <a:latin typeface="Consolas"/>
              </a:rPr>
              <a:t>2,000 × 32 × 128 = 8,192,000</a:t>
            </a:r>
            <a:r>
              <a:rPr sz="1250" b="0">
                <a:solidFill>
                  <a:srgbClr val="151515"/>
                </a:solidFill>
                <a:latin typeface="Segoe UI"/>
              </a:rPr>
              <a:t> token-predictions — about </a:t>
            </a:r>
            <a:r>
              <a:rPr sz="1250" b="1">
                <a:solidFill>
                  <a:srgbClr val="151515"/>
                </a:solidFill>
                <a:latin typeface="Segoe UI"/>
              </a:rPr>
              <a:t>7.3 full passes</a:t>
            </a:r>
            <a:r>
              <a:rPr sz="1250" b="0">
                <a:solidFill>
                  <a:srgbClr val="151515"/>
                </a:solidFill>
                <a:latin typeface="Segoe UI"/>
              </a:rPr>
              <a:t> over the 1.1M-token Shakespeare file.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TRAIN5.PY  ·  ADAMW AND ESTIMATE_LOSS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optimizer, and how we measure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3643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WHY ADAMW AND NOT PLAIN SGD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91056"/>
            <a:ext cx="5364327" cy="7772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91056"/>
            <a:ext cx="41148" cy="7772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709928"/>
            <a:ext cx="4998567" cy="5669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opt = torch.optim.AdamW(model.parameters(),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                        lr=cfg.learning_rate)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5364327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Momentum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a weight that keeps being pushed the same way gets a bigger and bigger shove. It builds speed down a consistent slope.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Adaptivity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each weight gets its own step size, scaled down if its gradient has been noisy. Rare tokens' embeddings still learn.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Decoupled weight decay</a:t>
            </a:r>
            <a:r>
              <a:rPr sz="1200" b="0">
                <a:solidFill>
                  <a:srgbClr val="151515"/>
                </a:solidFill>
                <a:latin typeface="Segoe UI"/>
              </a:rPr>
              <a:t> (the “W”) — shrink weights toward zero separately from the gradient. Cleaner regularisation than L2 inside the loss.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Plain SGD would work here, but needs far more careful tuning. AdamW is what everyone uses for transformers, and it is one 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298448"/>
            <a:ext cx="53643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ESTIMATE_LOSS — MEASURING WITHOUT LYING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4447" y="1591056"/>
            <a:ext cx="5364327" cy="141732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24447" y="1591056"/>
            <a:ext cx="41148" cy="14173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25615" y="1709928"/>
            <a:ext cx="4998567" cy="12070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@torch.no_grad()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def estimate_loss(...):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    model.eval()           </a:t>
            </a:r>
            <a:r>
              <a:rPr sz="1050" b="0">
                <a:solidFill>
                  <a:srgbClr val="B54408"/>
                </a:solidFill>
                <a:latin typeface="Consolas"/>
              </a:rPr>
              <a:t>  # dropout OFF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    ... average over eval_iters batches ...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    model.train()          </a:t>
            </a:r>
            <a:r>
              <a:rPr sz="1050" b="0">
                <a:solidFill>
                  <a:srgbClr val="B54408"/>
                </a:solidFill>
                <a:latin typeface="Consolas"/>
              </a:rPr>
              <a:t>  # dropout back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127248"/>
            <a:ext cx="5364327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150" b="0">
                <a:solidFill>
                  <a:srgbClr val="B54408"/>
                </a:solidFill>
                <a:latin typeface="Consolas"/>
              </a:rPr>
              <a:t>@torch.no_grad()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we are only measuring, so skip building the backward graph. Faster and uses far less memory.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150" b="0">
                <a:solidFill>
                  <a:srgbClr val="B54408"/>
                </a:solidFill>
                <a:latin typeface="Consolas"/>
              </a:rPr>
              <a:t>model.eval()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turns </a:t>
            </a:r>
            <a:r>
              <a:rPr sz="1200" b="1">
                <a:solidFill>
                  <a:srgbClr val="151515"/>
                </a:solidFill>
                <a:latin typeface="Segoe UI"/>
              </a:rPr>
              <a:t>dropout off</a:t>
            </a:r>
            <a:r>
              <a:rPr sz="1200" b="0">
                <a:solidFill>
                  <a:srgbClr val="151515"/>
                </a:solidFill>
                <a:latin typeface="Segoe UI"/>
              </a:rPr>
              <a:t>. Measuring a randomly damaged model gives you a number that is both too high and too jumpy.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Averaging over 50 batches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one batch is noise; fifty tell the truth. Without this your loss curve zig-zags and students cannot see the trend.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It runs for </a:t>
            </a:r>
            <a:r>
              <a:rPr sz="1200" b="1">
                <a:solidFill>
                  <a:srgbClr val="151515"/>
                </a:solidFill>
                <a:latin typeface="Segoe UI"/>
              </a:rPr>
              <a:t>both</a:t>
            </a:r>
            <a:r>
              <a:rPr sz="1200" b="0">
                <a:solidFill>
                  <a:srgbClr val="151515"/>
                </a:solidFill>
                <a:latin typeface="Segoe UI"/>
              </a:rPr>
              <a:t> </a:t>
            </a:r>
            <a:r>
              <a:rPr sz="1150" b="0">
                <a:solidFill>
                  <a:srgbClr val="B54408"/>
                </a:solidFill>
                <a:latin typeface="Consolas"/>
              </a:rPr>
              <a:t>train</a:t>
            </a:r>
            <a:r>
              <a:rPr sz="1200" b="0">
                <a:solidFill>
                  <a:srgbClr val="151515"/>
                </a:solidFill>
                <a:latin typeface="Segoe UI"/>
              </a:rPr>
              <a:t> and </a:t>
            </a:r>
            <a:r>
              <a:rPr sz="1150" b="0">
                <a:solidFill>
                  <a:srgbClr val="B54408"/>
                </a:solidFill>
                <a:latin typeface="Consolas"/>
              </a:rPr>
              <a:t>val</a:t>
            </a:r>
            <a:r>
              <a:rPr sz="1200" b="0">
                <a:solidFill>
                  <a:srgbClr val="151515"/>
                </a:solidFill>
                <a:latin typeface="Segoe UI"/>
              </a:rPr>
              <a:t>, which is the whole point.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READING THE LOSS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actual deliverable of this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484778" cy="47548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LEARNING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20240"/>
          <a:ext cx="3484776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train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val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500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4.17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4.17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1000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2.61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2.63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1500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2.10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2.14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2000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1.88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1.93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2500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1.72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1.79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904487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51515"/>
                </a:solidFill>
                <a:latin typeface="Segoe UI"/>
              </a:rPr>
              <a:t>Both falling together. The model is learning the </a:t>
            </a:r>
            <a:r>
              <a:rPr sz="1150" b="1">
                <a:solidFill>
                  <a:srgbClr val="151515"/>
                </a:solidFill>
                <a:latin typeface="Segoe UI"/>
              </a:rPr>
              <a:t>language</a:t>
            </a:r>
            <a:r>
              <a:rPr sz="1150" b="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458" y="1298448"/>
            <a:ext cx="348477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51515"/>
                </a:solidFill>
                <a:latin typeface="Segoe UI"/>
              </a:rPr>
              <a:t>MEMORISING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53458" y="1920240"/>
          <a:ext cx="3484776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train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val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500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4.17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4.17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1000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2.55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2.60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1500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1.80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2.05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2000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1.31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2.11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2500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0.94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2.28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353458" y="3904487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51515"/>
                </a:solidFill>
                <a:latin typeface="Segoe UI"/>
              </a:rPr>
              <a:t>Train falls, val </a:t>
            </a:r>
            <a:r>
              <a:rPr sz="1150" b="1">
                <a:solidFill>
                  <a:srgbClr val="151515"/>
                </a:solidFill>
                <a:latin typeface="Segoe UI"/>
              </a:rPr>
              <a:t>turns around</a:t>
            </a:r>
            <a:r>
              <a:rPr sz="1150" b="0">
                <a:solidFill>
                  <a:srgbClr val="151515"/>
                </a:solidFill>
                <a:latin typeface="Segoe UI"/>
              </a:rPr>
              <a:t>. It is memorising the file. More dropout, more data, or fewer parameters.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03996" y="1298448"/>
            <a:ext cx="348477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51515"/>
                </a:solidFill>
                <a:latin typeface="Segoe UI"/>
              </a:rPr>
              <a:t>BROKEN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203996" y="1920240"/>
          <a:ext cx="3484776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train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val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500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4.17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4.17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1000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8.92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9.10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1500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41.3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44.0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2000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nan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nan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2500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nan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nan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203996" y="3904487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51515"/>
                </a:solidFill>
                <a:latin typeface="Segoe UI"/>
              </a:rPr>
              <a:t>Learning rate too high. Restart with a smaller </a:t>
            </a:r>
            <a:r>
              <a:rPr sz="1100" b="0">
                <a:solidFill>
                  <a:srgbClr val="B54408"/>
                </a:solidFill>
                <a:latin typeface="Consolas"/>
              </a:rPr>
              <a:t>lr</a:t>
            </a:r>
            <a:r>
              <a:rPr sz="1150" b="0">
                <a:solidFill>
                  <a:srgbClr val="151515"/>
                </a:solidFill>
                <a:latin typeface="Segoe UI"/>
              </a:rPr>
              <a:t>. This is the #1 live-demo failure.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01768"/>
            <a:ext cx="11185855" cy="132588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514807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WHAT TO TELL THE CLASS BEFORE YOU PRESS 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5431536"/>
            <a:ext cx="1072865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51515"/>
                </a:solidFill>
                <a:latin typeface="Segoe UI"/>
              </a:rPr>
              <a:t>The deliverable of this session is the loss curve, not the prose.</a:t>
            </a:r>
            <a:r>
              <a:rPr sz="1250" b="0">
                <a:solidFill>
                  <a:srgbClr val="151515"/>
                </a:solidFill>
                <a:latin typeface="Segoe UI"/>
              </a:rPr>
              <a:t> ARGPT-TINY is 0.8M parameters. It produces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structure</a:t>
            </a:r>
            <a:r>
              <a:rPr sz="1250" b="0">
                <a:solidFill>
                  <a:srgbClr val="151515"/>
                </a:solidFill>
                <a:latin typeface="Segoe UI"/>
              </a:rPr>
              <a:t> — line breaks, capital letters, character names — not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sense</a:t>
            </a:r>
            <a:r>
              <a:rPr sz="1250" b="0">
                <a:solidFill>
                  <a:srgbClr val="151515"/>
                </a:solidFill>
                <a:latin typeface="Segoe UI"/>
              </a:rPr>
              <a:t>. A class expecting ChatGPT will read a perfectly working demo as a failure. Say this in the first five minutes.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TRAIN5.PY  ·  THE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Three things go in the file, and all three are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57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766560" cy="173736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7373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6400800" cy="1527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torch.save({"model":     model.state_dict(),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        "cfg":       asdict(cfg),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          "tokenizer": tokenizer}, path)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50" b="0">
              <a:solidFill>
                <a:srgbClr val="151515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929292"/>
                </a:solidFill>
                <a:latin typeface="Consolas"/>
              </a:rPr>
              <a:t># out/shakespearetinychar.pt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310128"/>
          <a:ext cx="6766559" cy="20299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2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Why you cannot omit it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B54408"/>
                          </a:solidFill>
                          <a:latin typeface="Consolas"/>
                        </a:rPr>
                        <a:t>model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the weights — obviously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B54408"/>
                          </a:solidFill>
                          <a:latin typeface="Consolas"/>
                        </a:rPr>
                        <a:t>cfg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the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shape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, so the same model can be rebuilt. Without it you cannot even load the weights.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B54408"/>
                          </a:solidFill>
                          <a:latin typeface="Consolas"/>
                        </a:rPr>
                        <a:t>tokenizer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without it the numbers can never become text again. The model is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useless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without its tokenizer.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0" y="1298448"/>
            <a:ext cx="409925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150" b="0">
                <a:solidFill>
                  <a:srgbClr val="B54408"/>
                </a:solidFill>
                <a:latin typeface="Consolas"/>
              </a:rPr>
              <a:t>asdict(cfg)</a:t>
            </a:r>
            <a:r>
              <a:rPr sz="1200" b="0">
                <a:solidFill>
                  <a:srgbClr val="151515"/>
                </a:solidFill>
                <a:latin typeface="Segoe UI"/>
              </a:rPr>
              <a:t> stores a </a:t>
            </a:r>
            <a:r>
              <a:rPr sz="1200" b="1">
                <a:solidFill>
                  <a:srgbClr val="151515"/>
                </a:solidFill>
                <a:latin typeface="Segoe UI"/>
              </a:rPr>
              <a:t>plain dict</a:t>
            </a:r>
            <a:r>
              <a:rPr sz="1200" b="0">
                <a:solidFill>
                  <a:srgbClr val="151515"/>
                </a:solidFill>
                <a:latin typeface="Segoe UI"/>
              </a:rPr>
              <a:t>, not a pickled Python object. That is what lets </a:t>
            </a:r>
            <a:r>
              <a:rPr sz="1150" b="0">
                <a:solidFill>
                  <a:srgbClr val="B54408"/>
                </a:solidFill>
                <a:latin typeface="Consolas"/>
              </a:rPr>
              <a:t>generate6.py</a:t>
            </a:r>
            <a:r>
              <a:rPr sz="1200" b="0">
                <a:solidFill>
                  <a:srgbClr val="151515"/>
                </a:solidFill>
                <a:latin typeface="Segoe UI"/>
              </a:rPr>
              <a:t> load with </a:t>
            </a:r>
            <a:r>
              <a:rPr sz="1150" b="0">
                <a:solidFill>
                  <a:srgbClr val="B54408"/>
                </a:solidFill>
                <a:latin typeface="Consolas"/>
              </a:rPr>
              <a:t>weights_only=True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safe against a malicious checkpoint.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The filename is </a:t>
            </a:r>
            <a:r>
              <a:rPr sz="1150" b="0">
                <a:solidFill>
                  <a:srgbClr val="B54408"/>
                </a:solidFill>
                <a:latin typeface="Consolas"/>
              </a:rPr>
              <a:t>&lt;dataset&gt;&lt;name&gt;&lt;tokenizer&gt;.pt</a:t>
            </a:r>
            <a:r>
              <a:rPr sz="1200" b="0">
                <a:solidFill>
                  <a:srgbClr val="151515"/>
                </a:solidFill>
                <a:latin typeface="Segoe UI"/>
              </a:rPr>
              <a:t>, so </a:t>
            </a:r>
            <a:r>
              <a:rPr sz="1150" b="0">
                <a:solidFill>
                  <a:srgbClr val="B54408"/>
                </a:solidFill>
                <a:latin typeface="Consolas"/>
              </a:rPr>
              <a:t>shakespearesmallchar.pt</a:t>
            </a:r>
            <a:r>
              <a:rPr sz="1200" b="0">
                <a:solidFill>
                  <a:srgbClr val="151515"/>
                </a:solidFill>
                <a:latin typeface="Segoe UI"/>
              </a:rPr>
              <a:t> and </a:t>
            </a:r>
            <a:r>
              <a:rPr sz="1150" b="0">
                <a:solidFill>
                  <a:srgbClr val="B54408"/>
                </a:solidFill>
                <a:latin typeface="Consolas"/>
              </a:rPr>
              <a:t>codingsmallbpe.pt</a:t>
            </a:r>
            <a:r>
              <a:rPr sz="1200" b="0">
                <a:solidFill>
                  <a:srgbClr val="151515"/>
                </a:solidFill>
                <a:latin typeface="Segoe UI"/>
              </a:rPr>
              <a:t> sit side by side in one folder without colliding.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950208"/>
            <a:ext cx="4099255" cy="16459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27264" y="4096512"/>
            <a:ext cx="36420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ERROR THIS DESIGN PREVENTS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4379976"/>
            <a:ext cx="3642055" cy="1106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B54408"/>
                </a:solidFill>
                <a:latin typeface="Consolas"/>
              </a:rPr>
              <a:t>size mismatch for tok_emb.weight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The classic: train with </a:t>
            </a:r>
            <a:r>
              <a:rPr sz="1200" b="0">
                <a:solidFill>
                  <a:srgbClr val="B54408"/>
                </a:solidFill>
                <a:latin typeface="Consolas"/>
              </a:rPr>
              <a:t>SMALL</a:t>
            </a:r>
            <a:r>
              <a:rPr sz="1250" b="0">
                <a:solidFill>
                  <a:srgbClr val="151515"/>
                </a:solidFill>
                <a:latin typeface="Segoe UI"/>
              </a:rPr>
              <a:t>, then generate while </a:t>
            </a:r>
            <a:r>
              <a:rPr sz="1200" b="0">
                <a:solidFill>
                  <a:srgbClr val="B54408"/>
                </a:solidFill>
                <a:latin typeface="Consolas"/>
              </a:rPr>
              <a:t>config1.py</a:t>
            </a:r>
            <a:r>
              <a:rPr sz="1250" b="0">
                <a:solidFill>
                  <a:srgbClr val="151515"/>
                </a:solidFill>
                <a:latin typeface="Segoe UI"/>
              </a:rPr>
              <a:t> still says </a:t>
            </a:r>
            <a:r>
              <a:rPr sz="1200" b="0">
                <a:solidFill>
                  <a:srgbClr val="B54408"/>
                </a:solidFill>
                <a:latin typeface="Consolas"/>
              </a:rPr>
              <a:t>TINY</a:t>
            </a:r>
            <a:r>
              <a:rPr sz="1250" b="0">
                <a:solidFill>
                  <a:srgbClr val="151515"/>
                </a:solidFill>
                <a:latin typeface="Segoe UI"/>
              </a:rPr>
              <a:t>. Because the shape comes from the </a:t>
            </a:r>
            <a:r>
              <a:rPr sz="1250" b="1">
                <a:solidFill>
                  <a:srgbClr val="151515"/>
                </a:solidFill>
                <a:latin typeface="Segoe UI"/>
              </a:rPr>
              <a:t>checkpoint</a:t>
            </a:r>
            <a:r>
              <a:rPr sz="1250" b="0">
                <a:solidFill>
                  <a:srgbClr val="151515"/>
                </a:solidFill>
                <a:latin typeface="Segoe UI"/>
              </a:rPr>
              <a:t> and never from the config file, it cannot happen here.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WHY PYTORCH AND NOT TENSORFLOW?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An honest answer — it is a tooling choice, not a maths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58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5854" cy="4059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2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5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/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PyTorch  </a:t>
                      </a:r>
                      <a:r>
                        <a:rPr sz="1050" b="1" i="1">
                          <a:solidFill>
                            <a:srgbClr val="FFFFFF"/>
                          </a:solidFill>
                          <a:latin typeface="Segoe UI"/>
                        </a:rPr>
                        <a:t>(what we use)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TensorFlow / Keras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JAX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Execution model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Define-by-run.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 The graph is built as Python executes, so </a:t>
                      </a:r>
                      <a:r>
                        <a:rPr sz="950" b="0">
                          <a:solidFill>
                            <a:srgbClr val="B54408"/>
                          </a:solidFill>
                          <a:latin typeface="Consolas"/>
                        </a:rPr>
                        <a:t>print(x.shape)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 inside </a:t>
                      </a:r>
                      <a:r>
                        <a:rPr sz="950" b="0">
                          <a:solidFill>
                            <a:srgbClr val="B54408"/>
                          </a:solidFill>
                          <a:latin typeface="Consolas"/>
                        </a:rPr>
                        <a:t>forward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 just works and you can set a breakpoint mid-attention.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TF1 was define-then-run, which made debugging genuinely painful. TF2 + Keras is eager by default now and much better — but the research world had already moved.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Functional + JIT-compiled. Extremely fast, but </a:t>
                      </a:r>
                      <a:r>
                        <a:rPr sz="950" b="0">
                          <a:solidFill>
                            <a:srgbClr val="B54408"/>
                          </a:solidFill>
                          <a:latin typeface="Consolas"/>
                        </a:rPr>
                        <a:t>jit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 makes printing and debugging indirect.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Teaching fit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B54408"/>
                          </a:solidFill>
                          <a:latin typeface="Consolas"/>
                        </a:rPr>
                        <a:t>nn.Module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 maps 1:1 onto the boxes you draw on the whiteboard. </a:t>
                      </a:r>
                      <a:r>
                        <a:rPr sz="950" b="0">
                          <a:solidFill>
                            <a:srgbClr val="B54408"/>
                          </a:solidFill>
                          <a:latin typeface="Consolas"/>
                        </a:rPr>
                        <a:t>loss.backward()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 and you can inspect </a:t>
                      </a:r>
                      <a:r>
                        <a:rPr sz="950" b="0">
                          <a:solidFill>
                            <a:srgbClr val="B54408"/>
                          </a:solidFill>
                          <a:latin typeface="Consolas"/>
                        </a:rPr>
                        <a:t>.grad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 yourself.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Keras hides the loop behind </a:t>
                      </a:r>
                      <a:r>
                        <a:rPr sz="950" b="0">
                          <a:solidFill>
                            <a:srgbClr val="B54408"/>
                          </a:solidFill>
                          <a:latin typeface="Consolas"/>
                        </a:rPr>
                        <a:t>model.fit()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. Excellent for productivity, </a:t>
                      </a: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wrong for this session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 — the loop </a:t>
                      </a:r>
                      <a:r>
                        <a:rPr sz="1000" b="0" i="1">
                          <a:solidFill>
                            <a:srgbClr val="151515"/>
                          </a:solidFill>
                          <a:latin typeface="Segoe UI"/>
                        </a:rPr>
                        <a:t>is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 the lesson.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Requires understanding pure functions, PRNG keys and </a:t>
                      </a:r>
                      <a:r>
                        <a:rPr sz="950" b="0">
                          <a:solidFill>
                            <a:srgbClr val="B54408"/>
                          </a:solidFill>
                          <a:latin typeface="Consolas"/>
                        </a:rPr>
                        <a:t>vmap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 before you write a transformer.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Ecosystem today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Nearly every new open model ships PyTorch weights first — Llama, Mistral, Qwen, DeepSeek, gpt-oss. HuggingFace is PyTorch-first.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Strongest in </a:t>
                      </a: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production serving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: TF Serving, TFLite, TF.js, and a long history of mobile/edge deployment.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The frontier choice inside Google/DeepMind — Gemini is trained on JAX + TPU.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This project specifically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The lineage is Karpathy's nanoGPT, which is PyTorch. Modal's GPU images ship torch. </a:t>
                      </a:r>
                      <a:r>
                        <a:rPr sz="950" b="0">
                          <a:solidFill>
                            <a:srgbClr val="B54408"/>
                          </a:solidFill>
                          <a:latin typeface="Consolas"/>
                        </a:rPr>
                        <a:t>pip install torch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 and you are done.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Would work fine — the maths is identical — but every tutorial the students will read next is in PyTorch.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TPU-oriented; overkill for one L4 and ~700 teaching lines.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5216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5C5C5C"/>
                </a:solidFill>
                <a:latin typeface="Segoe UI"/>
              </a:rPr>
              <a:t>Be fair about this in class:</a:t>
            </a:r>
            <a:r>
              <a:rPr sz="1200" b="0">
                <a:solidFill>
                  <a:srgbClr val="5C5C5C"/>
                </a:solidFill>
                <a:latin typeface="Segoe UI"/>
              </a:rPr>
              <a:t> a transformer is the same maths in all three. Choose PyTorch here because it is the most </a:t>
            </a:r>
            <a:r>
              <a:rPr sz="1200" b="0" i="1">
                <a:solidFill>
                  <a:srgbClr val="5C5C5C"/>
                </a:solidFill>
                <a:latin typeface="Segoe UI"/>
              </a:rPr>
              <a:t>readable</a:t>
            </a:r>
            <a:r>
              <a:rPr sz="1200" b="0">
                <a:solidFill>
                  <a:srgbClr val="5C5C5C"/>
                </a:solidFill>
                <a:latin typeface="Segoe UI"/>
              </a:rPr>
              <a:t> and the most likely to match whatever the students open next.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FILE</a:t>
            </a:r>
          </a:p>
          <a:p>
            <a:pPr>
              <a:spcBef>
                <a:spcPts val="0"/>
              </a:spcBef>
            </a:pPr>
            <a:r>
              <a:rPr sz="9600" b="1">
                <a:solidFill>
                  <a:srgbClr val="E8590C"/>
                </a:solidFill>
                <a:latin typeface="Segoe U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6280" y="2084831"/>
            <a:ext cx="707105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>
                <a:solidFill>
                  <a:srgbClr val="151515"/>
                </a:solidFill>
                <a:latin typeface="Segoe UI"/>
              </a:rPr>
              <a:t>generate6.py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2852928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6280" y="3063240"/>
            <a:ext cx="70710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>
                <a:solidFill>
                  <a:srgbClr val="5C5C5C"/>
                </a:solidFill>
                <a:latin typeface="Segoe UI"/>
              </a:rPr>
              <a:t>Making ARGPT write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3794760"/>
            <a:ext cx="70710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Predict one token, append it, repeat — there is no plan and no draft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temperature and top_k are the only two knobs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Why the same prompt gives different text every single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GENERATE6.PY  · 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Predict, append, repeat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60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675120" cy="23774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23774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6309359" cy="21671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for _ in range(max_new_tokens):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window = idx[:, -model.cfg.block_size:] </a:t>
            </a:r>
            <a:r>
              <a:rPr sz="1100" b="0">
                <a:solidFill>
                  <a:srgbClr val="B54408"/>
                </a:solidFill>
                <a:latin typeface="Consolas"/>
              </a:rPr>
              <a:t>  # keep only the newest tokens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logits, _ = model(window)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logits = logits[:, -1, :] / temperature </a:t>
            </a:r>
            <a:r>
              <a:rPr sz="1100" b="0">
                <a:solidFill>
                  <a:srgbClr val="B54408"/>
                </a:solidFill>
                <a:latin typeface="Consolas"/>
              </a:rPr>
              <a:t>  # only the LAST position matters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... top_k filter ...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probs = F.softmax(logits, dim=-1)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next_id = torch.multinomial(probs, 1)   </a:t>
            </a:r>
            <a:r>
              <a:rPr sz="1100" b="0">
                <a:solidFill>
                  <a:srgbClr val="B54408"/>
                </a:solidFill>
                <a:latin typeface="Consolas"/>
              </a:rPr>
              <a:t>  # a weighted dice roll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idx = torch.cat([idx, next_id], dim=1)  </a:t>
            </a:r>
            <a:r>
              <a:rPr sz="1100" b="0">
                <a:solidFill>
                  <a:srgbClr val="B54408"/>
                </a:solidFill>
                <a:latin typeface="Consolas"/>
              </a:rPr>
              <a:t>  # append and go again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5020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"ROMEO"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03320" y="3995928"/>
            <a:ext cx="457200" cy="164592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39502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54408"/>
                </a:solidFill>
                <a:latin typeface="Segoe UI"/>
              </a:rPr>
              <a:t>":"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0740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"ROMEO:"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03320" y="4453128"/>
            <a:ext cx="457200" cy="164592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44074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54408"/>
                </a:solidFill>
                <a:latin typeface="Segoe UI"/>
              </a:rPr>
              <a:t>"\n"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6460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"ROMEO:\n"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03320" y="4910328"/>
            <a:ext cx="457200" cy="164592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48646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54408"/>
                </a:solidFill>
                <a:latin typeface="Segoe UI"/>
              </a:rPr>
              <a:t>"I"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2180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"ROMEO:\nI"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03320" y="5367528"/>
            <a:ext cx="457200" cy="164592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53218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54408"/>
                </a:solidFill>
                <a:latin typeface="Segoe UI"/>
              </a:rPr>
              <a:t>" 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2472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…and so on, one token at a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1298448"/>
            <a:ext cx="419069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150" b="0">
                <a:solidFill>
                  <a:srgbClr val="B54408"/>
                </a:solidFill>
                <a:latin typeface="Consolas"/>
              </a:rPr>
              <a:t>logits[:, -1, :]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the model predicted at </a:t>
            </a:r>
            <a:r>
              <a:rPr sz="1200" b="1">
                <a:solidFill>
                  <a:srgbClr val="151515"/>
                </a:solidFill>
                <a:latin typeface="Segoe UI"/>
              </a:rPr>
              <a:t>every</a:t>
            </a:r>
            <a:r>
              <a:rPr sz="1200" b="0">
                <a:solidFill>
                  <a:srgbClr val="151515"/>
                </a:solidFill>
                <a:latin typeface="Segoe UI"/>
              </a:rPr>
              <a:t> position, but only the last one is about a token that does not exist yet.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150" b="0">
                <a:solidFill>
                  <a:srgbClr val="B54408"/>
                </a:solidFill>
                <a:latin typeface="Consolas"/>
              </a:rPr>
              <a:t>idx[:, -block_size:]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this slice is the hard memory limit, in one line of code.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150" b="0">
                <a:solidFill>
                  <a:srgbClr val="B54408"/>
                </a:solidFill>
                <a:latin typeface="Consolas"/>
              </a:rPr>
              <a:t>torch.cat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the model's own output becomes its next input. That is what </a:t>
            </a:r>
            <a:r>
              <a:rPr sz="1200" b="0" i="1">
                <a:solidFill>
                  <a:srgbClr val="151515"/>
                </a:solidFill>
                <a:latin typeface="Segoe UI"/>
              </a:rPr>
              <a:t>autoregressive</a:t>
            </a:r>
            <a:r>
              <a:rPr sz="1200" b="0">
                <a:solidFill>
                  <a:srgbClr val="151515"/>
                </a:solidFill>
                <a:latin typeface="Segoe UI"/>
              </a:rPr>
              <a:t> means.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0" y="3950208"/>
            <a:ext cx="4190695" cy="237744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35824" y="4096512"/>
            <a:ext cx="37334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HONEST DESCRIPTION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824" y="4379976"/>
            <a:ext cx="3733495" cy="1837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There is </a:t>
            </a:r>
            <a:r>
              <a:rPr sz="1250" b="1">
                <a:solidFill>
                  <a:srgbClr val="151515"/>
                </a:solidFill>
                <a:latin typeface="Segoe UI"/>
              </a:rPr>
              <a:t>no plan, no draft, and no memory</a:t>
            </a:r>
            <a:r>
              <a:rPr sz="1250" b="0">
                <a:solidFill>
                  <a:srgbClr val="151515"/>
                </a:solidFill>
                <a:latin typeface="Segoe UI"/>
              </a:rPr>
              <a:t> beyond the last </a:t>
            </a:r>
            <a:r>
              <a:rPr sz="1200" b="0">
                <a:solidFill>
                  <a:srgbClr val="B54408"/>
                </a:solidFill>
                <a:latin typeface="Consolas"/>
              </a:rPr>
              <a:t>block_size</a:t>
            </a:r>
            <a:r>
              <a:rPr sz="1250" b="0">
                <a:solidFill>
                  <a:srgbClr val="151515"/>
                </a:solidFill>
                <a:latin typeface="Segoe UI"/>
              </a:rPr>
              <a:t> tokens. The model is not composing a sentence — it is making one local choice, then forgetting that it made it and doing it again.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Everything that looks like intent is the accumulated weight of those local choices.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DRY RUN  ·  TEMPERATURE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same four logits, three different personalities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61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85855" cy="7772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7772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ONE POSITION, FOUR CANDIDATE NEXT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73351"/>
            <a:ext cx="10820095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Consolas"/>
              </a:rPr>
              <a:t>logits = [2.0, 1.0, 0.5, 0.1]     for tokens:  "the"   "a"   "my"   "thy"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350008"/>
          <a:ext cx="11185853" cy="3054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4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3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3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14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temperature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"the"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"a"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"my"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"thy"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Behaviour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0.2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 safe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99.27%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0.67%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0.05%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0.01%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Almost deterministic. Picks the favourite nearly every time — and therefore </a:t>
                      </a: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repeats itself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, often getting stuck in a loop.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0.8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 the default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65.24%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18.69%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10.00%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6.07%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The sweet spot. Usually sensible, occasionally surprising. This is what </a:t>
                      </a:r>
                      <a:r>
                        <a:rPr sz="1030" b="0">
                          <a:solidFill>
                            <a:srgbClr val="B54408"/>
                          </a:solidFill>
                          <a:latin typeface="Consolas"/>
                        </a:rPr>
                        <a:t>generate6.py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ships with.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1.0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 raw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57.45%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21.14%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12.82%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8.59%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The model's honest, unmodified distribution. Nothing is being reshaped.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1.5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 chaotic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46.23%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23.74%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17.01%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13.03%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The distribution is flattened, so unlikely tokens get real chances. Creative, then quickly incoherent.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5596127"/>
            <a:ext cx="11185855" cy="109728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5742431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WHAT TEMPERATURE ACTUALLY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6025895"/>
            <a:ext cx="10728655" cy="557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B54408"/>
                </a:solidFill>
                <a:latin typeface="Consolas"/>
              </a:rPr>
              <a:t>logits / temperature</a:t>
            </a:r>
            <a:r>
              <a:rPr sz="1250" b="0">
                <a:solidFill>
                  <a:srgbClr val="151515"/>
                </a:solidFill>
                <a:latin typeface="Segoe UI"/>
              </a:rPr>
              <a:t>, </a:t>
            </a:r>
            <a:r>
              <a:rPr sz="1250" b="1">
                <a:solidFill>
                  <a:srgbClr val="151515"/>
                </a:solidFill>
                <a:latin typeface="Segoe UI"/>
              </a:rPr>
              <a:t>before</a:t>
            </a:r>
            <a:r>
              <a:rPr sz="1250" b="0">
                <a:solidFill>
                  <a:srgbClr val="151515"/>
                </a:solidFill>
                <a:latin typeface="Segoe UI"/>
              </a:rPr>
              <a:t> softmax. Dividing by a small number spreads the scores apart, so softmax sharpens. Dividing by a large number squashes them together, so softmax flattens. That is the entire implementation — one division.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DRY RUN  ·  TOP-K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Cutting off the tail before you roll the dice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62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85855" cy="86868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10820095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kth = torch.topk(logits, min(top_k, logits.size(-1))).values[:, [-1]]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0">
                <a:solidFill>
                  <a:srgbClr val="151515"/>
                </a:solidFill>
                <a:latin typeface="Consolas"/>
              </a:rPr>
              <a:t>logits[logits &lt; kth] = float("-inf")   </a:t>
            </a:r>
            <a:r>
              <a:rPr sz="1200" b="0">
                <a:solidFill>
                  <a:srgbClr val="B54408"/>
                </a:solidFill>
                <a:latin typeface="Consolas"/>
              </a:rPr>
              <a:t>  # everything outside the top k is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4144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TOP_K = 3, ON A SIX-TOKEN 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999232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token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280720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the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4872" y="280720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6664" y="280720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my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48456" y="280720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thy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280720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zzq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807208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3621024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logit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3429000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2.0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04872" y="3429000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1.0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26664" y="3429000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0.5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48456" y="3429000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0.1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29000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-3.0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3429000"/>
            <a:ext cx="62179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-4.1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4242816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after top-k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4050791"/>
            <a:ext cx="621792" cy="62179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2.0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04872" y="4050791"/>
            <a:ext cx="621792" cy="62179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1.0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26664" y="4050791"/>
            <a:ext cx="621792" cy="621792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51515"/>
                </a:solidFill>
                <a:latin typeface="Consolas"/>
              </a:rPr>
              <a:t>0.5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48456" y="4050791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−inf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4050791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−inf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4050791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−inf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" y="4864607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sampled from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83080" y="4672583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65%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04872" y="4672583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24%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26664" y="4672583"/>
            <a:ext cx="621792" cy="621792"/>
          </a:xfrm>
          <a:prstGeom prst="rect">
            <a:avLst/>
          </a:prstGeom>
          <a:solidFill>
            <a:srgbClr val="FFE4D1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51515"/>
                </a:solidFill>
                <a:latin typeface="Consolas"/>
              </a:rPr>
              <a:t>11%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48456" y="4672583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4672583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92040" y="4672583"/>
            <a:ext cx="621792" cy="621792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807208"/>
            <a:ext cx="5425135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Without top-k, a token with a </a:t>
            </a:r>
            <a:r>
              <a:rPr sz="1200" b="1">
                <a:solidFill>
                  <a:srgbClr val="151515"/>
                </a:solidFill>
                <a:latin typeface="Segoe UI"/>
              </a:rPr>
              <a:t>0.01% chance still gets picked once every 10,000 tokens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and one absurd token derails the whole paragraph after it.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top-k caps how bad the worst case can be, while leaving temperature free to control variety among sensible options.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The modern alternative is </a:t>
            </a:r>
            <a:r>
              <a:rPr sz="1200" b="1">
                <a:solidFill>
                  <a:srgbClr val="151515"/>
                </a:solidFill>
                <a:latin typeface="Segoe UI"/>
              </a:rPr>
              <a:t>top-p / nucleus sampling</a:t>
            </a:r>
            <a:r>
              <a:rPr sz="1200" b="0">
                <a:solidFill>
                  <a:srgbClr val="151515"/>
                </a:solidFill>
                <a:latin typeface="Segoe UI"/>
              </a:rPr>
              <a:t>: keep the smallest set of tokens whose probabilities sum to p (say 0.9). It adapts — narrow when the model is confident, wide when it is not.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GENERATE6.PY  ·  LOAD_ARGPT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Why the same prompt never gives the same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63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5364327" cy="173736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7373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4998567" cy="1527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ckpt = torch.load(path, map_location=device,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                  weights_only=True)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model = ARGPT(Config(**ckpt["cfg"])).to(device)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model.load_state_dict(ckpt["model"])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model.eval()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10128"/>
            <a:ext cx="5364327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The shape comes from </a:t>
            </a:r>
            <a:r>
              <a:rPr sz="1150" b="0">
                <a:solidFill>
                  <a:srgbClr val="B54408"/>
                </a:solidFill>
                <a:latin typeface="Consolas"/>
              </a:rPr>
              <a:t>ckpt["cfg"]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</a:t>
            </a:r>
            <a:r>
              <a:rPr sz="1200" b="1">
                <a:solidFill>
                  <a:srgbClr val="151515"/>
                </a:solidFill>
                <a:latin typeface="Segoe UI"/>
              </a:rPr>
              <a:t>never</a:t>
            </a:r>
            <a:r>
              <a:rPr sz="1200" b="0">
                <a:solidFill>
                  <a:srgbClr val="151515"/>
                </a:solidFill>
                <a:latin typeface="Segoe UI"/>
              </a:rPr>
              <a:t> from </a:t>
            </a:r>
            <a:r>
              <a:rPr sz="1150" b="0">
                <a:solidFill>
                  <a:srgbClr val="B54408"/>
                </a:solidFill>
                <a:latin typeface="Consolas"/>
              </a:rPr>
              <a:t>config1.py</a:t>
            </a:r>
            <a:r>
              <a:rPr sz="1200" b="0">
                <a:solidFill>
                  <a:srgbClr val="151515"/>
                </a:solidFill>
                <a:latin typeface="Segoe UI"/>
              </a:rPr>
              <a:t>. That is what stops </a:t>
            </a:r>
            <a:r>
              <a:rPr sz="1150" b="0">
                <a:solidFill>
                  <a:srgbClr val="B54408"/>
                </a:solidFill>
                <a:latin typeface="Consolas"/>
              </a:rPr>
              <a:t>size mismatch for tok_emb.weight</a:t>
            </a:r>
            <a:r>
              <a:rPr sz="1200" b="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150" b="0">
                <a:solidFill>
                  <a:srgbClr val="B54408"/>
                </a:solidFill>
                <a:latin typeface="Consolas"/>
              </a:rPr>
              <a:t>weights_only=True</a:t>
            </a:r>
            <a:r>
              <a:rPr sz="1200" b="0">
                <a:solidFill>
                  <a:srgbClr val="151515"/>
                </a:solidFill>
                <a:latin typeface="Segoe UI"/>
              </a:rPr>
              <a:t> refuses to execute arbitrary pickled code. Always use it on a checkpoint you did not create.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150" b="0">
                <a:solidFill>
                  <a:srgbClr val="B54408"/>
                </a:solidFill>
                <a:latin typeface="Consolas"/>
              </a:rPr>
              <a:t>model.eval()</a:t>
            </a:r>
            <a:r>
              <a:rPr sz="1200" b="0">
                <a:solidFill>
                  <a:srgbClr val="151515"/>
                </a:solidFill>
                <a:latin typeface="Segoe UI"/>
              </a:rPr>
              <a:t> turns dropout </a:t>
            </a:r>
            <a:r>
              <a:rPr sz="1200" b="1">
                <a:solidFill>
                  <a:srgbClr val="151515"/>
                </a:solidFill>
                <a:latin typeface="Segoe UI"/>
              </a:rPr>
              <a:t>off</a:t>
            </a:r>
            <a:r>
              <a:rPr sz="1200" b="0">
                <a:solidFill>
                  <a:srgbClr val="151515"/>
                </a:solidFill>
                <a:latin typeface="Segoe UI"/>
              </a:rPr>
              <a:t>. Generating with dropout on gives you a randomly damaged model writing your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298448"/>
            <a:ext cx="53643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RUN IT TWICE, GET TWO DIFFERENT PLAYS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618488"/>
            <a:ext cx="5364327" cy="14173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2191" y="1764792"/>
            <a:ext cx="4907127" cy="1161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The last step is </a:t>
            </a:r>
            <a:r>
              <a:rPr sz="1200" b="0">
                <a:solidFill>
                  <a:srgbClr val="B54408"/>
                </a:solidFill>
                <a:latin typeface="Consolas"/>
              </a:rPr>
              <a:t>torch.multinomial(probs, 1)</a:t>
            </a:r>
            <a:r>
              <a:rPr sz="1250" b="0">
                <a:solidFill>
                  <a:srgbClr val="151515"/>
                </a:solidFill>
                <a:latin typeface="Segoe UI"/>
              </a:rPr>
              <a:t> — a </a:t>
            </a:r>
            <a:r>
              <a:rPr sz="1250" b="1">
                <a:solidFill>
                  <a:srgbClr val="151515"/>
                </a:solidFill>
                <a:latin typeface="Segoe UI"/>
              </a:rPr>
              <a:t>weighted dice roll</a:t>
            </a:r>
            <a:r>
              <a:rPr sz="1250" b="0">
                <a:solidFill>
                  <a:srgbClr val="151515"/>
                </a:solidFill>
                <a:latin typeface="Segoe UI"/>
              </a:rPr>
              <a:t>, not “pick the maximum”. A token with 18% probability is chosen 18% of the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218688"/>
            <a:ext cx="5364327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Set </a:t>
            </a:r>
            <a:r>
              <a:rPr sz="1150" b="0">
                <a:solidFill>
                  <a:srgbClr val="B54408"/>
                </a:solidFill>
                <a:latin typeface="Consolas"/>
              </a:rPr>
              <a:t>temperature</a:t>
            </a:r>
            <a:r>
              <a:rPr sz="1200" b="0">
                <a:solidFill>
                  <a:srgbClr val="151515"/>
                </a:solidFill>
                <a:latin typeface="Segoe UI"/>
              </a:rPr>
              <a:t> very low (0.05) to make it nearly deterministic — and watch it immediately start repeating itself.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150" b="0">
                <a:solidFill>
                  <a:srgbClr val="B54408"/>
                </a:solidFill>
                <a:latin typeface="Consolas"/>
              </a:rPr>
              <a:t>torch.manual_seed(n)</a:t>
            </a:r>
            <a:r>
              <a:rPr sz="1200" b="0">
                <a:solidFill>
                  <a:srgbClr val="151515"/>
                </a:solidFill>
                <a:latin typeface="Segoe UI"/>
              </a:rPr>
              <a:t> before generating makes it exactly reproducible, which is useful when a student reports “mine looks different”.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This is also true of ChatGPT. Sampling is why you get a different answer to the same question — it is a feature, not a bug.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FILE</a:t>
            </a:r>
          </a:p>
          <a:p>
            <a:pPr>
              <a:spcBef>
                <a:spcPts val="0"/>
              </a:spcBef>
            </a:pPr>
            <a:r>
              <a:rPr sz="9600" b="1">
                <a:solidFill>
                  <a:srgbClr val="E8590C"/>
                </a:solidFill>
                <a:latin typeface="Segoe U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6280" y="2084831"/>
            <a:ext cx="707105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>
                <a:solidFill>
                  <a:srgbClr val="151515"/>
                </a:solidFill>
                <a:latin typeface="Segoe UI"/>
              </a:rPr>
              <a:t>modal_app7.py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2852928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6280" y="3063240"/>
            <a:ext cx="70710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>
                <a:solidFill>
                  <a:srgbClr val="5C5C5C"/>
                </a:solidFill>
                <a:latin typeface="Segoe UI"/>
              </a:rPr>
              <a:t>The same code, on a real GPU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3794760"/>
            <a:ext cx="70710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train5.py's train() is imported and called exactly as on your laptop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Only WHERE it runs changes — .remote() is the entire difference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An L4 costs $0.80/hour, billed by the second. A full run is ~13 cents.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MODAL_APP7.PY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Count how many lines of this file are about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65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766560" cy="26060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26060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6400800" cy="2395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@app.function(image=image, gpu="L4", volumes={"/ckpt": vol},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          timeout=60 * 60)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def train_on_gpu(dataset="shakespeare", ...):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from config1 import SMALL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from data3 import prepare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from train5 import train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00" b="0">
              <a:solidFill>
                <a:srgbClr val="151515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cfg = replace(SMALL, dataset=dataset, data_dir="/ckpt/data", ...)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prepare(dataset, tokenizer, data_dir="/ckpt/data")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train(cfg)        </a:t>
            </a:r>
            <a:r>
              <a:rPr sz="1100" b="0">
                <a:solidFill>
                  <a:srgbClr val="B54408"/>
                </a:solidFill>
                <a:latin typeface="Consolas"/>
              </a:rPr>
              <a:t>  # &lt;- the exact same function, not a copy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vol.commit()      </a:t>
            </a:r>
            <a:r>
              <a:rPr sz="1100" b="0">
                <a:solidFill>
                  <a:srgbClr val="B54408"/>
                </a:solidFill>
                <a:latin typeface="Consolas"/>
              </a:rPr>
              <a:t>  # &lt;- WITHOUT THIS THE CHECKPOINT IS LOST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298448"/>
            <a:ext cx="40992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THE ANSWER: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591056"/>
            <a:ext cx="409925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B54408"/>
                </a:solidFill>
                <a:latin typeface="Consolas"/>
              </a:rPr>
              <a:t>train(cfg)</a:t>
            </a:r>
            <a:r>
              <a:rPr sz="1250" b="0">
                <a:solidFill>
                  <a:srgbClr val="151515"/>
                </a:solidFill>
                <a:latin typeface="Segoe UI"/>
              </a:rPr>
              <a:t>. Everything else is infrastructure. </a:t>
            </a:r>
            <a:r>
              <a:rPr sz="1250" b="1">
                <a:solidFill>
                  <a:srgbClr val="151515"/>
                </a:solidFill>
                <a:latin typeface="Segoe UI"/>
              </a:rPr>
              <a:t>Nothing about ARGPT changes to run on a GPU</a:t>
            </a:r>
            <a:r>
              <a:rPr sz="1250" b="0">
                <a:solidFill>
                  <a:srgbClr val="151515"/>
                </a:solidFill>
                <a:latin typeface="Segoe UI"/>
              </a:rPr>
              <a:t> — that is the lesson of this file.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89520" y="2670048"/>
          <a:ext cx="4099254" cy="2596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3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5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Piece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it is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B54408"/>
                          </a:solidFill>
                          <a:latin typeface="Consolas"/>
                        </a:rPr>
                        <a:t>image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the recipe for the machine — Debian + Python 3.11 + torch. Built </a:t>
                      </a:r>
                      <a:r>
                        <a:rPr sz="1050" b="1">
                          <a:solidFill>
                            <a:srgbClr val="151515"/>
                          </a:solidFill>
                          <a:latin typeface="Segoe UI"/>
                        </a:rPr>
                        <a:t>once</a:t>
                      </a: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 and cached.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B54408"/>
                          </a:solidFill>
                          <a:latin typeface="Consolas"/>
                        </a:rPr>
                        <a:t>vol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a disk that </a:t>
                      </a:r>
                      <a:r>
                        <a:rPr sz="1050" b="1">
                          <a:solidFill>
                            <a:srgbClr val="151515"/>
                          </a:solidFill>
                          <a:latin typeface="Segoe UI"/>
                        </a:rPr>
                        <a:t>survives</a:t>
                      </a: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 after the container is destroyed.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B54408"/>
                          </a:solidFill>
                          <a:latin typeface="Consolas"/>
                        </a:rPr>
                        <a:t>.remote()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runs on Modal's GPU. </a:t>
                      </a:r>
                      <a:r>
                        <a:rPr sz="1000" b="0">
                          <a:solidFill>
                            <a:srgbClr val="B54408"/>
                          </a:solidFill>
                          <a:latin typeface="Consolas"/>
                        </a:rPr>
                        <a:t>.local()</a:t>
                      </a: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 would run right here. Same function.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B54408"/>
                          </a:solidFill>
                          <a:latin typeface="Consolas"/>
                        </a:rPr>
                        <a:t>timeout=3600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Modal's default is 300 s. A training run is longer.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02920" y="4178808"/>
            <a:ext cx="6766560" cy="14173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4325112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VOL.COMMIT() IS NOT OPTIONAL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4608576"/>
            <a:ext cx="630936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A Modal container is destroyed when the function returns. Anything written to its local filesystem </a:t>
            </a:r>
            <a:r>
              <a:rPr sz="1250" b="1">
                <a:solidFill>
                  <a:srgbClr val="151515"/>
                </a:solidFill>
                <a:latin typeface="Segoe UI"/>
              </a:rPr>
              <a:t>dies with it</a:t>
            </a:r>
            <a:r>
              <a:rPr sz="1250" b="0">
                <a:solidFill>
                  <a:srgbClr val="151515"/>
                </a:solidFill>
                <a:latin typeface="Segoe UI"/>
              </a:rPr>
              <a:t>. </a:t>
            </a:r>
            <a:r>
              <a:rPr sz="1200" b="0">
                <a:solidFill>
                  <a:srgbClr val="B54408"/>
                </a:solidFill>
                <a:latin typeface="Consolas"/>
              </a:rPr>
              <a:t>vol.commit()</a:t>
            </a:r>
            <a:r>
              <a:rPr sz="1250" b="0">
                <a:solidFill>
                  <a:srgbClr val="151515"/>
                </a:solidFill>
                <a:latin typeface="Segoe UI"/>
              </a:rPr>
              <a:t> flushes the checkpoint to the persistent Volume. Forget it and your ten-minute GPU run produces nothing — and the error message is silence.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MODAL_APP7.PY  ·  THE PRACTICAL 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Cost, the image build, and the trap that bites everyone once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484778" cy="45720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L4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92807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51515"/>
                </a:solidFill>
                <a:latin typeface="Segoe UI"/>
              </a:rPr>
              <a:t>$0.80 /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32888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billed </a:t>
            </a:r>
            <a:r>
              <a:rPr sz="1150" b="1">
                <a:solidFill>
                  <a:srgbClr val="5C5C5C"/>
                </a:solidFill>
                <a:latin typeface="Segoe UI"/>
              </a:rPr>
              <a:t>by the second</a:t>
            </a:r>
            <a:r>
              <a:rPr sz="1150" b="0">
                <a:solidFill>
                  <a:srgbClr val="5C5C5C"/>
                </a:solidFill>
                <a:latin typeface="Segoe UI"/>
              </a:rPr>
              <a:t>, not by the 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458" y="1298448"/>
            <a:ext cx="3484778" cy="45720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A 10-minute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1892807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51515"/>
                </a:solidFill>
                <a:latin typeface="Segoe UI"/>
              </a:rPr>
              <a:t>≈ 13 cents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3458" y="2532888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the whole class fits in the free 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03996" y="1298448"/>
            <a:ext cx="3484778" cy="45720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Modal free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1892807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51515"/>
                </a:solidFill>
                <a:latin typeface="Segoe UI"/>
              </a:rPr>
              <a:t>$30 /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532888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≈ </a:t>
            </a:r>
            <a:r>
              <a:rPr sz="1150" b="1">
                <a:solidFill>
                  <a:srgbClr val="5C5C5C"/>
                </a:solidFill>
                <a:latin typeface="Segoe UI"/>
              </a:rPr>
              <a:t>37 hours</a:t>
            </a:r>
            <a:r>
              <a:rPr sz="1150" b="0">
                <a:solidFill>
                  <a:srgbClr val="5C5C5C"/>
                </a:solidFill>
                <a:latin typeface="Segoe UI"/>
              </a:rPr>
              <a:t> of L4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72968"/>
            <a:ext cx="11185855" cy="155448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331927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NEVER NAME A FILE MODAL.PY — TEACH THIS DELIBERATELY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3602736"/>
            <a:ext cx="10728655" cy="1014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A file called </a:t>
            </a:r>
            <a:r>
              <a:rPr sz="1200" b="0">
                <a:solidFill>
                  <a:srgbClr val="B54408"/>
                </a:solidFill>
                <a:latin typeface="Consolas"/>
              </a:rPr>
              <a:t>modal.py</a:t>
            </a:r>
            <a:r>
              <a:rPr sz="1250" b="0">
                <a:solidFill>
                  <a:srgbClr val="151515"/>
                </a:solidFill>
                <a:latin typeface="Segoe UI"/>
              </a:rPr>
              <a:t> in your folder </a:t>
            </a:r>
            <a:r>
              <a:rPr sz="1250" b="1">
                <a:solidFill>
                  <a:srgbClr val="151515"/>
                </a:solidFill>
                <a:latin typeface="Segoe UI"/>
              </a:rPr>
              <a:t>shadows the</a:t>
            </a:r>
            <a:r>
              <a:rPr sz="1250" b="0">
                <a:solidFill>
                  <a:srgbClr val="151515"/>
                </a:solidFill>
                <a:latin typeface="Segoe UI"/>
              </a:rPr>
              <a:t> </a:t>
            </a:r>
            <a:r>
              <a:rPr sz="1200" b="0">
                <a:solidFill>
                  <a:srgbClr val="B54408"/>
                </a:solidFill>
                <a:latin typeface="Consolas"/>
              </a:rPr>
              <a:t>modal</a:t>
            </a:r>
            <a:r>
              <a:rPr sz="1250" b="0">
                <a:solidFill>
                  <a:srgbClr val="151515"/>
                </a:solidFill>
                <a:latin typeface="Segoe UI"/>
              </a:rPr>
              <a:t> </a:t>
            </a:r>
            <a:r>
              <a:rPr sz="1250" b="1">
                <a:solidFill>
                  <a:srgbClr val="151515"/>
                </a:solidFill>
                <a:latin typeface="Segoe UI"/>
              </a:rPr>
              <a:t>package.</a:t>
            </a:r>
            <a:r>
              <a:rPr sz="1250" b="0">
                <a:solidFill>
                  <a:srgbClr val="151515"/>
                </a:solidFill>
                <a:latin typeface="Segoe UI"/>
              </a:rPr>
              <a:t> Python checks the current directory before site-packages, so </a:t>
            </a:r>
            <a:r>
              <a:rPr sz="1200" b="0">
                <a:solidFill>
                  <a:srgbClr val="B54408"/>
                </a:solidFill>
                <a:latin typeface="Consolas"/>
              </a:rPr>
              <a:t>import modal</a:t>
            </a:r>
            <a:r>
              <a:rPr sz="1250" b="0">
                <a:solidFill>
                  <a:srgbClr val="151515"/>
                </a:solidFill>
                <a:latin typeface="Segoe UI"/>
              </a:rPr>
              <a:t> imports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the student's own file</a:t>
            </a:r>
            <a:r>
              <a:rPr sz="1250" b="0">
                <a:solidFill>
                  <a:srgbClr val="151515"/>
                </a:solidFill>
                <a:latin typeface="Segoe UI"/>
              </a:rPr>
              <a:t>, and the very first line fails with: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B54408"/>
                </a:solidFill>
                <a:latin typeface="Consolas"/>
              </a:rPr>
              <a:t>AttributeError: module 'modal' has no attribute 'App'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It is baffling if you have never seen it, and it is a genuine lesson about Python's import order. That is why this file is </a:t>
            </a:r>
            <a:r>
              <a:rPr sz="1200" b="0">
                <a:solidFill>
                  <a:srgbClr val="B54408"/>
                </a:solidFill>
                <a:latin typeface="Consolas"/>
              </a:rPr>
              <a:t>modal_app7.py</a:t>
            </a:r>
            <a:r>
              <a:rPr sz="1250" b="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10328"/>
            <a:ext cx="1118585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0">
                <a:solidFill>
                  <a:srgbClr val="151515"/>
                </a:solidFill>
                <a:latin typeface="Segoe UI"/>
              </a:rPr>
              <a:t>The first </a:t>
            </a:r>
            <a:r>
              <a:rPr sz="1250" b="0">
                <a:solidFill>
                  <a:srgbClr val="B54408"/>
                </a:solidFill>
                <a:latin typeface="Consolas"/>
              </a:rPr>
              <a:t>modal run</a:t>
            </a:r>
            <a:r>
              <a:rPr sz="1300" b="0">
                <a:solidFill>
                  <a:srgbClr val="151515"/>
                </a:solidFill>
                <a:latin typeface="Segoe UI"/>
              </a:rPr>
              <a:t> downloads </a:t>
            </a:r>
            <a:r>
              <a:rPr sz="1300" b="1">
                <a:solidFill>
                  <a:srgbClr val="151515"/>
                </a:solidFill>
                <a:latin typeface="Segoe UI"/>
              </a:rPr>
              <a:t>~2.3 GB of PyTorch</a:t>
            </a:r>
            <a:r>
              <a:rPr sz="1300" b="0">
                <a:solidFill>
                  <a:srgbClr val="151515"/>
                </a:solidFill>
                <a:latin typeface="Segoe UI"/>
              </a:rPr>
              <a:t> into the image. Minutes, </a:t>
            </a:r>
            <a:r>
              <a:rPr sz="1300" b="1">
                <a:solidFill>
                  <a:srgbClr val="151515"/>
                </a:solidFill>
                <a:latin typeface="Segoe UI"/>
              </a:rPr>
              <a:t>once</a:t>
            </a:r>
            <a:r>
              <a:rPr sz="1300" b="0">
                <a:solidFill>
                  <a:srgbClr val="151515"/>
                </a:solidFill>
                <a:latin typeface="Segoe UI"/>
              </a:rPr>
              <a:t>. Run it before class, never live.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0">
                <a:solidFill>
                  <a:srgbClr val="151515"/>
                </a:solidFill>
                <a:latin typeface="Segoe UI"/>
              </a:rPr>
              <a:t>Check the checkpoint survived: </a:t>
            </a:r>
            <a:r>
              <a:rPr sz="1250" b="0">
                <a:solidFill>
                  <a:srgbClr val="B54408"/>
                </a:solidFill>
                <a:latin typeface="Consolas"/>
              </a:rPr>
              <a:t>modal volume ls argpt-checkpoints</a:t>
            </a:r>
            <a:r>
              <a:rPr sz="1300" b="0">
                <a:solidFill>
                  <a:srgbClr val="151515"/>
                </a:solidFill>
                <a:latin typeface="Segoe UI"/>
              </a:rPr>
              <a:t>. Pull it down: </a:t>
            </a:r>
            <a:r>
              <a:rPr sz="1250" b="0">
                <a:solidFill>
                  <a:srgbClr val="B54408"/>
                </a:solidFill>
                <a:latin typeface="Consolas"/>
              </a:rPr>
              <a:t>modal volume get argpt-checkpoints codingsmallbpe.pt out/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FILE</a:t>
            </a:r>
          </a:p>
          <a:p>
            <a:pPr>
              <a:spcBef>
                <a:spcPts val="0"/>
              </a:spcBef>
            </a:pPr>
            <a:r>
              <a:rPr sz="9600" b="1">
                <a:solidFill>
                  <a:srgbClr val="E8590C"/>
                </a:solidFill>
                <a:latin typeface="Segoe U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6280" y="2084831"/>
            <a:ext cx="707105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>
                <a:solidFill>
                  <a:srgbClr val="151515"/>
                </a:solidFill>
                <a:latin typeface="Segoe UI"/>
              </a:rPr>
              <a:t>serve8.py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2852928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6280" y="3063240"/>
            <a:ext cx="70710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>
                <a:solidFill>
                  <a:srgbClr val="5C5C5C"/>
                </a:solidFill>
                <a:latin typeface="Segoe UI"/>
              </a:rPr>
              <a:t>You become the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3794760"/>
            <a:ext cx="70710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Sessions 1-6 you called somebody else's API. Now you are the API.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@modal.enter() runs once per container, not once per request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An idle model costs nothing, because the container scales to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SERVE8.PY  ·  @MODAL.ENTER()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one idea that matters in this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68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309360" cy="246888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24688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5943600" cy="22585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@app.cls(image=image, gpu="L4", volumes={"/ckpt": vol},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     scaledown_window=300)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class ARGPTServer: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00" b="0">
              <a:solidFill>
                <a:srgbClr val="151515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@modal.enter()                   </a:t>
            </a:r>
            <a:r>
              <a:rPr sz="1100" b="0">
                <a:solidFill>
                  <a:srgbClr val="B54408"/>
                </a:solidFill>
                <a:latin typeface="Consolas"/>
              </a:rPr>
              <a:t>  # ONCE per container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def load(self):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    self.model, self.tok = load_argpt(CKPT, device="cuda")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00" b="0">
              <a:solidFill>
                <a:srgbClr val="151515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@modal.fastapi_endpoint(method="POST")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def chat(self, item: dict):      </a:t>
            </a:r>
            <a:r>
              <a:rPr sz="1100" b="0">
                <a:solidFill>
                  <a:srgbClr val="B54408"/>
                </a:solidFill>
                <a:latin typeface="Consolas"/>
              </a:rPr>
              <a:t>  # once per REQUEST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        text = generate(self.model, self.tok, 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298448"/>
            <a:ext cx="45564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WITH @MODAL.ENTER()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18488"/>
            <a:ext cx="1920240" cy="41148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load weights  4s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618488"/>
            <a:ext cx="566928" cy="411480"/>
          </a:xfrm>
          <a:prstGeom prst="roundRect">
            <a:avLst>
              <a:gd name="adj" fmla="val 12000"/>
            </a:avLst>
          </a:prstGeom>
          <a:solidFill>
            <a:srgbClr val="FFE4D1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51515"/>
                </a:solidFill>
                <a:latin typeface="Segoe UI"/>
              </a:rPr>
              <a:t>0.3s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65792" y="1618488"/>
            <a:ext cx="566928" cy="411480"/>
          </a:xfrm>
          <a:prstGeom prst="roundRect">
            <a:avLst>
              <a:gd name="adj" fmla="val 12000"/>
            </a:avLst>
          </a:prstGeom>
          <a:solidFill>
            <a:srgbClr val="FFE4D1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51515"/>
                </a:solidFill>
                <a:latin typeface="Segoe UI"/>
              </a:rPr>
              <a:t>0.3s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87584" y="1618488"/>
            <a:ext cx="566928" cy="411480"/>
          </a:xfrm>
          <a:prstGeom prst="roundRect">
            <a:avLst>
              <a:gd name="adj" fmla="val 12000"/>
            </a:avLst>
          </a:prstGeom>
          <a:solidFill>
            <a:srgbClr val="FFE4D1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51515"/>
                </a:solidFill>
                <a:latin typeface="Segoe UI"/>
              </a:rPr>
              <a:t>0.3s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09376" y="1618488"/>
            <a:ext cx="566928" cy="411480"/>
          </a:xfrm>
          <a:prstGeom prst="roundRect">
            <a:avLst>
              <a:gd name="adj" fmla="val 12000"/>
            </a:avLst>
          </a:prstGeom>
          <a:solidFill>
            <a:srgbClr val="FFE4D1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51515"/>
                </a:solidFill>
                <a:latin typeface="Segoe UI"/>
              </a:rPr>
              <a:t>0.3s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304288"/>
            <a:ext cx="45564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WITHOUT IT — LOAD INSIDE CHAT()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624328"/>
            <a:ext cx="14173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51515"/>
                </a:solidFill>
                <a:latin typeface="Segoe UI"/>
              </a:rPr>
              <a:t>load + 0.3s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13648" y="2624328"/>
            <a:ext cx="14173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51515"/>
                </a:solidFill>
                <a:latin typeface="Segoe UI"/>
              </a:rPr>
              <a:t>load + 0.3s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94976" y="2624328"/>
            <a:ext cx="14173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51515"/>
                </a:solidFill>
                <a:latin typeface="Segoe UI"/>
              </a:rPr>
              <a:t>load + 0.3s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27248"/>
            <a:ext cx="4556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B54408"/>
                </a:solidFill>
                <a:latin typeface="Segoe UI"/>
              </a:rPr>
              <a:t>every single request pays the 4-second load again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447288"/>
            <a:ext cx="4556455" cy="214884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0064" y="3593592"/>
            <a:ext cx="40992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EXERCISE WORTH SETTING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3877056"/>
            <a:ext cx="4099255" cy="16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Delete </a:t>
            </a:r>
            <a:r>
              <a:rPr sz="1200" b="0">
                <a:solidFill>
                  <a:srgbClr val="B54408"/>
                </a:solidFill>
                <a:latin typeface="Consolas"/>
              </a:rPr>
              <a:t>@modal.enter()</a:t>
            </a:r>
            <a:r>
              <a:rPr sz="1250" b="0">
                <a:solidFill>
                  <a:srgbClr val="151515"/>
                </a:solidFill>
                <a:latin typeface="Segoe UI"/>
              </a:rPr>
              <a:t>, move the load into </a:t>
            </a:r>
            <a:r>
              <a:rPr sz="1200" b="0">
                <a:solidFill>
                  <a:srgbClr val="B54408"/>
                </a:solidFill>
                <a:latin typeface="Consolas"/>
              </a:rPr>
              <a:t>chat()</a:t>
            </a:r>
            <a:r>
              <a:rPr sz="1250" b="0">
                <a:solidFill>
                  <a:srgbClr val="151515"/>
                </a:solidFill>
                <a:latin typeface="Segoe UI"/>
              </a:rPr>
              <a:t>, and time both. That comparison teaches more about server design than any explanation you could give — and it generalises to every model server the students will ever write.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087368"/>
            <a:ext cx="6309360" cy="12344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4087368"/>
            <a:ext cx="41148" cy="12344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" y="420624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TESTING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462272"/>
            <a:ext cx="5943600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curl -X POST &lt;your-url&gt; \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-H "Content-Type: application/json" \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 b="0">
                <a:solidFill>
                  <a:srgbClr val="151515"/>
                </a:solidFill>
                <a:latin typeface="Consolas"/>
              </a:rPr>
              <a:t>  -d '{"prompt": "ROMEO:", "max_tokens": 200}'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SERVE8.PY  ·  SCALING TO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Why an idle model is free, and what it costs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69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98448"/>
            <a:ext cx="1920240" cy="658368"/>
          </a:xfrm>
          <a:prstGeom prst="roundRect">
            <a:avLst>
              <a:gd name="adj" fmla="val 12000"/>
            </a:avLst>
          </a:prstGeom>
          <a:solidFill>
            <a:srgbClr val="FFF2E8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request arrives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5C5C5C"/>
                </a:solidFill>
                <a:latin typeface="Segoe UI"/>
              </a:rPr>
              <a:t>container starts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24912" y="1536192"/>
            <a:ext cx="201168" cy="182880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53512" y="1298448"/>
            <a:ext cx="1920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cold start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5C5C5C"/>
                </a:solidFill>
                <a:latin typeface="Segoe UI"/>
              </a:rPr>
              <a:t>~10-20s, weights load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01184" y="1536192"/>
            <a:ext cx="201168" cy="182880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29783" y="1298448"/>
            <a:ext cx="1920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serving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5C5C5C"/>
                </a:solidFill>
                <a:latin typeface="Segoe UI"/>
              </a:rPr>
              <a:t>0.3s per request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77455" y="1536192"/>
            <a:ext cx="201168" cy="182880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06055" y="1298448"/>
            <a:ext cx="1920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5 min idle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5C5C5C"/>
                </a:solidFill>
                <a:latin typeface="Segoe UI"/>
              </a:rPr>
              <a:t>container stops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53728" y="1536192"/>
            <a:ext cx="201168" cy="182880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482328" y="1298448"/>
            <a:ext cx="1920240" cy="658368"/>
          </a:xfrm>
          <a:prstGeom prst="roundRect">
            <a:avLst>
              <a:gd name="adj" fmla="val 12000"/>
            </a:avLst>
          </a:prstGeom>
          <a:solidFill>
            <a:srgbClr val="FFF2E8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1515"/>
                </a:solidFill>
                <a:latin typeface="Segoe UI"/>
              </a:rPr>
              <a:t>billing stops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5C5C5C"/>
                </a:solidFill>
                <a:latin typeface="Segoe UI"/>
              </a:rPr>
              <a:t>$0.00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87168"/>
            <a:ext cx="5364327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263347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SCALEDOWN_WINDOW=300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2916936"/>
            <a:ext cx="4907127" cy="969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Stay warm for 5 minutes after the last request, then stop. </a:t>
            </a:r>
            <a:r>
              <a:rPr sz="1250" b="1">
                <a:solidFill>
                  <a:srgbClr val="151515"/>
                </a:solidFill>
                <a:latin typeface="Segoe UI"/>
              </a:rPr>
              <a:t>Billing stops with it.</a:t>
            </a:r>
            <a:r>
              <a:rPr sz="1250" b="0">
                <a:solidFill>
                  <a:srgbClr val="151515"/>
                </a:solidFill>
                <a:latin typeface="Segoe UI"/>
              </a:rPr>
              <a:t> The trade you accept: the first request after an idle period pays a cold start.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05456"/>
            <a:ext cx="5272887" cy="2743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24447" y="2487168"/>
            <a:ext cx="5364327" cy="150876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2191" y="263347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ONE DEPLOY SERVES ONE CHECKPOINT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191" y="2916936"/>
            <a:ext cx="4907127" cy="969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B54408"/>
                </a:solidFill>
                <a:latin typeface="Consolas"/>
              </a:rPr>
              <a:t>CKPT = "/ckpt/shakespearesmallchar.pt"</a:t>
            </a:r>
            <a:r>
              <a:rPr sz="1250" b="0">
                <a:solidFill>
                  <a:srgbClr val="151515"/>
                </a:solidFill>
                <a:latin typeface="Segoe UI"/>
              </a:rPr>
              <a:t> is a constant. Change it and re-run </a:t>
            </a:r>
            <a:r>
              <a:rPr sz="1200" b="0">
                <a:solidFill>
                  <a:srgbClr val="B54408"/>
                </a:solidFill>
                <a:latin typeface="Consolas"/>
              </a:rPr>
              <a:t>modal deploy serve8.py</a:t>
            </a:r>
            <a:r>
              <a:rPr sz="1250" b="0">
                <a:solidFill>
                  <a:srgbClr val="151515"/>
                </a:solidFill>
                <a:latin typeface="Segoe UI"/>
              </a:rPr>
              <a:t> to put a different model behind the URL.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4224528"/>
          <a:ext cx="11185853" cy="1335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7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4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4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Command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you get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When to use it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B54408"/>
                          </a:solidFill>
                          <a:latin typeface="Consolas"/>
                        </a:rPr>
                        <a:t>modal serve serve8.py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a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temporary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URL that hot-reloads as you edit the file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while you are building — you will use this most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B54408"/>
                          </a:solidFill>
                          <a:latin typeface="Consolas"/>
                        </a:rPr>
                        <a:t>modal deploy serve8.py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a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permanent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URL that survives your laptop closing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when you are done and want the agent in file 9 to call it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5961888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The URL looks like </a:t>
            </a:r>
            <a:r>
              <a:rPr sz="1150" b="0">
                <a:solidFill>
                  <a:srgbClr val="B54408"/>
                </a:solidFill>
                <a:latin typeface="Consolas"/>
              </a:rPr>
              <a:t>https://&lt;your-workspace&gt;--argpt-serve-argptserver-chat.modal.run</a:t>
            </a:r>
            <a:r>
              <a:rPr sz="1200" b="0">
                <a:solidFill>
                  <a:srgbClr val="5C5C5C"/>
                </a:solidFill>
                <a:latin typeface="Segoe UI"/>
              </a:rPr>
              <a:t> and is printed when you deploy.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FILE</a:t>
            </a:r>
          </a:p>
          <a:p>
            <a:pPr>
              <a:spcBef>
                <a:spcPts val="0"/>
              </a:spcBef>
            </a:pPr>
            <a:r>
              <a:rPr sz="9600" b="1">
                <a:solidFill>
                  <a:srgbClr val="E8590C"/>
                </a:solidFill>
                <a:latin typeface="Segoe U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6280" y="2084831"/>
            <a:ext cx="707105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>
                <a:solidFill>
                  <a:srgbClr val="151515"/>
                </a:solidFill>
                <a:latin typeface="Segoe UI"/>
              </a:rPr>
              <a:t>use_from_agent9.py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2852928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6280" y="3063240"/>
            <a:ext cx="70710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>
                <a:solidFill>
                  <a:srgbClr val="5C5C5C"/>
                </a:solidFill>
                <a:latin typeface="Segoe UI"/>
              </a:rPr>
              <a:t>Full circle — your agent calls your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3794760"/>
            <a:ext cx="70710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ARGPT is behind a URL now, exactly like Groq was in Session 6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So it drops into exactly the same LangChain slot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And then the honest conversation about what it cannot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USE_FROM_AGENT9.PY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same slot Groq's Llama sat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71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583680" cy="265176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26517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6217920" cy="2441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class ARGPT(LLM):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    url: str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    temperature: float = 0.8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050" b="0">
              <a:solidFill>
                <a:srgbClr val="151515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    def _call(self, prompt, stop=None, run_manager=None, **kwargs):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        return ask_argpt(self.url, prompt, self.max_tokens, self.temperature)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050" b="0">
              <a:solidFill>
                <a:srgbClr val="151515"/>
              </a:solidFill>
              <a:latin typeface="Consolas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chain = (PromptTemplate.from_template("{character}:")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         | build_langchain_llm(url)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         | StrOutputParser())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50" b="0">
                <a:solidFill>
                  <a:srgbClr val="151515"/>
                </a:solidFill>
                <a:latin typeface="Consolas"/>
              </a:rPr>
              <a:t>chain.invoke({"character": "JULIET"})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298448"/>
            <a:ext cx="4282135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51515"/>
                </a:solidFill>
                <a:latin typeface="Segoe UI"/>
              </a:rPr>
              <a:t>PromptTemplate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465411" y="1810512"/>
            <a:ext cx="164592" cy="201168"/>
          </a:xfrm>
          <a:prstGeom prst="down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06640" y="2084831"/>
            <a:ext cx="4282135" cy="45720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your ARGPT, on Modal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465411" y="2596896"/>
            <a:ext cx="164592" cy="201168"/>
          </a:xfrm>
          <a:prstGeom prst="down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06640" y="2871215"/>
            <a:ext cx="4282135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51515"/>
                </a:solidFill>
                <a:latin typeface="Segoe UI"/>
              </a:rPr>
              <a:t>StrOutputParser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447288"/>
            <a:ext cx="4282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LangChain neither knows nor cares that this model
is 10M parameters and was trained an hour ago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24528"/>
            <a:ext cx="11185855" cy="13716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43708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WHY THIS SLIDE IS THE POINT OF THE WHOLE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654296"/>
            <a:ext cx="10728655" cy="832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In Session 6 the LLM in that slot was somebody else's, behind somebody else's API key, priced by somebody else. It is now </a:t>
            </a:r>
            <a:r>
              <a:rPr sz="1250" b="1">
                <a:solidFill>
                  <a:srgbClr val="151515"/>
                </a:solidFill>
                <a:latin typeface="Segoe UI"/>
              </a:rPr>
              <a:t>yours</a:t>
            </a:r>
            <a:r>
              <a:rPr sz="1250" b="0">
                <a:solidFill>
                  <a:srgbClr val="151515"/>
                </a:solidFill>
                <a:latin typeface="Segoe UI"/>
              </a:rPr>
              <a:t> — trained by you, on data you chose, deployed on a URL you own. The interface did not change. </a:t>
            </a:r>
            <a:r>
              <a:rPr sz="1250" b="1">
                <a:solidFill>
                  <a:srgbClr val="151515"/>
                </a:solidFill>
                <a:latin typeface="Segoe UI"/>
              </a:rPr>
              <a:t>That is what an interface is for.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THE HONEST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What we built, and what we deliberately did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5364327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444751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WHAT ARGPT CAN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728216"/>
            <a:ext cx="4907127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51515"/>
                </a:solidFill>
                <a:latin typeface="Segoe UI"/>
              </a:rPr>
              <a:t>Continue text</a:t>
            </a:r>
            <a:r>
              <a:rPr sz="1250" b="0">
                <a:solidFill>
                  <a:srgbClr val="151515"/>
                </a:solidFill>
                <a:latin typeface="Segoe UI"/>
              </a:rPr>
              <a:t> in the style it was trained on. Feed it </a:t>
            </a:r>
            <a:r>
              <a:rPr sz="1200" b="0">
                <a:solidFill>
                  <a:srgbClr val="B54408"/>
                </a:solidFill>
                <a:latin typeface="Consolas"/>
              </a:rPr>
              <a:t>"ROMEO:"</a:t>
            </a:r>
            <a:r>
              <a:rPr sz="1250" b="0">
                <a:solidFill>
                  <a:srgbClr val="151515"/>
                </a:solidFill>
                <a:latin typeface="Segoe UI"/>
              </a:rPr>
              <a:t> and it produces Shakespeare-shaped output. Feed the coding model </a:t>
            </a:r>
            <a:r>
              <a:rPr sz="1200" b="0">
                <a:solidFill>
                  <a:srgbClr val="B54408"/>
                </a:solidFill>
                <a:latin typeface="Consolas"/>
              </a:rPr>
              <a:t>def quicksort(</a:t>
            </a:r>
            <a:r>
              <a:rPr sz="1250" b="0">
                <a:solidFill>
                  <a:srgbClr val="151515"/>
                </a:solidFill>
                <a:latin typeface="Segoe UI"/>
              </a:rPr>
              <a:t> and it produces Python-shaped output.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That is pretraining, and it works.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16736"/>
            <a:ext cx="5272887" cy="2743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4447" y="1298448"/>
            <a:ext cx="5364327" cy="1874519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2191" y="1444751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WHAT IT CANNOT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191" y="1728216"/>
            <a:ext cx="4907127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51515"/>
                </a:solidFill>
                <a:latin typeface="Segoe UI"/>
              </a:rPr>
              <a:t>Follow instructions.</a:t>
            </a:r>
            <a:r>
              <a:rPr sz="1250" b="0">
                <a:solidFill>
                  <a:srgbClr val="151515"/>
                </a:solidFill>
                <a:latin typeface="Segoe UI"/>
              </a:rPr>
              <a:t> Ask it “what is 2+2?” and it will continue the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sentence</a:t>
            </a:r>
            <a:r>
              <a:rPr sz="1250" b="0">
                <a:solidFill>
                  <a:srgbClr val="151515"/>
                </a:solidFill>
                <a:latin typeface="Segoe UI"/>
              </a:rPr>
              <a:t>, not answer the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question</a:t>
            </a:r>
            <a:r>
              <a:rPr sz="1250" b="0">
                <a:solidFill>
                  <a:srgbClr val="151515"/>
                </a:solidFill>
                <a:latin typeface="Segoe UI"/>
              </a:rPr>
              <a:t>. It cannot use tools, hold a conversation, or refuse anything.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Feed it a </a:t>
            </a:r>
            <a:r>
              <a:rPr sz="1250" b="1">
                <a:solidFill>
                  <a:srgbClr val="151515"/>
                </a:solidFill>
                <a:latin typeface="Segoe UI"/>
              </a:rPr>
              <a:t>seed</a:t>
            </a:r>
            <a:r>
              <a:rPr sz="1250" b="0">
                <a:solidFill>
                  <a:srgbClr val="151515"/>
                </a:solidFill>
                <a:latin typeface="Segoe UI"/>
              </a:rPr>
              <a:t>, not a </a:t>
            </a:r>
            <a:r>
              <a:rPr sz="1250" b="1">
                <a:solidFill>
                  <a:srgbClr val="151515"/>
                </a:solidFill>
                <a:latin typeface="Segoe UI"/>
              </a:rPr>
              <a:t>question</a:t>
            </a:r>
            <a:r>
              <a:rPr sz="1250" b="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4728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THE FOUR THINGS STANDING BETWEEN ARGPT AND CHATGPT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3767328"/>
          <a:ext cx="11185854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0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it is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Did we build it?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0 — </a:t>
                      </a: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Pretraining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next-token prediction on raw text. The engine.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Yes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 — that is this session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1 — </a:t>
                      </a: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Scale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~10⁵-10⁶× more parameters, ~10⁶× more and better data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2 — </a:t>
                      </a: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Instruction tuning (SFT)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fine-tune on instruction→response pairs. </a:t>
                      </a: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This is the step that turns “continues text” into “follows commands”.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No — but see </a:t>
                      </a:r>
                      <a:r>
                        <a:rPr sz="1030" b="0">
                          <a:solidFill>
                            <a:srgbClr val="B54408"/>
                          </a:solidFill>
                          <a:latin typeface="Consolas"/>
                        </a:rPr>
                        <a:t>coding_llm/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3 — </a:t>
                      </a: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Preference alignment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RLHF or DPO: make answers match what humans prefer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4 — </a:t>
                      </a: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Reasoning RL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train it to think in steps before answering. The biggest jump of 2024-25, and it is </a:t>
                      </a: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not architecture</a:t>
                      </a: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02920" y="7013448"/>
            <a:ext cx="11185855" cy="86868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7159752"/>
            <a:ext cx="10728655" cy="61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51515"/>
                </a:solidFill>
                <a:latin typeface="Segoe UI"/>
              </a:rPr>
              <a:t>You built layer 0 — the foundation everything else is bolted onto.</a:t>
            </a:r>
            <a:r>
              <a:rPr sz="1250" b="0">
                <a:solidFill>
                  <a:srgbClr val="151515"/>
                </a:solidFill>
                <a:latin typeface="Segoe UI"/>
              </a:rPr>
              <a:t> That gap between “predicts text” and “follows instructions” is exactly what the agent sessions were working around. Now you know what was underneath.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FILE</a:t>
            </a:r>
          </a:p>
          <a:p>
            <a:pPr>
              <a:spcBef>
                <a:spcPts val="0"/>
              </a:spcBef>
            </a:pPr>
            <a:r>
              <a:rPr sz="9600" b="1">
                <a:solidFill>
                  <a:srgbClr val="E8590C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6280" y="2084831"/>
            <a:ext cx="707105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>
                <a:solidFill>
                  <a:srgbClr val="151515"/>
                </a:solidFill>
                <a:latin typeface="Segoe UI"/>
              </a:rPr>
              <a:t>modern_upgrades10.py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2852928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6280" y="3063240"/>
            <a:ext cx="70710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>
                <a:solidFill>
                  <a:srgbClr val="5C5C5C"/>
                </a:solidFill>
                <a:latin typeface="Segoe UI"/>
              </a:rPr>
              <a:t>What Llama 3, GPT-4 and GPT-5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3794760"/>
            <a:ext cx="70710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model4.py is a GPT-2 — 2019 architecture, and the right thing to learn first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Modern models kept the exact same skeleton and swapped three parts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5C5C5C"/>
                </a:solidFill>
                <a:latin typeface="Segoe UI"/>
              </a:rPr>
              <a:t>—   Then added a second layer of tricks the file does not cover — we will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THE THREE SWAPS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Same skeleton. Three components replaced.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74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5853" cy="2935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3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4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We used  </a:t>
                      </a:r>
                      <a:r>
                        <a:rPr sz="1050" b="1" i="1">
                          <a:solidFill>
                            <a:srgbClr val="FFFFFF"/>
                          </a:solidFill>
                          <a:latin typeface="Segoe UI"/>
                        </a:rPr>
                        <a:t>(2019)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Modern swap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actually changed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Worth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B54408"/>
                          </a:solidFill>
                          <a:latin typeface="Consolas"/>
                        </a:rPr>
                        <a:t>nn.LayerNorm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RMSNorm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Drop the mean-centring step. Somebody tried removing it, nothing got worse, and it ran faster. Half the parameters, one less pass over the data.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speed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learned </a:t>
                      </a:r>
                      <a:r>
                        <a:rPr sz="1050" b="0">
                          <a:solidFill>
                            <a:srgbClr val="B54408"/>
                          </a:solidFill>
                          <a:latin typeface="Consolas"/>
                        </a:rPr>
                        <a:t>pos_emb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RoPE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Instead of looking up a position vector,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rotate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each token's q and k by an angle based on its position. Stores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zero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parameters and generalises past the trained length.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long context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GELU MLP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SwiGLU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Add a second parallel path that acts as a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gate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— one path decides the content, the other decides how much of it gets through, per neuron.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quality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498848"/>
            <a:ext cx="11185855" cy="11887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464515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REASSURANCE STUDENTS NEED AT THIS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4928616"/>
            <a:ext cx="10728655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Notice what did </a:t>
            </a:r>
            <a:r>
              <a:rPr sz="1250" b="1">
                <a:solidFill>
                  <a:srgbClr val="151515"/>
                </a:solidFill>
                <a:latin typeface="Segoe UI"/>
              </a:rPr>
              <a:t>not</a:t>
            </a:r>
            <a:r>
              <a:rPr sz="1250" b="0">
                <a:solidFill>
                  <a:srgbClr val="151515"/>
                </a:solidFill>
                <a:latin typeface="Segoe UI"/>
              </a:rPr>
              <a:t> change: attention, the residual stream, the causal mask, the training loop, the next-token objective. </a:t>
            </a:r>
            <a:r>
              <a:rPr sz="1250" b="1">
                <a:solidFill>
                  <a:srgbClr val="151515"/>
                </a:solidFill>
                <a:latin typeface="Segoe UI"/>
              </a:rPr>
              <a:t>The core you learned in model4.py is still the core of every frontier model in 2025.</a:t>
            </a:r>
            <a:r>
              <a:rPr sz="1250" b="0">
                <a:solidFill>
                  <a:srgbClr val="151515"/>
                </a:solidFill>
                <a:latin typeface="Segoe UI"/>
              </a:rPr>
              <a:t> These are component swaps, not a new idea.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On a model this small you will barely measure a difference. They matter at billions of parameters and 100k-token contexts.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UPGRADE 1  ·  RMSNORM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LayerNorm minus the centring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75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85855" cy="109728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10972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10820095" cy="8869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350" b="0">
                <a:solidFill>
                  <a:srgbClr val="151515"/>
                </a:solidFill>
                <a:latin typeface="Consolas"/>
              </a:rPr>
              <a:t>LayerNorm:  (x - mean) / std * weight + bias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350" b="0">
                <a:solidFill>
                  <a:srgbClr val="151515"/>
                </a:solidFill>
                <a:latin typeface="Consolas"/>
              </a:rPr>
              <a:t>RMSNorm:    x / sqrt(mean(x^2)) * 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7860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DRY RUN ON X = [3, −1, 4, 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3108960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2926079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9464" y="2926079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2926079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76472" y="2926079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1515"/>
                </a:solidFill>
                <a:latin typeface="Consola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3712463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LayerNorm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3529584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0.535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9464" y="3529584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-1.604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2968" y="3529584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1.069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76472" y="3529584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0.000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431596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RMSNorm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4133087"/>
            <a:ext cx="603504" cy="603504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1.095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9464" y="4133087"/>
            <a:ext cx="603504" cy="603504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-0.365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72968" y="4133087"/>
            <a:ext cx="603504" cy="603504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1.461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76472" y="4133087"/>
            <a:ext cx="603504" cy="603504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151515"/>
                </a:solidFill>
                <a:latin typeface="Consolas"/>
              </a:rPr>
              <a:t>0.730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96265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51515"/>
                </a:solidFill>
                <a:latin typeface="Segoe UI"/>
              </a:rPr>
              <a:t>mean = 2.0    std = 1.871    </a:t>
            </a:r>
            <a:r>
              <a:rPr sz="1250" b="1">
                <a:solidFill>
                  <a:srgbClr val="151515"/>
                </a:solidFill>
                <a:latin typeface="Segoe UI"/>
              </a:rPr>
              <a:t>rms = 2.739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4015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LayerNorm re-centres on zero (note the 2 → 0.000).
RMSNorm only rescales — it keeps the sign structure and never computes a mean at all.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15137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54408"/>
                </a:solidFill>
                <a:latin typeface="Segoe UI"/>
              </a:rPr>
              <a:t>Parameters for dim = 128:  LayerNorm </a:t>
            </a:r>
            <a:r>
              <a:rPr sz="1200" b="1">
                <a:solidFill>
                  <a:srgbClr val="B54408"/>
                </a:solidFill>
                <a:latin typeface="Segoe UI"/>
              </a:rPr>
              <a:t>256</a:t>
            </a:r>
            <a:r>
              <a:rPr sz="1200" b="0">
                <a:solidFill>
                  <a:srgbClr val="B54408"/>
                </a:solidFill>
                <a:latin typeface="Segoe UI"/>
              </a:rPr>
              <a:t> (weight + bias) vs RMSNorm </a:t>
            </a:r>
            <a:r>
              <a:rPr sz="1200" b="1">
                <a:solidFill>
                  <a:srgbClr val="B54408"/>
                </a:solidFill>
                <a:latin typeface="Segoe UI"/>
              </a:rPr>
              <a:t>128</a:t>
            </a:r>
            <a:r>
              <a:rPr sz="1200" b="0">
                <a:solidFill>
                  <a:srgbClr val="B54408"/>
                </a:solidFill>
                <a:latin typeface="Segoe UI"/>
              </a:rPr>
              <a:t> (weight only).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90288"/>
            <a:ext cx="1118585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0">
                <a:solidFill>
                  <a:srgbClr val="151515"/>
                </a:solidFill>
                <a:latin typeface="Segoe UI"/>
              </a:rPr>
              <a:t>It is a </a:t>
            </a:r>
            <a:r>
              <a:rPr sz="1300" b="1">
                <a:solidFill>
                  <a:srgbClr val="151515"/>
                </a:solidFill>
                <a:latin typeface="Segoe UI"/>
              </a:rPr>
              <a:t>drop-in swap</a:t>
            </a:r>
            <a:r>
              <a:rPr sz="1300" b="0">
                <a:solidFill>
                  <a:srgbClr val="151515"/>
                </a:solidFill>
                <a:latin typeface="Segoe UI"/>
              </a:rPr>
              <a:t> in </a:t>
            </a:r>
            <a:r>
              <a:rPr sz="1250" b="0">
                <a:solidFill>
                  <a:srgbClr val="B54408"/>
                </a:solidFill>
                <a:latin typeface="Consolas"/>
              </a:rPr>
              <a:t>model4.py</a:t>
            </a:r>
            <a:r>
              <a:rPr sz="1300" b="0">
                <a:solidFill>
                  <a:srgbClr val="151515"/>
                </a:solidFill>
                <a:latin typeface="Segoe UI"/>
              </a:rPr>
              <a:t> — replace </a:t>
            </a:r>
            <a:r>
              <a:rPr sz="1250" b="0">
                <a:solidFill>
                  <a:srgbClr val="B54408"/>
                </a:solidFill>
                <a:latin typeface="Consolas"/>
              </a:rPr>
              <a:t>nn.LayerNorm</a:t>
            </a:r>
            <a:r>
              <a:rPr sz="1300" b="0">
                <a:solidFill>
                  <a:srgbClr val="151515"/>
                </a:solidFill>
                <a:latin typeface="Segoe UI"/>
              </a:rPr>
              <a:t> with </a:t>
            </a:r>
            <a:r>
              <a:rPr sz="1250" b="0">
                <a:solidFill>
                  <a:srgbClr val="B54408"/>
                </a:solidFill>
                <a:latin typeface="Consolas"/>
              </a:rPr>
              <a:t>RMSNorm</a:t>
            </a:r>
            <a:r>
              <a:rPr sz="1300" b="0">
                <a:solidFill>
                  <a:srgbClr val="151515"/>
                </a:solidFill>
                <a:latin typeface="Segoe UI"/>
              </a:rPr>
              <a:t> and nothing else changes.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0">
                <a:solidFill>
                  <a:srgbClr val="151515"/>
                </a:solidFill>
                <a:latin typeface="Segoe UI"/>
              </a:rPr>
              <a:t>Why it matters at scale: normalisation runs </a:t>
            </a:r>
            <a:r>
              <a:rPr sz="1250" b="0">
                <a:solidFill>
                  <a:srgbClr val="B54408"/>
                </a:solidFill>
                <a:latin typeface="Consolas"/>
              </a:rPr>
              <a:t>2 × n_layer</a:t>
            </a:r>
            <a:r>
              <a:rPr sz="1300" b="0">
                <a:solidFill>
                  <a:srgbClr val="151515"/>
                </a:solidFill>
                <a:latin typeface="Segoe UI"/>
              </a:rPr>
              <a:t> times per forward pass. On a 100-layer model, halving its cost and removing a full reduction pass over the data is real money.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UPGRADE 2  ·  ROPE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Rotate the vector instead of looking up a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B54408"/>
                </a:solidFill>
                <a:latin typeface="Consolas"/>
              </a:rPr>
              <a:t>model4.py</a:t>
            </a:r>
            <a:r>
              <a:rPr sz="1300" b="0">
                <a:solidFill>
                  <a:srgbClr val="151515"/>
                </a:solidFill>
                <a:latin typeface="Segoe UI"/>
              </a:rPr>
              <a:t> says </a:t>
            </a:r>
            <a:r>
              <a:rPr sz="1300" b="0" i="1">
                <a:solidFill>
                  <a:srgbClr val="151515"/>
                </a:solidFill>
                <a:latin typeface="Segoe UI"/>
              </a:rPr>
              <a:t>“position 5 gets vector #5”</a:t>
            </a:r>
            <a:r>
              <a:rPr sz="1300" b="0">
                <a:solidFill>
                  <a:srgbClr val="151515"/>
                </a:solidFill>
                <a:latin typeface="Segoe UI"/>
              </a:rPr>
              <a:t>, learned from scratch. RoPE instead </a:t>
            </a:r>
            <a:r>
              <a:rPr sz="1300" b="1">
                <a:solidFill>
                  <a:srgbClr val="151515"/>
                </a:solidFill>
                <a:latin typeface="Segoe UI"/>
              </a:rPr>
              <a:t>rotates</a:t>
            </a:r>
            <a:r>
              <a:rPr sz="1300" b="0">
                <a:solidFill>
                  <a:srgbClr val="151515"/>
                </a:solidFill>
                <a:latin typeface="Segoe UI"/>
              </a:rPr>
              <a:t> each token's q and k by an angle proportional to its position. Nothing is learned and nothing is stored.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29967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THE SAME VECTOR [1, 0], ROTATED BY 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2414015"/>
            <a:ext cx="86868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pos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414015"/>
            <a:ext cx="86868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pos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414015"/>
            <a:ext cx="86868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pos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414015"/>
            <a:ext cx="86868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pos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3282696"/>
            <a:ext cx="868680" cy="8686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151515"/>
                </a:solidFill>
                <a:latin typeface="Consolas"/>
              </a:rPr>
              <a:t>[1.00,
0.00]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282696"/>
            <a:ext cx="868680" cy="8686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151515"/>
                </a:solidFill>
                <a:latin typeface="Consolas"/>
              </a:rPr>
              <a:t>[0.54,
0.84]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282696"/>
            <a:ext cx="868680" cy="8686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151515"/>
                </a:solidFill>
                <a:latin typeface="Consolas"/>
              </a:rPr>
              <a:t>[-0.42,
0.91]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282696"/>
            <a:ext cx="868680" cy="86868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151515"/>
                </a:solidFill>
                <a:latin typeface="Consolas"/>
              </a:rPr>
              <a:t>[-0.99,
0.14]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224527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C5C5C"/>
                </a:solidFill>
                <a:latin typeface="Segoe UI"/>
              </a:rPr>
              <a:t>one radian per position, for this frequency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636008"/>
            <a:ext cx="6400800" cy="128016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4636008"/>
            <a:ext cx="41148" cy="1280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4754880"/>
            <a:ext cx="6035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>
                <a:solidFill>
                  <a:srgbClr val="E8590C"/>
                </a:solidFill>
                <a:latin typeface="Segoe UI"/>
              </a:rPr>
              <a:t>rope_tables — PRECOMPUTED ONCE, REUSED FOREVER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5010912"/>
            <a:ext cx="6035040" cy="8138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freqs  = 1.0 / (10000 ** (arange(0, hs, 2) / hs))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angles = outer(arange(max_len), freqs)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151515"/>
                </a:solidFill>
                <a:latin typeface="Consolas"/>
              </a:rPr>
              <a:t>cos, sin = angles.cos(), angles.sin()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029967"/>
            <a:ext cx="4419295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Each </a:t>
            </a:r>
            <a:r>
              <a:rPr sz="1200" b="1">
                <a:solidFill>
                  <a:srgbClr val="151515"/>
                </a:solidFill>
                <a:latin typeface="Segoe UI"/>
              </a:rPr>
              <a:t>pair</a:t>
            </a:r>
            <a:r>
              <a:rPr sz="1200" b="0">
                <a:solidFill>
                  <a:srgbClr val="151515"/>
                </a:solidFill>
                <a:latin typeface="Segoe UI"/>
              </a:rPr>
              <a:t> of numbers in the vector is treated as a point on a circle and rotated: </a:t>
            </a:r>
            <a:r>
              <a:rPr sz="1150" b="0">
                <a:solidFill>
                  <a:srgbClr val="B54408"/>
                </a:solidFill>
                <a:latin typeface="Consolas"/>
              </a:rPr>
              <a:t>(x₁cosθ − x₂sinθ, x₁sinθ + x₂cosθ)</a:t>
            </a:r>
            <a:r>
              <a:rPr sz="1200" b="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1">
                <a:solidFill>
                  <a:srgbClr val="151515"/>
                </a:solidFill>
                <a:latin typeface="Segoe UI"/>
              </a:rPr>
              <a:t>Low dimensions rotate fast, high dimensions rotate slowly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so the full pattern of angles is unique for every position, like the hands of a clock.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Zero trainable parameters. For </a:t>
            </a:r>
            <a:r>
              <a:rPr sz="1150" b="0">
                <a:solidFill>
                  <a:srgbClr val="B54408"/>
                </a:solidFill>
                <a:latin typeface="Consolas"/>
              </a:rPr>
              <a:t>block_size=512, n_embd=128</a:t>
            </a:r>
            <a:r>
              <a:rPr sz="1200" b="0">
                <a:solidFill>
                  <a:srgbClr val="151515"/>
                </a:solidFill>
                <a:latin typeface="Segoe UI"/>
              </a:rPr>
              <a:t>, learned position embeddings cost </a:t>
            </a:r>
            <a:r>
              <a:rPr sz="1200" b="1">
                <a:solidFill>
                  <a:srgbClr val="151515"/>
                </a:solidFill>
                <a:latin typeface="Segoe UI"/>
              </a:rPr>
              <a:t>65,536 parameters</a:t>
            </a:r>
            <a:r>
              <a:rPr sz="1200" b="0">
                <a:solidFill>
                  <a:srgbClr val="151515"/>
                </a:solidFill>
                <a:latin typeface="Segoe UI"/>
              </a:rPr>
              <a:t>. RoPE costs </a:t>
            </a:r>
            <a:r>
              <a:rPr sz="1200" b="1">
                <a:solidFill>
                  <a:srgbClr val="151515"/>
                </a:solidFill>
                <a:latin typeface="Segoe UI"/>
              </a:rPr>
              <a:t>0</a:t>
            </a:r>
            <a:r>
              <a:rPr sz="1200" b="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2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200" b="0">
                <a:solidFill>
                  <a:srgbClr val="151515"/>
                </a:solidFill>
                <a:latin typeface="Segoe UI"/>
              </a:rPr>
              <a:t>It applies to </a:t>
            </a:r>
            <a:r>
              <a:rPr sz="1150" b="0">
                <a:solidFill>
                  <a:srgbClr val="B54408"/>
                </a:solidFill>
                <a:latin typeface="Consolas"/>
              </a:rPr>
              <a:t>q</a:t>
            </a:r>
            <a:r>
              <a:rPr sz="1200" b="0">
                <a:solidFill>
                  <a:srgbClr val="151515"/>
                </a:solidFill>
                <a:latin typeface="Segoe UI"/>
              </a:rPr>
              <a:t> and </a:t>
            </a:r>
            <a:r>
              <a:rPr sz="1150" b="0">
                <a:solidFill>
                  <a:srgbClr val="B54408"/>
                </a:solidFill>
                <a:latin typeface="Consolas"/>
              </a:rPr>
              <a:t>k</a:t>
            </a:r>
            <a:r>
              <a:rPr sz="1200" b="0">
                <a:solidFill>
                  <a:srgbClr val="151515"/>
                </a:solidFill>
                <a:latin typeface="Segoe UI"/>
              </a:rPr>
              <a:t> </a:t>
            </a:r>
            <a:r>
              <a:rPr sz="1200" b="1">
                <a:solidFill>
                  <a:srgbClr val="151515"/>
                </a:solidFill>
                <a:latin typeface="Segoe UI"/>
              </a:rPr>
              <a:t>inside</a:t>
            </a:r>
            <a:r>
              <a:rPr sz="1200" b="0">
                <a:solidFill>
                  <a:srgbClr val="151515"/>
                </a:solidFill>
                <a:latin typeface="Segoe UI"/>
              </a:rPr>
              <a:t> attention, not to </a:t>
            </a:r>
            <a:r>
              <a:rPr sz="1150" b="0">
                <a:solidFill>
                  <a:srgbClr val="B54408"/>
                </a:solidFill>
                <a:latin typeface="Consolas"/>
              </a:rPr>
              <a:t>x</a:t>
            </a:r>
            <a:r>
              <a:rPr sz="1200" b="0">
                <a:solidFill>
                  <a:srgbClr val="151515"/>
                </a:solidFill>
                <a:latin typeface="Segoe UI"/>
              </a:rPr>
              <a:t> at the input — which is why it needs edits inside </a:t>
            </a:r>
            <a:r>
              <a:rPr sz="1150" b="0">
                <a:solidFill>
                  <a:srgbClr val="B54408"/>
                </a:solidFill>
                <a:latin typeface="Consolas"/>
              </a:rPr>
              <a:t>SelfAttention</a:t>
            </a:r>
            <a:r>
              <a:rPr sz="1200" b="0">
                <a:solidFill>
                  <a:srgbClr val="151515"/>
                </a:solidFill>
                <a:latin typeface="Segoe UI"/>
              </a:rPr>
              <a:t> rather than a one-line swap.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WHY ROPE GIVES LONG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proof, in five lines of arithmetic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151515"/>
                </a:solidFill>
                <a:latin typeface="Segoe UI"/>
              </a:rPr>
              <a:t>When a query at position </a:t>
            </a:r>
            <a:r>
              <a:rPr sz="1300" b="1">
                <a:solidFill>
                  <a:srgbClr val="151515"/>
                </a:solidFill>
                <a:latin typeface="Segoe UI"/>
              </a:rPr>
              <a:t>m</a:t>
            </a:r>
            <a:r>
              <a:rPr sz="1300" b="0">
                <a:solidFill>
                  <a:srgbClr val="151515"/>
                </a:solidFill>
                <a:latin typeface="Segoe UI"/>
              </a:rPr>
              <a:t> meets a key at position </a:t>
            </a:r>
            <a:r>
              <a:rPr sz="1300" b="1">
                <a:solidFill>
                  <a:srgbClr val="151515"/>
                </a:solidFill>
                <a:latin typeface="Segoe UI"/>
              </a:rPr>
              <a:t>n</a:t>
            </a:r>
            <a:r>
              <a:rPr sz="1300" b="0">
                <a:solidFill>
                  <a:srgbClr val="151515"/>
                </a:solidFill>
                <a:latin typeface="Segoe UI"/>
              </a:rPr>
              <a:t>, the two rotations partly cancel. What survives depends only on the </a:t>
            </a:r>
            <a:r>
              <a:rPr sz="1300" b="1">
                <a:solidFill>
                  <a:srgbClr val="151515"/>
                </a:solidFill>
                <a:latin typeface="Segoe UI"/>
              </a:rPr>
              <a:t>gap (m − n)</a:t>
            </a:r>
            <a:r>
              <a:rPr sz="1300" b="0">
                <a:solidFill>
                  <a:srgbClr val="151515"/>
                </a:solidFill>
                <a:latin typeface="Segoe UI"/>
              </a:rPr>
              <a:t> — never on the absolute positions.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84248"/>
          <a:ext cx="7863837" cy="2157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6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6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query at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key at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attention score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position 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position 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−0.4161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position 30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position 28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−0.4161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position 3,005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position 3,003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−0.4161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position 5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position 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+0.5403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position 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position 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+0.2837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0" y="1984248"/>
            <a:ext cx="3001975" cy="25146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24544" y="2130552"/>
            <a:ext cx="25447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IDENTICAL. EXACTLY.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24544" y="2414016"/>
            <a:ext cx="2544775" cy="1975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A gap of 2 means the same thing at position 3 as at position 3,000.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The model learns about </a:t>
            </a:r>
            <a:r>
              <a:rPr sz="1250" b="1">
                <a:solidFill>
                  <a:srgbClr val="151515"/>
                </a:solidFill>
                <a:latin typeface="Segoe UI"/>
              </a:rPr>
              <a:t>distance</a:t>
            </a:r>
            <a:r>
              <a:rPr sz="1250" b="0">
                <a:solidFill>
                  <a:srgbClr val="151515"/>
                </a:solidFill>
                <a:latin typeface="Segoe UI"/>
              </a:rPr>
              <a:t>, which transfers to lengths it has never seen.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315968"/>
            <a:ext cx="5364327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446227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WHY OUR MODEL CANNOT GO PAST BLOCK_SIZE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745736"/>
            <a:ext cx="4907127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B54408"/>
                </a:solidFill>
                <a:latin typeface="Consolas"/>
              </a:rPr>
              <a:t>pos_emb = nn.Embedding(block_size, n_embd)</a:t>
            </a:r>
            <a:r>
              <a:rPr sz="1250" b="0">
                <a:solidFill>
                  <a:srgbClr val="151515"/>
                </a:solidFill>
                <a:latin typeface="Segoe UI"/>
              </a:rPr>
              <a:t> has exactly </a:t>
            </a:r>
            <a:r>
              <a:rPr sz="1200" b="0">
                <a:solidFill>
                  <a:srgbClr val="B54408"/>
                </a:solidFill>
                <a:latin typeface="Consolas"/>
              </a:rPr>
              <a:t>block_size</a:t>
            </a:r>
            <a:r>
              <a:rPr sz="1250" b="0">
                <a:solidFill>
                  <a:srgbClr val="151515"/>
                </a:solidFill>
                <a:latin typeface="Segoe UI"/>
              </a:rPr>
              <a:t> </a:t>
            </a:r>
            <a:r>
              <a:rPr sz="1250" b="1">
                <a:solidFill>
                  <a:srgbClr val="151515"/>
                </a:solidFill>
                <a:latin typeface="Segoe UI"/>
              </a:rPr>
              <a:t>rows</a:t>
            </a:r>
            <a:r>
              <a:rPr sz="1250" b="0">
                <a:solidFill>
                  <a:srgbClr val="151515"/>
                </a:solidFill>
                <a:latin typeface="Segoe UI"/>
              </a:rPr>
              <a:t>. There is no row 129. It is not that quality degrades — the lookup is physically impossible, and the assert in </a:t>
            </a:r>
            <a:r>
              <a:rPr sz="1200" b="0">
                <a:solidFill>
                  <a:srgbClr val="B54408"/>
                </a:solidFill>
                <a:latin typeface="Consolas"/>
              </a:rPr>
              <a:t>forward</a:t>
            </a:r>
            <a:r>
              <a:rPr sz="1250" b="0">
                <a:solidFill>
                  <a:srgbClr val="151515"/>
                </a:solidFill>
                <a:latin typeface="Segoe UI"/>
              </a:rPr>
              <a:t> stops you.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34255"/>
            <a:ext cx="5272887" cy="2743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24447" y="4315968"/>
            <a:ext cx="5364327" cy="173736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2191" y="446227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WHY A MODERN MODEL 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191" y="4745736"/>
            <a:ext cx="4907127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RoPE is a </a:t>
            </a:r>
            <a:r>
              <a:rPr sz="1250" b="1">
                <a:solidFill>
                  <a:srgbClr val="151515"/>
                </a:solidFill>
                <a:latin typeface="Segoe UI"/>
              </a:rPr>
              <a:t>function</a:t>
            </a:r>
            <a:r>
              <a:rPr sz="1250" b="0">
                <a:solidFill>
                  <a:srgbClr val="151515"/>
                </a:solidFill>
                <a:latin typeface="Segoe UI"/>
              </a:rPr>
              <a:t>, not a table — there is an angle for every position, forever. Combine it with </a:t>
            </a:r>
            <a:r>
              <a:rPr sz="1250" b="1">
                <a:solidFill>
                  <a:srgbClr val="151515"/>
                </a:solidFill>
                <a:latin typeface="Segoe UI"/>
              </a:rPr>
              <a:t>YaRN</a:t>
            </a:r>
            <a:r>
              <a:rPr sz="1250" b="0">
                <a:solidFill>
                  <a:srgbClr val="151515"/>
                </a:solidFill>
                <a:latin typeface="Segoe UI"/>
              </a:rPr>
              <a:t> or position interpolation (stretch the frequencies) and a model trained at 4k runs at 128k. That is the whole trick behind long context.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UPGRADE 3  ·  SWIGLU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Adding a gate: one path for content, one for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78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85855" cy="86868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4114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17319"/>
            <a:ext cx="10820095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300" b="0">
                <a:solidFill>
                  <a:srgbClr val="151515"/>
                </a:solidFill>
                <a:latin typeface="Consolas"/>
              </a:rPr>
              <a:t>ours:    W2( gelu(W1 x) )                </a:t>
            </a:r>
            <a:r>
              <a:rPr sz="1300" b="0">
                <a:solidFill>
                  <a:srgbClr val="B54408"/>
                </a:solidFill>
                <a:latin typeface="Consolas"/>
              </a:rPr>
              <a:t>  # 2 matrices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300" b="0">
                <a:solidFill>
                  <a:srgbClr val="151515"/>
                </a:solidFill>
                <a:latin typeface="Consolas"/>
              </a:rPr>
              <a:t>swiglu:  W2( silu(W1 x) * W3 x )         </a:t>
            </a:r>
            <a:r>
              <a:rPr sz="1300" b="0">
                <a:solidFill>
                  <a:srgbClr val="B54408"/>
                </a:solidFill>
                <a:latin typeface="Consolas"/>
              </a:rPr>
              <a:t>  # 3 matrices, the extra one is a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DRY RUN — THREE NEURONS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80720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gate  W1x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2651760"/>
            <a:ext cx="5486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2.0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2651760"/>
            <a:ext cx="5486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-1.0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2651760"/>
            <a:ext cx="5486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35584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up  W3x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3200400"/>
            <a:ext cx="5486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3200400"/>
            <a:ext cx="5486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3.0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3200400"/>
            <a:ext cx="5486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3904487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silu(gate)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3749039"/>
            <a:ext cx="5486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1.762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3749039"/>
            <a:ext cx="5486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-0.269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3749039"/>
            <a:ext cx="5486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0.311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453127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54408"/>
                </a:solidFill>
                <a:latin typeface="Segoe UI"/>
              </a:rPr>
              <a:t>silu × 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4297679"/>
            <a:ext cx="548640" cy="54864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1.762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4297679"/>
            <a:ext cx="548640" cy="54864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-0.807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4297679"/>
            <a:ext cx="548640" cy="548640"/>
          </a:xfrm>
          <a:prstGeom prst="rect">
            <a:avLst/>
          </a:prstGeom>
          <a:solidFill>
            <a:srgbClr val="FFF2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51515"/>
                </a:solidFill>
                <a:latin typeface="Consolas"/>
              </a:rPr>
              <a:t>-0.622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2670048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51515"/>
                </a:solidFill>
                <a:latin typeface="Segoe UI"/>
              </a:rPr>
              <a:t>Look at neuron 3.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3081528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Its content is a mild </a:t>
            </a:r>
            <a:r>
              <a:rPr sz="1200" b="1">
                <a:solidFill>
                  <a:srgbClr val="5C5C5C"/>
                </a:solidFill>
                <a:latin typeface="Segoe UI"/>
              </a:rPr>
              <a:t>+0.311</a:t>
            </a:r>
            <a:r>
              <a:rPr sz="1200" b="0">
                <a:solidFill>
                  <a:srgbClr val="5C5C5C"/>
                </a:solidFill>
                <a:latin typeface="Segoe UI"/>
              </a:rPr>
              <a:t>. But the gate path says </a:t>
            </a:r>
            <a:r>
              <a:rPr sz="1200" b="1">
                <a:solidFill>
                  <a:srgbClr val="5C5C5C"/>
                </a:solidFill>
                <a:latin typeface="Segoe UI"/>
              </a:rPr>
              <a:t>−2.0</a:t>
            </a:r>
            <a:r>
              <a:rPr sz="1200" b="0">
                <a:solidFill>
                  <a:srgbClr val="5C5C5C"/>
                </a:solidFill>
                <a:latin typeface="Segoe UI"/>
              </a:rPr>
              <a:t>,
so the output flips to </a:t>
            </a:r>
            <a:r>
              <a:rPr sz="1200" b="1">
                <a:solidFill>
                  <a:srgbClr val="5C5C5C"/>
                </a:solidFill>
                <a:latin typeface="Segoe UI"/>
              </a:rPr>
              <a:t>−0.622</a:t>
            </a:r>
            <a:r>
              <a:rPr sz="1200" b="0">
                <a:solidFill>
                  <a:srgbClr val="5C5C5C"/>
                </a:solidFill>
                <a:latin typeface="Segoe UI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3767328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In our GELU MLP one matrix decides </a:t>
            </a:r>
            <a:r>
              <a:rPr sz="1200" b="1">
                <a:solidFill>
                  <a:srgbClr val="5C5C5C"/>
                </a:solidFill>
                <a:latin typeface="Segoe UI"/>
              </a:rPr>
              <a:t>both</a:t>
            </a:r>
            <a:r>
              <a:rPr sz="1200" b="0">
                <a:solidFill>
                  <a:srgbClr val="5C5C5C"/>
                </a:solidFill>
                <a:latin typeface="Segoe UI"/>
              </a:rPr>
              <a:t> what the feature is
and how strongly it fires. SwiGLU splits those two decisions apart
— and a network that can multiply two learned quantities can
represent things an additive one cannot.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47488"/>
            <a:ext cx="11185855" cy="123444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0664" y="519379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IT IS NOT FREE — AND IT IS KEPT FAIR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" y="5477255"/>
            <a:ext cx="10728655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A third matrix would grow the MLP by 50%, so the hidden size is shrunk to about </a:t>
            </a:r>
            <a:r>
              <a:rPr sz="1250" b="1">
                <a:solidFill>
                  <a:srgbClr val="151515"/>
                </a:solidFill>
                <a:latin typeface="Segoe UI"/>
              </a:rPr>
              <a:t>8/3 × n_embd</a:t>
            </a:r>
            <a:r>
              <a:rPr sz="1250" b="0">
                <a:solidFill>
                  <a:srgbClr val="151515"/>
                </a:solidFill>
                <a:latin typeface="Segoe UI"/>
              </a:rPr>
              <a:t> instead of 4×. Measured at n_embd=128: our GELU MLP is </a:t>
            </a:r>
            <a:r>
              <a:rPr sz="1250" b="1">
                <a:solidFill>
                  <a:srgbClr val="151515"/>
                </a:solidFill>
                <a:latin typeface="Segoe UI"/>
              </a:rPr>
              <a:t>131,712</a:t>
            </a:r>
            <a:r>
              <a:rPr sz="1250" b="0">
                <a:solidFill>
                  <a:srgbClr val="151515"/>
                </a:solidFill>
                <a:latin typeface="Segoe UI"/>
              </a:rPr>
              <a:t> parameters, SwiGLU is </a:t>
            </a:r>
            <a:r>
              <a:rPr sz="1250" b="1">
                <a:solidFill>
                  <a:srgbClr val="151515"/>
                </a:solidFill>
                <a:latin typeface="Segoe UI"/>
              </a:rPr>
              <a:t>130,944</a:t>
            </a:r>
            <a:r>
              <a:rPr sz="1250" b="0">
                <a:solidFill>
                  <a:srgbClr val="151515"/>
                </a:solidFill>
                <a:latin typeface="Segoe UI"/>
              </a:rPr>
              <a:t>. Same budget, slightly better results — which is why </a:t>
            </a:r>
            <a:r>
              <a:rPr sz="1250" b="1">
                <a:solidFill>
                  <a:srgbClr val="151515"/>
                </a:solidFill>
                <a:latin typeface="Segoe UI"/>
              </a:rPr>
              <a:t>everyone switched</a:t>
            </a:r>
            <a:r>
              <a:rPr sz="1250" b="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BEYOND FILE 10  ·  ATTENTION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Three upgrades that made long context affordable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79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85855" cy="123444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444751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1 — KV CACHE  (INFERENCE)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728216"/>
            <a:ext cx="10728655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Because of the causal mask, token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t</a:t>
            </a:r>
            <a:r>
              <a:rPr sz="1250" b="0">
                <a:solidFill>
                  <a:srgbClr val="151515"/>
                </a:solidFill>
                <a:latin typeface="Segoe UI"/>
              </a:rPr>
              <a:t>'s keys and values </a:t>
            </a:r>
            <a:r>
              <a:rPr sz="1250" b="1">
                <a:solidFill>
                  <a:srgbClr val="151515"/>
                </a:solidFill>
                <a:latin typeface="Segoe UI"/>
              </a:rPr>
              <a:t>never change</a:t>
            </a:r>
            <a:r>
              <a:rPr sz="1250" b="0">
                <a:solidFill>
                  <a:srgbClr val="151515"/>
                </a:solidFill>
                <a:latin typeface="Segoe UI"/>
              </a:rPr>
              <a:t> when you append token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t+1</a:t>
            </a:r>
            <a:r>
              <a:rPr sz="1250" b="0">
                <a:solidFill>
                  <a:srgbClr val="151515"/>
                </a:solidFill>
                <a:latin typeface="Segoe UI"/>
              </a:rPr>
              <a:t>. So cache them. Generating the 1,000th token then costs one new row of attention instead of recomputing all 1,000. </a:t>
            </a:r>
            <a:r>
              <a:rPr sz="1250" b="1">
                <a:solidFill>
                  <a:srgbClr val="151515"/>
                </a:solidFill>
                <a:latin typeface="Segoe UI"/>
              </a:rPr>
              <a:t>O(T) per token instead of O(T²).</a:t>
            </a:r>
            <a:r>
              <a:rPr sz="1250" b="0">
                <a:solidFill>
                  <a:srgbClr val="151515"/>
                </a:solidFill>
                <a:latin typeface="Segoe UI"/>
              </a:rPr>
              <a:t> This is why the first token of a ChatGPT reply is slow and the rest stream fast.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15768"/>
            <a:ext cx="11185855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86207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2 — FLASHATTENTION  (TRAINING AND INFERENCE)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145536"/>
            <a:ext cx="10728655" cy="694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51515"/>
                </a:solidFill>
                <a:latin typeface="Segoe UI"/>
              </a:rPr>
              <a:t>Identical maths, different memory access.</a:t>
            </a:r>
            <a:r>
              <a:rPr sz="1250" b="0">
                <a:solidFill>
                  <a:srgbClr val="151515"/>
                </a:solidFill>
                <a:latin typeface="Segoe UI"/>
              </a:rPr>
              <a:t> The T×T attention matrix is never written to GPU main memory at all — it is computed in tiles inside fast on-chip SRAM. Memory goes from O(T²) to O(T), and it runs 2-4× faster. </a:t>
            </a:r>
            <a:r>
              <a:rPr sz="1200" b="0">
                <a:solidFill>
                  <a:srgbClr val="B54408"/>
                </a:solidFill>
                <a:latin typeface="Consolas"/>
              </a:rPr>
              <a:t>F.scaled_dot_product_attention</a:t>
            </a:r>
            <a:r>
              <a:rPr sz="1250" b="0">
                <a:solidFill>
                  <a:srgbClr val="151515"/>
                </a:solidFill>
                <a:latin typeface="Segoe UI"/>
              </a:rPr>
              <a:t> calls it for you. This single engineering change is a large part of why 100k context became possible.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34056"/>
            <a:ext cx="11094415" cy="2743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4133087"/>
            <a:ext cx="11185855" cy="16002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" y="427939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3 — GQA: GROUPED-QUERY 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4562855"/>
            <a:ext cx="10728655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The KV cache, not the compute, is what runs out of memory at long context. GQA keeps all </a:t>
            </a:r>
            <a:r>
              <a:rPr sz="1200" b="0">
                <a:solidFill>
                  <a:srgbClr val="B54408"/>
                </a:solidFill>
                <a:latin typeface="Consolas"/>
              </a:rPr>
              <a:t>n_head</a:t>
            </a:r>
            <a:r>
              <a:rPr sz="1250" b="0">
                <a:solidFill>
                  <a:srgbClr val="151515"/>
                </a:solidFill>
                <a:latin typeface="Segoe UI"/>
              </a:rPr>
              <a:t> </a:t>
            </a:r>
            <a:r>
              <a:rPr sz="1250" b="1">
                <a:solidFill>
                  <a:srgbClr val="151515"/>
                </a:solidFill>
                <a:latin typeface="Segoe UI"/>
              </a:rPr>
              <a:t>query</a:t>
            </a:r>
            <a:r>
              <a:rPr sz="1250" b="0">
                <a:solidFill>
                  <a:srgbClr val="151515"/>
                </a:solidFill>
                <a:latin typeface="Segoe UI"/>
              </a:rPr>
              <a:t> heads but shares a smaller number of </a:t>
            </a:r>
            <a:r>
              <a:rPr sz="1250" b="1">
                <a:solidFill>
                  <a:srgbClr val="151515"/>
                </a:solidFill>
                <a:latin typeface="Segoe UI"/>
              </a:rPr>
              <a:t>key/value</a:t>
            </a:r>
            <a:r>
              <a:rPr sz="1250" b="0">
                <a:solidFill>
                  <a:srgbClr val="151515"/>
                </a:solidFill>
                <a:latin typeface="Segoe UI"/>
              </a:rPr>
              <a:t> heads between them.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Llama 3: 32 query heads → 8 KV heads = </a:t>
            </a:r>
            <a:r>
              <a:rPr sz="1250" b="1">
                <a:solidFill>
                  <a:srgbClr val="151515"/>
                </a:solidFill>
                <a:latin typeface="Segoe UI"/>
              </a:rPr>
              <a:t>4× smaller cache</a:t>
            </a:r>
            <a:r>
              <a:rPr sz="1250" b="0">
                <a:solidFill>
                  <a:srgbClr val="151515"/>
                </a:solidFill>
                <a:latin typeface="Segoe UI"/>
              </a:rPr>
              <a:t>. gpt-oss-120b: 64 query heads → 8 KV heads = </a:t>
            </a:r>
            <a:r>
              <a:rPr sz="1250" b="1">
                <a:solidFill>
                  <a:srgbClr val="151515"/>
                </a:solidFill>
                <a:latin typeface="Segoe UI"/>
              </a:rPr>
              <a:t>8× smaller</a:t>
            </a:r>
            <a:r>
              <a:rPr sz="1250" b="0">
                <a:solidFill>
                  <a:srgbClr val="151515"/>
                </a:solidFill>
                <a:latin typeface="Segoe UI"/>
              </a:rPr>
              <a:t>. MQA is the extreme case of one KV head. Quality cost is close to zero; the memory saving is enormous.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BEYOND FILE 10  ·  GQA DRAWN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Where the memory actually goes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MHA — WHAT MODEL4.PY DOES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55648"/>
            <a:ext cx="105156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Q0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58568"/>
            <a:ext cx="1051560" cy="411480"/>
          </a:xfrm>
          <a:prstGeom prst="roundRect">
            <a:avLst>
              <a:gd name="adj" fmla="val 12000"/>
            </a:avLst>
          </a:prstGeom>
          <a:solidFill>
            <a:srgbClr val="FFE4D1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K0V0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1755648"/>
            <a:ext cx="105156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Q1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2258568"/>
            <a:ext cx="1051560" cy="411480"/>
          </a:xfrm>
          <a:prstGeom prst="roundRect">
            <a:avLst>
              <a:gd name="adj" fmla="val 12000"/>
            </a:avLst>
          </a:prstGeom>
          <a:solidFill>
            <a:srgbClr val="FFE4D1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K1V1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755648"/>
            <a:ext cx="105156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Q2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258568"/>
            <a:ext cx="1051560" cy="411480"/>
          </a:xfrm>
          <a:prstGeom prst="roundRect">
            <a:avLst>
              <a:gd name="adj" fmla="val 12000"/>
            </a:avLst>
          </a:prstGeom>
          <a:solidFill>
            <a:srgbClr val="FFE4D1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K2V2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55648"/>
            <a:ext cx="105156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Q3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258568"/>
            <a:ext cx="1051560" cy="411480"/>
          </a:xfrm>
          <a:prstGeom prst="roundRect">
            <a:avLst>
              <a:gd name="adj" fmla="val 12000"/>
            </a:avLst>
          </a:prstGeom>
          <a:solidFill>
            <a:srgbClr val="FFE4D1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K3V3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07208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4 queries, </a:t>
            </a:r>
            <a:r>
              <a:rPr sz="1150" b="1">
                <a:solidFill>
                  <a:srgbClr val="5C5C5C"/>
                </a:solidFill>
                <a:latin typeface="Segoe UI"/>
              </a:rPr>
              <a:t>4 KV pairs</a:t>
            </a:r>
            <a:r>
              <a:rPr sz="1150" b="0">
                <a:solidFill>
                  <a:srgbClr val="5C5C5C"/>
                </a:solidFill>
                <a:latin typeface="Segoe UI"/>
              </a:rPr>
              <a:t> to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8988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E8590C"/>
                </a:solidFill>
                <a:latin typeface="Segoe UI"/>
              </a:rPr>
              <a:t>GQA — WHAT LLAMA 3 AND GPT-OSS 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59" y="1755648"/>
            <a:ext cx="105156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Q0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1755648"/>
            <a:ext cx="105156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Q1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755648"/>
            <a:ext cx="105156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Q2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755648"/>
            <a:ext cx="105156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Q3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59" y="2258568"/>
            <a:ext cx="2240280" cy="411480"/>
          </a:xfrm>
          <a:prstGeom prst="roundRect">
            <a:avLst>
              <a:gd name="adj" fmla="val 12000"/>
            </a:avLst>
          </a:prstGeom>
          <a:solidFill>
            <a:srgbClr val="FFE4D1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K0 V0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258568"/>
            <a:ext cx="2240280" cy="411480"/>
          </a:xfrm>
          <a:prstGeom prst="roundRect">
            <a:avLst>
              <a:gd name="adj" fmla="val 12000"/>
            </a:avLst>
          </a:prstGeom>
          <a:solidFill>
            <a:srgbClr val="FFE4D1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K1 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807208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B54408"/>
                </a:solidFill>
                <a:latin typeface="Segoe UI"/>
              </a:rPr>
              <a:t>4 queries, </a:t>
            </a:r>
            <a:r>
              <a:rPr sz="1150" b="1">
                <a:solidFill>
                  <a:srgbClr val="B54408"/>
                </a:solidFill>
                <a:latin typeface="Segoe UI"/>
              </a:rPr>
              <a:t>2 KV pairs</a:t>
            </a:r>
            <a:r>
              <a:rPr sz="1150" b="0">
                <a:solidFill>
                  <a:srgbClr val="B54408"/>
                </a:solidFill>
                <a:latin typeface="Segoe UI"/>
              </a:rPr>
              <a:t> shared → half the cache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3035808"/>
          <a:ext cx="11185854" cy="2340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0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3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0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Query heads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KV heads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Cache saving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GPT-2 (2019) / our ARGPT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12 / 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12 / 4  (MHA)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1× (baseline)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1,024 / 128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Llama 2-70B, Llama 3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8×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4k → 128k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Mistral 7B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4×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32k (sliding window)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gpt-oss-120b (2025)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8×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131,072 (RoPE + YaRN)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DeepSeek-V3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MLA — a low-rank latent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instead of dropping heads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51515"/>
                          </a:solidFill>
                          <a:latin typeface="Segoe UI"/>
                        </a:rPr>
                        <a:t>~10×+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51515"/>
                          </a:solidFill>
                          <a:latin typeface="Segoe UI"/>
                        </a:rPr>
                        <a:t>128k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02920" y="5504688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" y="565099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POINT TO MAKE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" y="5934455"/>
            <a:ext cx="10728655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These all leave the </a:t>
            </a:r>
            <a:r>
              <a:rPr sz="1250" b="1">
                <a:solidFill>
                  <a:srgbClr val="151515"/>
                </a:solidFill>
                <a:latin typeface="Segoe UI"/>
              </a:rPr>
              <a:t>attention formula unchanged</a:t>
            </a:r>
            <a:r>
              <a:rPr sz="1250" b="0">
                <a:solidFill>
                  <a:srgbClr val="151515"/>
                </a:solidFill>
                <a:latin typeface="Segoe UI"/>
              </a:rPr>
              <a:t> — they only change how many copies of K and V you keep. </a:t>
            </a:r>
            <a:r>
              <a:rPr sz="1250" b="1">
                <a:solidFill>
                  <a:srgbClr val="151515"/>
                </a:solidFill>
                <a:latin typeface="Segoe UI"/>
              </a:rPr>
              <a:t>Engineering around the same maths.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BEYOND FILE 10  ·  MIXTURE OF EXPERTS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How a 117-billion-parameter model runs like a 5-billion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47088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51515"/>
                </a:solidFill>
                <a:latin typeface="Segoe UI"/>
              </a:rPr>
              <a:t>token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97480" y="1947672"/>
            <a:ext cx="411480" cy="20116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00400" y="1847088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router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298448"/>
            <a:ext cx="237744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expert 1  (an MLP)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801368"/>
            <a:ext cx="2377440" cy="411480"/>
          </a:xfrm>
          <a:prstGeom prst="roundRect">
            <a:avLst>
              <a:gd name="adj" fmla="val 12000"/>
            </a:avLst>
          </a:prstGeom>
          <a:solidFill>
            <a:srgbClr val="FFE4D1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expert 2  (an MLP)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304288"/>
            <a:ext cx="2377440" cy="411480"/>
          </a:xfrm>
          <a:prstGeom prst="roundRect">
            <a:avLst>
              <a:gd name="adj" fmla="val 12000"/>
            </a:avLst>
          </a:prstGeom>
          <a:solidFill>
            <a:srgbClr val="FFE4D1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expert 3  (an MLP)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807208"/>
            <a:ext cx="237744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51515"/>
                </a:solidFill>
                <a:latin typeface="Segoe UI"/>
              </a:rPr>
              <a:t>expert 4  (an MLP)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4728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C5C5C"/>
                </a:solidFill>
                <a:latin typeface="Segoe UI"/>
              </a:rPr>
              <a:t>…128 of them in gpt-oss-120b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543800" y="1947672"/>
            <a:ext cx="411480" cy="201168"/>
          </a:xfrm>
          <a:prstGeom prst="rightArrow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0" y="1847088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FF2E8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51515"/>
                </a:solidFill>
                <a:latin typeface="Segoe UI"/>
              </a:rPr>
              <a:t>weighted sum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813048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B54408"/>
                </a:solidFill>
                <a:latin typeface="Segoe UI"/>
              </a:rPr>
              <a:t>only the </a:t>
            </a:r>
            <a:r>
              <a:rPr sz="1150" b="1">
                <a:solidFill>
                  <a:srgbClr val="B54408"/>
                </a:solidFill>
                <a:latin typeface="Segoe UI"/>
              </a:rPr>
              <a:t>top 4</a:t>
            </a:r>
            <a:r>
              <a:rPr sz="1150" b="0">
                <a:solidFill>
                  <a:srgbClr val="B54408"/>
                </a:solidFill>
                <a:latin typeface="Segoe UI"/>
              </a:rPr>
              <a:t> run for any given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15968"/>
            <a:ext cx="111858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1">
                <a:solidFill>
                  <a:srgbClr val="151515"/>
                </a:solidFill>
                <a:latin typeface="Segoe UI"/>
              </a:rPr>
              <a:t>Replace the single MLP in each block with N MLPs plus a small router.</a:t>
            </a:r>
            <a:r>
              <a:rPr sz="1300" b="0">
                <a:solidFill>
                  <a:srgbClr val="151515"/>
                </a:solidFill>
                <a:latin typeface="Segoe UI"/>
              </a:rPr>
              <a:t> The router scores the experts for this token, and only the top-k actually run.</a:t>
            </a:r>
          </a:p>
          <a:p>
            <a:pPr>
              <a:lnSpc>
                <a:spcPct val="116000"/>
              </a:lnSpc>
              <a:spcBef>
                <a:spcPts val="110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1">
                <a:solidFill>
                  <a:srgbClr val="151515"/>
                </a:solidFill>
                <a:latin typeface="Segoe UI"/>
              </a:rPr>
              <a:t>Total parameters</a:t>
            </a:r>
            <a:r>
              <a:rPr sz="1300" b="0">
                <a:solidFill>
                  <a:srgbClr val="151515"/>
                </a:solidFill>
                <a:latin typeface="Segoe UI"/>
              </a:rPr>
              <a:t> grow enormously — that is where knowledge is stored. </a:t>
            </a:r>
            <a:r>
              <a:rPr sz="1300" b="1">
                <a:solidFill>
                  <a:srgbClr val="151515"/>
                </a:solidFill>
                <a:latin typeface="Segoe UI"/>
              </a:rPr>
              <a:t>Active parameters per token</a:t>
            </a:r>
            <a:r>
              <a:rPr sz="1300" b="0">
                <a:solidFill>
                  <a:srgbClr val="151515"/>
                </a:solidFill>
                <a:latin typeface="Segoe UI"/>
              </a:rPr>
              <a:t> stay small — that is what you pay for at inference. gpt-oss-120b: </a:t>
            </a:r>
            <a:r>
              <a:rPr sz="1300" b="1">
                <a:solidFill>
                  <a:srgbClr val="151515"/>
                </a:solidFill>
                <a:latin typeface="Segoe UI"/>
              </a:rPr>
              <a:t>117B total, 5.1B active.</a:t>
            </a:r>
            <a:r>
              <a:rPr sz="1300" b="0">
                <a:solidFill>
                  <a:srgbClr val="151515"/>
                </a:solidFill>
                <a:latin typeface="Segoe UI"/>
              </a:rPr>
              <a:t> DeepSeek-V3: </a:t>
            </a:r>
            <a:r>
              <a:rPr sz="1300" b="1">
                <a:solidFill>
                  <a:srgbClr val="151515"/>
                </a:solidFill>
                <a:latin typeface="Segoe UI"/>
              </a:rPr>
              <a:t>671B total, 37B active.</a:t>
            </a:r>
          </a:p>
          <a:p>
            <a:pPr>
              <a:lnSpc>
                <a:spcPct val="116000"/>
              </a:lnSpc>
              <a:spcBef>
                <a:spcPts val="110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0">
                <a:solidFill>
                  <a:srgbClr val="151515"/>
                </a:solidFill>
                <a:latin typeface="Segoe UI"/>
              </a:rPr>
              <a:t>The cost is memory: every expert must be resident in VRAM even though most are idle. That is why MoE models are big to host but cheap to run.</a:t>
            </a:r>
          </a:p>
          <a:p>
            <a:pPr>
              <a:lnSpc>
                <a:spcPct val="116000"/>
              </a:lnSpc>
              <a:spcBef>
                <a:spcPts val="110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0">
                <a:solidFill>
                  <a:srgbClr val="151515"/>
                </a:solidFill>
                <a:latin typeface="Segoe UI"/>
              </a:rPr>
              <a:t>Recall that </a:t>
            </a:r>
            <a:r>
              <a:rPr sz="1300" b="1">
                <a:solidFill>
                  <a:srgbClr val="151515"/>
                </a:solidFill>
                <a:latin typeface="Segoe UI"/>
              </a:rPr>
              <a:t>two thirds of a dense GPT's parameters are in the MLPs.</a:t>
            </a:r>
            <a:r>
              <a:rPr sz="1300" b="0">
                <a:solidFill>
                  <a:srgbClr val="151515"/>
                </a:solidFill>
                <a:latin typeface="Segoe UI"/>
              </a:rPr>
              <a:t> MoE is a direct answer to exactly that observation.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BEYOND FILE 10  ·  THE REST OF THE 2025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Everything else a frontier model adds on top of what you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82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5854" cy="4846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2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7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5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Technique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Why it helps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Sliding-window attention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Most layers attend only to the last W tokens (gpt-oss: 128), with full attention every other layer.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Bounds cost at long context while a few dense layers still carry global information.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Attention sinks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A learned bias in the softmax denominator, letting a head attend to </a:t>
                      </a:r>
                      <a:r>
                        <a:rPr sz="1000" b="0" i="1">
                          <a:solidFill>
                            <a:srgbClr val="151515"/>
                          </a:solidFill>
                          <a:latin typeface="Segoe UI"/>
                        </a:rPr>
                        <a:t>nothing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Without it a head is forced to distribute 100% somewhere. Fixes the quality collapse that streaming long contexts used to cause.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YaRN / position interpolation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Rescale RoPE's frequencies after training.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Takes a model trained at 4k and runs it at 128k+ with a short fine-tune instead of a full retrain.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QK-Norm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Normalise q and k before the dot product.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Stops attention logits blowing up in very large runs. Cheap stability insurance.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bf16 / fp8 / MXFP4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Train and serve in fewer bits per number.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2-4× throughput and memory. gpt-oss ships its experts in </a:t>
                      </a: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MXFP4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, which is how 117B parameters fit on one 80 GB card.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LR warmup + cosine decay, weight decay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A schedule instead of a constant learning rate.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Worth several percent of final loss for free. One of our “did not build” items.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Speculative decoding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A small draft model proposes several tokens; the big model verifies them in one pass.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2-3× faster generation with </a:t>
                      </a: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identical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 output distribution.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Post-training: SFT → RLHF/DPO → reasoning RL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Not architecture at all.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Segoe UI"/>
                        </a:rPr>
                        <a:t>Arguably the biggest quality jump of 2024-25.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 It is what makes a model </a:t>
                      </a:r>
                      <a:r>
                        <a:rPr sz="1000" b="0" i="1">
                          <a:solidFill>
                            <a:srgbClr val="151515"/>
                          </a:solidFill>
                          <a:latin typeface="Segoe UI"/>
                        </a:rPr>
                        <a:t>useful</a:t>
                      </a:r>
                      <a:r>
                        <a:rPr sz="1000" b="0">
                          <a:solidFill>
                            <a:srgbClr val="151515"/>
                          </a:solidFill>
                          <a:latin typeface="Segoe UI"/>
                        </a:rPr>
                        <a:t> rather than merely fluent.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SO WHICH OF THESE DOES GPT-5 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honest answer, which is a better lesson than a confident guess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83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85855" cy="105156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444751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WHAT OPENAI HAS ACTUALLY PUBLISHED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728216"/>
            <a:ext cx="10728655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51515"/>
                </a:solidFill>
                <a:latin typeface="Segoe UI"/>
              </a:rPr>
              <a:t>GPT-5's architecture is not disclosed.</a:t>
            </a:r>
            <a:r>
              <a:rPr sz="1250" b="0">
                <a:solidFill>
                  <a:srgbClr val="151515"/>
                </a:solidFill>
                <a:latin typeface="Segoe UI"/>
              </a:rPr>
              <a:t> There is no paper, no parameter count, no layer configuration. Anyone quoting exact numbers is guessing. The system card describes the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product</a:t>
            </a:r>
            <a:r>
              <a:rPr sz="1250" b="0">
                <a:solidFill>
                  <a:srgbClr val="151515"/>
                </a:solidFill>
                <a:latin typeface="Segoe UI"/>
              </a:rPr>
              <a:t>, not the internals — and says 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32888"/>
            <a:ext cx="5364327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67919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WHAT IS PUBLIC ABOUT GPT-5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962656"/>
            <a:ext cx="4907127" cy="1380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It is a </a:t>
            </a:r>
            <a:r>
              <a:rPr sz="1250" b="1">
                <a:solidFill>
                  <a:srgbClr val="151515"/>
                </a:solidFill>
                <a:latin typeface="Segoe UI"/>
              </a:rPr>
              <a:t>routed system</a:t>
            </a:r>
            <a:r>
              <a:rPr sz="1250" b="0">
                <a:solidFill>
                  <a:srgbClr val="151515"/>
                </a:solidFill>
                <a:latin typeface="Segoe UI"/>
              </a:rPr>
              <a:t>, not one model: a fast main model, a deeper “thinking” model, and a real-time router that picks between them per message.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1">
                <a:solidFill>
                  <a:srgbClr val="151515"/>
                </a:solidFill>
                <a:latin typeface="Segoe UI"/>
              </a:rPr>
              <a:t>400,000-token context</a:t>
            </a:r>
            <a:r>
              <a:rPr sz="1250" b="0">
                <a:solidFill>
                  <a:srgbClr val="151515"/>
                </a:solidFill>
                <a:latin typeface="Segoe UI"/>
              </a:rPr>
              <a:t>, up to 128,000 output tokens.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Heavy reinforcement learning for reasoning. OpenAI explicitly did not publish the router's architecture, thresholds, or training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51176"/>
            <a:ext cx="5272887" cy="2743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24447" y="2532888"/>
            <a:ext cx="5364327" cy="192024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2191" y="267919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WHAT WE CAN SAY WITH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191" y="2962656"/>
            <a:ext cx="4907127" cy="1380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OpenAI </a:t>
            </a:r>
            <a:r>
              <a:rPr sz="1250" b="1">
                <a:solidFill>
                  <a:srgbClr val="151515"/>
                </a:solidFill>
                <a:latin typeface="Segoe UI"/>
              </a:rPr>
              <a:t>did</a:t>
            </a:r>
            <a:r>
              <a:rPr sz="1250" b="0">
                <a:solidFill>
                  <a:srgbClr val="151515"/>
                </a:solidFill>
                <a:latin typeface="Segoe UI"/>
              </a:rPr>
              <a:t> publish full architecture details for </a:t>
            </a:r>
            <a:r>
              <a:rPr sz="1250" b="1">
                <a:solidFill>
                  <a:srgbClr val="151515"/>
                </a:solidFill>
                <a:latin typeface="Segoe UI"/>
              </a:rPr>
              <a:t>gpt-oss-120b / 20b</a:t>
            </a:r>
            <a:r>
              <a:rPr sz="1250" b="0">
                <a:solidFill>
                  <a:srgbClr val="151515"/>
                </a:solidFill>
                <a:latin typeface="Segoe UI"/>
              </a:rPr>
              <a:t> (August 2025) — their open-weight models.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That is the closest public evidence of OpenAI's current design language, and it uses </a:t>
            </a:r>
            <a:r>
              <a:rPr sz="1250" b="1">
                <a:solidFill>
                  <a:srgbClr val="151515"/>
                </a:solidFill>
                <a:latin typeface="Segoe UI"/>
              </a:rPr>
              <a:t>every technique on the previous four slides</a:t>
            </a:r>
            <a:r>
              <a:rPr sz="1250" b="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It is fair to teach: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“this is the shape of a 2025 frontier model.”</a:t>
            </a:r>
            <a:r>
              <a:rPr sz="1250" b="0">
                <a:solidFill>
                  <a:srgbClr val="151515"/>
                </a:solidFill>
                <a:latin typeface="Segoe UI"/>
              </a:rPr>
              <a:t> It is not fair to teach: </a:t>
            </a:r>
            <a:r>
              <a:rPr sz="1250" b="0" i="1">
                <a:solidFill>
                  <a:srgbClr val="151515"/>
                </a:solidFill>
                <a:latin typeface="Segoe UI"/>
              </a:rPr>
              <a:t>“this is GPT-5.”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27448"/>
            <a:ext cx="11185855" cy="123444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" y="487375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TEACHING ANSWER TO GIVE WHEN A STUDENT 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5157216"/>
            <a:ext cx="10728655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 i="1">
                <a:solidFill>
                  <a:srgbClr val="151515"/>
                </a:solidFill>
                <a:latin typeface="Segoe UI"/>
              </a:rPr>
              <a:t>“Take the three swaps in file 10 — RMSNorm, RoPE, SwiGLU — then add GQA, MoE, FlashAttention, sliding-window attention and long-context RoPE scaling. That is the shape of every 2025 frontier model, GPT-5 almost certainly included. The exact numbers are a trade secret, and it is worth knowing the difference between what we know and what we assume.”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GPT-OSS-120B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OpenAI's own open model, component by component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84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5854" cy="4123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gpt-oss-120b (published, Aug 2025)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we built in model4.py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Objective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next-token prediction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identical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Block structure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attention → MLP, pre-norm, residual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identical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Mask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causal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identical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Normalisation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RMSNorm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before each attention and MoE block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LayerNorm, pre-norm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Positions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RoPE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, extended to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131,072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tokens with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YaRN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learned pos_emb, 128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Feed-forward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MoE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: 128 experts,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top-4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routed, gated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SwiGLU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one dense GELU MLP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Attention heads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64 query heads (dim 64),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GQA with 8 KV heads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4 heads, MHA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Attention pattern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alternating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dense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and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banded sliding-window (128)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layers, with learned </a:t>
                      </a: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attention sinks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dense everywhere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Size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117B total / 5.1B active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per token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0.82M / 10.8M, all active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1">
                          <a:solidFill>
                            <a:srgbClr val="151515"/>
                          </a:solidFill>
                          <a:latin typeface="Segoe UI"/>
                        </a:rPr>
                        <a:t>MXFP4</a:t>
                      </a: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 quantised experts — fits on one 80 GB GPU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51515"/>
                          </a:solidFill>
                          <a:latin typeface="Segoe UI"/>
                        </a:rPr>
                        <a:t>fp32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623560"/>
            <a:ext cx="11185855" cy="6858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5769864"/>
            <a:ext cx="10728655" cy="429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Every single row is either </a:t>
            </a:r>
            <a:r>
              <a:rPr sz="1250" b="1">
                <a:solidFill>
                  <a:srgbClr val="151515"/>
                </a:solidFill>
                <a:latin typeface="Segoe UI"/>
              </a:rPr>
              <a:t>identical to what you built</a:t>
            </a:r>
            <a:r>
              <a:rPr sz="1250" b="0">
                <a:solidFill>
                  <a:srgbClr val="151515"/>
                </a:solidFill>
                <a:latin typeface="Segoe UI"/>
              </a:rPr>
              <a:t>, or one of the swaps in file 10 and the four slides after it. </a:t>
            </a:r>
            <a:r>
              <a:rPr sz="1250" b="1">
                <a:solidFill>
                  <a:srgbClr val="151515"/>
                </a:solidFill>
                <a:latin typeface="Segoe UI"/>
              </a:rPr>
              <a:t>There is nothing in that column you have not now seen.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2019 VS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How is the modern architecture actually better?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85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5853" cy="4123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3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7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3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Dimension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GPT-2, 2019  =  our model4.py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Frontier, 2025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The win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Context length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1,024 tokens, hard ceiling from a learned table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128k - 1M+ via RoPE + YaRN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~1,000×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Attention memory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O(T²) matrix written to GPU memory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FlashAttention: never materialised, O(T)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makes long context possible at all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KV cache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full — one K and V per head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GQA / MLA — 4-10× smaller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longer contexts fit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Normalisation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LayerNorm, 2 params per dim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RMSNorm + QK-norm, 1 param per dim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speed + stability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Feed-forward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dense GELU, every parameter active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SwiGLU + MoE, ~4% active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~20× params at the same cost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fp32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bf16 / fp8 / MXFP4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2-4× throughput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Training data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~40 GB WebText, ~10B tokens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10-20+ </a:t>
                      </a: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trillion</a:t>
                      </a: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 curated tokens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1">
                          <a:solidFill>
                            <a:srgbClr val="151515"/>
                          </a:solidFill>
                          <a:latin typeface="Segoe UI"/>
                        </a:rPr>
                        <a:t>~1,000×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Training recipe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constant LR, pretraining only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warmup + cosine, then SFT → RLHF/DPO → reasoning RL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the qualitative jump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Serving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recompute everything, one request at a time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KV cache, paged attention, continuous batching, speculative decoding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orders of magnitude cheaper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What it can do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continue text plausibly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follow instructions, use tools, reason, see images, write code that runs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980" b="0">
                          <a:solidFill>
                            <a:srgbClr val="15151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BUT BE HONEST ABOUT WHERE THE GAINS CAME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architecture is the smallest part of the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86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484778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38528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B54408"/>
                </a:solidFill>
                <a:latin typeface="Segoe UI"/>
              </a:rPr>
              <a:t>RMSNorm, RoPE, SwiGLU,
GQA, FlashAttention, MoE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70048"/>
            <a:ext cx="33018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These mostly did not make models </a:t>
            </a:r>
            <a:r>
              <a:rPr sz="1150" b="1">
                <a:solidFill>
                  <a:srgbClr val="5C5C5C"/>
                </a:solidFill>
                <a:latin typeface="Segoe UI"/>
              </a:rPr>
              <a:t>smarter</a:t>
            </a:r>
            <a:r>
              <a:rPr sz="1150" b="0">
                <a:solidFill>
                  <a:srgbClr val="5C5C5C"/>
                </a:solidFill>
                <a:latin typeface="Segoe UI"/>
              </a:rPr>
              <a:t> directly. They made it </a:t>
            </a:r>
            <a:r>
              <a:rPr sz="1150" b="1">
                <a:solidFill>
                  <a:srgbClr val="5C5C5C"/>
                </a:solidFill>
                <a:latin typeface="Segoe UI"/>
              </a:rPr>
              <a:t>affordable to train and serve a much bigger model on much more data.</a:t>
            </a:r>
            <a:r>
              <a:rPr sz="1150" b="0">
                <a:solidFill>
                  <a:srgbClr val="5C5C5C"/>
                </a:solidFill>
                <a:latin typeface="Segoe UI"/>
              </a:rPr>
              <a:t> Their real contribution is removing the ceiling.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458" y="1298448"/>
            <a:ext cx="3484778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1938528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B54408"/>
                </a:solidFill>
                <a:latin typeface="Segoe UI"/>
              </a:rPr>
              <a:t>1,000× more data,
100,000× more 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4898" y="2670048"/>
            <a:ext cx="33018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This is where most of the raw capability came from. SmolLM2-135M is only ~13× bigger than ARGPT-SMALL but saw </a:t>
            </a:r>
            <a:r>
              <a:rPr sz="1150" b="1">
                <a:solidFill>
                  <a:srgbClr val="5C5C5C"/>
                </a:solidFill>
                <a:latin typeface="Segoe UI"/>
              </a:rPr>
              <a:t>~2,000,000× more tokens.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03996" y="1298448"/>
            <a:ext cx="3484778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Post-training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1938528"/>
            <a:ext cx="34847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B54408"/>
                </a:solidFill>
                <a:latin typeface="Segoe UI"/>
              </a:rPr>
              <a:t>SFT → RLHF/DPO →
reasoning 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670048"/>
            <a:ext cx="33018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5C5C5C"/>
                </a:solidFill>
                <a:latin typeface="Segoe UI"/>
              </a:rPr>
              <a:t>Not architecture at all.</a:t>
            </a:r>
            <a:r>
              <a:rPr sz="1150" b="0">
                <a:solidFill>
                  <a:srgbClr val="5C5C5C"/>
                </a:solidFill>
                <a:latin typeface="Segoe UI"/>
              </a:rPr>
              <a:t> This is what turns a fluent text-continuer into something that answers your question, uses a tool, and thinks before replying. Arguably the biggest single jump of 2024-25.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90288"/>
            <a:ext cx="11185855" cy="146304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473659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THE CONCLUSION TO LEAVE THEM WITH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5020055"/>
            <a:ext cx="10728655" cy="923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151515"/>
                </a:solidFill>
                <a:latin typeface="Segoe UI"/>
              </a:rPr>
              <a:t>If you dropped GPT-2's exact 2019 architecture into 2025 — same LayerNorm, same learned positions, same dense GELU MLP — but gave it modern data, modern compute and modern post-training, </a:t>
            </a:r>
            <a:r>
              <a:rPr sz="1250" b="1">
                <a:solidFill>
                  <a:srgbClr val="151515"/>
                </a:solidFill>
                <a:latin typeface="Segoe UI"/>
              </a:rPr>
              <a:t>you would get something startlingly good.</a:t>
            </a:r>
            <a:r>
              <a:rPr sz="1250" b="0">
                <a:solidFill>
                  <a:srgbClr val="151515"/>
                </a:solidFill>
                <a:latin typeface="Segoe UI"/>
              </a:rPr>
              <a:t> Slower and more expensive than the real thing, and capped at short context, but good.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50" b="1">
                <a:solidFill>
                  <a:srgbClr val="151515"/>
                </a:solidFill>
                <a:latin typeface="Segoe UI"/>
              </a:rPr>
              <a:t>The core did not change. What changed was everything around it.</a:t>
            </a:r>
            <a:r>
              <a:rPr sz="1250" b="0">
                <a:solidFill>
                  <a:srgbClr val="151515"/>
                </a:solidFill>
                <a:latin typeface="Segoe UI"/>
              </a:rPr>
              <a:t> That is exactly why learning the 2019 core first is the right call.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HOW MUCH DATA DOES A MODEL NEED?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Chinchilla rule, and why our models are deliberately starved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87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85855" cy="7315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444751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500" b="0">
                <a:solidFill>
                  <a:srgbClr val="151515"/>
                </a:solidFill>
                <a:latin typeface="Segoe UI"/>
              </a:rPr>
              <a:t>Chinchilla (DeepMind, 2022): for compute-optimal training, use about </a:t>
            </a:r>
            <a:r>
              <a:rPr sz="1500" b="1">
                <a:solidFill>
                  <a:srgbClr val="E8590C"/>
                </a:solidFill>
                <a:latin typeface="Segoe UI"/>
              </a:rPr>
              <a:t>20 tokens of data per parameter</a:t>
            </a:r>
            <a:r>
              <a:rPr sz="1500" b="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258568"/>
          <a:ext cx="5364325" cy="1792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9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7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Params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Wants (~20×)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ARGPT TINY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0.8 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~16 M tokens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ARGPT SMALL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10.8 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~200 M tokens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SmolLM2-135M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135 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~2.7 B tokens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GPT-3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175 B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~3.5 T tokens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4447" y="2258568"/>
          <a:ext cx="5364326" cy="1426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4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Our actual run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Have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TINY on Shakespeare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1.1 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15× short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SMALL on coding (BPE)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4.6 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43× short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SMALL on knowledge (char)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10.7 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19× short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087368"/>
            <a:ext cx="1118585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3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50" b="1">
                <a:solidFill>
                  <a:srgbClr val="151515"/>
                </a:solidFill>
                <a:latin typeface="Segoe UI"/>
              </a:rPr>
              <a:t>Every model in this project is data-limited, not parameter-limited.</a:t>
            </a:r>
            <a:r>
              <a:rPr sz="1350" b="0">
                <a:solidFill>
                  <a:srgbClr val="151515"/>
                </a:solidFill>
                <a:latin typeface="Segoe UI"/>
              </a:rPr>
              <a:t> We compensate by doing multiple epochs — TINY passes over Shakespeare about </a:t>
            </a:r>
            <a:r>
              <a:rPr sz="1350" b="1">
                <a:solidFill>
                  <a:srgbClr val="151515"/>
                </a:solidFill>
                <a:latin typeface="Segoe UI"/>
              </a:rPr>
              <a:t>7.3 times</a:t>
            </a:r>
            <a:r>
              <a:rPr sz="1350" b="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1200"/>
              </a:spcBef>
            </a:pPr>
            <a:r>
              <a:rPr sz="13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50" b="0">
                <a:solidFill>
                  <a:srgbClr val="151515"/>
                </a:solidFill>
                <a:latin typeface="Segoe UI"/>
              </a:rPr>
              <a:t>That is fine for a demo, and it is exactly </a:t>
            </a:r>
            <a:r>
              <a:rPr sz="1350" b="0" i="1">
                <a:solidFill>
                  <a:srgbClr val="151515"/>
                </a:solidFill>
                <a:latin typeface="Segoe UI"/>
              </a:rPr>
              <a:t>why</a:t>
            </a:r>
            <a:r>
              <a:rPr sz="1350" b="0">
                <a:solidFill>
                  <a:srgbClr val="151515"/>
                </a:solidFill>
                <a:latin typeface="Segoe UI"/>
              </a:rPr>
              <a:t> val loss matters: with this little data a model starts memorising rather than generalising, and the val curve is how you catch it.</a:t>
            </a:r>
          </a:p>
          <a:p>
            <a:pPr>
              <a:lnSpc>
                <a:spcPct val="116000"/>
              </a:lnSpc>
              <a:spcBef>
                <a:spcPts val="1200"/>
              </a:spcBef>
            </a:pPr>
            <a:r>
              <a:rPr sz="135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50" b="0">
                <a:solidFill>
                  <a:srgbClr val="151515"/>
                </a:solidFill>
                <a:latin typeface="Segoe UI"/>
              </a:rPr>
              <a:t>So the </a:t>
            </a:r>
            <a:r>
              <a:rPr sz="1350" b="1">
                <a:solidFill>
                  <a:srgbClr val="151515"/>
                </a:solidFill>
                <a:latin typeface="Segoe UI"/>
              </a:rPr>
              <a:t>#1 lever to make ARGPT better is more and better-matched data</a:t>
            </a:r>
            <a:r>
              <a:rPr sz="1350" b="0">
                <a:solidFill>
                  <a:srgbClr val="151515"/>
                </a:solidFill>
                <a:latin typeface="Segoe UI"/>
              </a:rPr>
              <a:t>, not more layers. If a student asks “should I add layers?”, the answer is almost always no.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THE NUMBER THAT ANSWERS “WHY ISN'T MINE CHATGPT?”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Modern small models deliberately break the Chinchilla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88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5853" cy="2386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1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1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Parameters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Tokens trained on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Tokens per parameter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Chinchilla-optimal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20 · 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ARGPT SMALL</a:t>
                      </a: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 </a:t>
                      </a:r>
                      <a:r>
                        <a:rPr sz="1150" b="0" i="1">
                          <a:solidFill>
                            <a:srgbClr val="151515"/>
                          </a:solidFill>
                          <a:latin typeface="Segoe UI"/>
                        </a:rPr>
                        <a:t>(ours)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10.8 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~4.6 M unique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~0.4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SmolLM2-135M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135 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51515"/>
                          </a:solidFill>
                          <a:latin typeface="Segoe UI"/>
                        </a:rPr>
                        <a:t>2 trillion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~14,800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SmolLM2-360M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360 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4 trillion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~11,000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SmolLM2-1.7B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1.7 B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11 trillion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51515"/>
                          </a:solidFill>
                          <a:latin typeface="Segoe UI"/>
                        </a:rPr>
                        <a:t>~6,500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3904487"/>
            <a:ext cx="11185855" cy="118872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4050791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E8590C"/>
                </a:solidFill>
                <a:latin typeface="Segoe UI"/>
              </a:rPr>
              <a:t>LET THIS 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4334255"/>
            <a:ext cx="10728655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51515"/>
                </a:solidFill>
                <a:latin typeface="Segoe UI"/>
              </a:rPr>
              <a:t>SmolLM2-135M is only ~13× more parameters than ARGPT-SMALL, but it was trained on roughly 2,000,000× more tokens.</a:t>
            </a:r>
            <a:r>
              <a:rPr sz="1250" b="0">
                <a:solidFill>
                  <a:srgbClr val="151515"/>
                </a:solidFill>
                <a:latin typeface="Segoe UI"/>
              </a:rPr>
              <a:t> The parameters are the easy part. The data and the compute are the mountain.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21807"/>
            <a:ext cx="1118585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1">
                <a:solidFill>
                  <a:srgbClr val="151515"/>
                </a:solidFill>
                <a:latin typeface="Segoe UI"/>
              </a:rPr>
              <a:t>Why over-train past 20×?</a:t>
            </a:r>
            <a:r>
              <a:rPr sz="1300" b="0">
                <a:solidFill>
                  <a:srgbClr val="151515"/>
                </a:solidFill>
                <a:latin typeface="Segoe UI"/>
              </a:rPr>
              <a:t> Chinchilla is optimal for </a:t>
            </a:r>
            <a:r>
              <a:rPr sz="1300" b="0" i="1">
                <a:solidFill>
                  <a:srgbClr val="151515"/>
                </a:solidFill>
                <a:latin typeface="Segoe UI"/>
              </a:rPr>
              <a:t>training cost</a:t>
            </a:r>
            <a:r>
              <a:rPr sz="1300" b="0">
                <a:solidFill>
                  <a:srgbClr val="151515"/>
                </a:solidFill>
                <a:latin typeface="Segoe UI"/>
              </a:rPr>
              <a:t>. But you train once and serve forever — so it is often worth a smaller model trained far longer, because it is cheaper to run for the rest of its life.</a:t>
            </a:r>
          </a:p>
          <a:p>
            <a:pPr>
              <a:lnSpc>
                <a:spcPct val="116000"/>
              </a:lnSpc>
              <a:spcBef>
                <a:spcPts val="1000"/>
              </a:spcBef>
            </a:pPr>
            <a:r>
              <a:rPr sz="1300" b="1">
                <a:solidFill>
                  <a:srgbClr val="E8590C"/>
                </a:solidFill>
                <a:latin typeface="Segoe UI"/>
              </a:rPr>
              <a:t>—   </a:t>
            </a:r>
            <a:r>
              <a:rPr sz="1300" b="1">
                <a:solidFill>
                  <a:srgbClr val="151515"/>
                </a:solidFill>
                <a:latin typeface="Segoe UI"/>
              </a:rPr>
              <a:t>Matching data complexity to model capacity matters more than raw token count.</a:t>
            </a:r>
            <a:r>
              <a:rPr sz="1300" b="0">
                <a:solidFill>
                  <a:srgbClr val="151515"/>
                </a:solidFill>
                <a:latin typeface="Segoe UI"/>
              </a:rPr>
              <a:t> TinyStories — simple stories written for four-year-olds — produces genuinely readable English at 10M parameters, where general web text produces mush.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THE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92" b="1">
                <a:solidFill>
                  <a:srgbClr val="151515"/>
                </a:solidFill>
                <a:latin typeface="Segoe UI"/>
              </a:rPr>
              <a:t>How to get from ARGPT to something genuinely useful, in order of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89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8930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51515"/>
                </a:solidFill>
                <a:latin typeface="Segoe UI"/>
              </a:rPr>
              <a:t>More, and better-matched,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27631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The biggest lever by a distance. Feed parameters ~20×+ their count in tokens, and pick data a model this size can actually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93391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8424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51515"/>
                </a:solidFill>
                <a:latin typeface="Segoe UI"/>
              </a:rPr>
              <a:t>More parameters — but only alongside more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22575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n_layer and n_embd. Raise them without raising data and you simply memorise faster.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88336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7919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51515"/>
                </a:solidFill>
                <a:latin typeface="Segoe UI"/>
              </a:rPr>
              <a:t>Longer context: block_size + RoPE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1752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So the model can use long histories, and generalise past the length it trained 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80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74136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51515"/>
                </a:solidFill>
                <a:latin typeface="Segoe UI"/>
              </a:rPr>
              <a:t>The modern architecture swaps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71246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RMSNorm, SwiGLU, GQA, FlashAttention. Marginal at our scale, decisive at billions.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78224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6908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51515"/>
                </a:solidFill>
                <a:latin typeface="Segoe UI"/>
              </a:rPr>
              <a:t>Efficiency, so you can afford steps 1-4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40740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bf16 mixed precision, torch.compile, gradient accumulation, LR warmup + cosine decay.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773168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6402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51515"/>
                </a:solidFill>
                <a:latin typeface="Segoe UI"/>
              </a:rPr>
              <a:t>Instruction tuning (SFT)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10235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Fine-tune on many instruction→response pairs. </a:t>
            </a:r>
            <a:r>
              <a:rPr sz="1150" b="1">
                <a:solidFill>
                  <a:srgbClr val="5C5C5C"/>
                </a:solidFill>
                <a:latin typeface="Segoe UI"/>
              </a:rPr>
              <a:t>The step that turns “continues text” into “follows commands”.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468112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5896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51515"/>
                </a:solidFill>
                <a:latin typeface="Segoe UI"/>
              </a:rPr>
              <a:t>Preference alignment (RLHF or DPO), then reasoning 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797296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5C5C"/>
                </a:solidFill>
                <a:latin typeface="Segoe UI"/>
              </a:rPr>
              <a:t>The final polish: match human preference, then learn to think in steps before answering.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THE FAQ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Hard questions students will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590C"/>
                </a:solidFill>
                <a:latin typeface="Segoe UI"/>
              </a:rPr>
              <a:t>Q   Why can't it answer my question or do maths?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774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515"/>
                </a:solidFill>
                <a:latin typeface="Segoe UI"/>
              </a:rPr>
              <a:t>Because we only did </a:t>
            </a:r>
            <a:r>
              <a:rPr sz="1200" b="1">
                <a:solidFill>
                  <a:srgbClr val="151515"/>
                </a:solidFill>
                <a:latin typeface="Segoe UI"/>
              </a:rPr>
              <a:t>pretraining</a:t>
            </a:r>
            <a:r>
              <a:rPr sz="1200" b="0">
                <a:solidFill>
                  <a:srgbClr val="151515"/>
                </a:solidFill>
                <a:latin typeface="Segoe UI"/>
              </a:rPr>
              <a:t>. It continues text; it does not respond to requests. Feed it a seed, not a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590C"/>
                </a:solidFill>
                <a:latin typeface="Segoe UI"/>
              </a:rPr>
              <a:t>Q   Where is the “intelligence” stored? What did it actually learn?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14015"/>
            <a:ext cx="10774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515"/>
                </a:solidFill>
                <a:latin typeface="Segoe UI"/>
              </a:rPr>
              <a:t>In the 818,048 weights — the embedding tables, the q/k/v/proj matrices and the MLPs. Concretely: a giant statistical model of which token follows which.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07791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590C"/>
                </a:solidFill>
                <a:latin typeface="Segoe UI"/>
              </a:rPr>
              <a:t>Q   What makes this a GPT and not a BERT?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7"/>
            <a:ext cx="10774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515"/>
                </a:solidFill>
                <a:latin typeface="Segoe UI"/>
              </a:rPr>
              <a:t>The mask. GPT is causal, left-to-right, predict-the-next. BERT is bidirectional and fills in blanks. </a:t>
            </a:r>
            <a:r>
              <a:rPr sz="1200" b="1">
                <a:solidFill>
                  <a:srgbClr val="151515"/>
                </a:solidFill>
                <a:latin typeface="Segoe UI"/>
              </a:rPr>
              <a:t>Same attention maths, different mask, different objective.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12464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590C"/>
                </a:solidFill>
                <a:latin typeface="Segoe UI"/>
              </a:rPr>
              <a:t>Q   Why does the same prompt give different text every time?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10774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515"/>
                </a:solidFill>
                <a:latin typeface="Segoe UI"/>
              </a:rPr>
              <a:t>The last step is </a:t>
            </a:r>
            <a:r>
              <a:rPr sz="1150" b="0">
                <a:solidFill>
                  <a:srgbClr val="B54408"/>
                </a:solidFill>
                <a:latin typeface="Consolas"/>
              </a:rPr>
              <a:t>torch.multinomial</a:t>
            </a:r>
            <a:r>
              <a:rPr sz="1200" b="0">
                <a:solidFill>
                  <a:srgbClr val="151515"/>
                </a:solidFill>
                <a:latin typeface="Segoe UI"/>
              </a:rPr>
              <a:t> — a weighted dice roll over the top-k tokens, not “pick the maximum”. Lower the temperature to make it near-deterministic.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17136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590C"/>
                </a:solidFill>
                <a:latin typeface="Segoe UI"/>
              </a:rPr>
              <a:t>Q   Why can't it remember earlier in a long conversation?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28031"/>
            <a:ext cx="10774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515"/>
                </a:solidFill>
                <a:latin typeface="Segoe UI"/>
              </a:rPr>
              <a:t>It physically cannot see past </a:t>
            </a:r>
            <a:r>
              <a:rPr sz="1150" b="0">
                <a:solidFill>
                  <a:srgbClr val="B54408"/>
                </a:solidFill>
                <a:latin typeface="Consolas"/>
              </a:rPr>
              <a:t>block_size</a:t>
            </a:r>
            <a:r>
              <a:rPr sz="1200" b="0">
                <a:solidFill>
                  <a:srgbClr val="151515"/>
                </a:solidFill>
                <a:latin typeface="Segoe UI"/>
              </a:rPr>
              <a:t>. </a:t>
            </a:r>
            <a:r>
              <a:rPr sz="1150" b="0">
                <a:solidFill>
                  <a:srgbClr val="B54408"/>
                </a:solidFill>
                <a:latin typeface="Consolas"/>
              </a:rPr>
              <a:t>generate6.py</a:t>
            </a:r>
            <a:r>
              <a:rPr sz="1200" b="0">
                <a:solidFill>
                  <a:srgbClr val="151515"/>
                </a:solidFill>
                <a:latin typeface="Segoe UI"/>
              </a:rPr>
              <a:t> literally slices </a:t>
            </a:r>
            <a:r>
              <a:rPr sz="1150" b="0">
                <a:solidFill>
                  <a:srgbClr val="B54408"/>
                </a:solidFill>
                <a:latin typeface="Consolas"/>
              </a:rPr>
              <a:t>idx[:, -block_size:]</a:t>
            </a:r>
            <a:r>
              <a:rPr sz="1200" b="0">
                <a:solidFill>
                  <a:srgbClr val="151515"/>
                </a:solidFill>
                <a:latin typeface="Segoe UI"/>
              </a:rPr>
              <a:t>. Same constraint as Session 3's RAG chunking.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21808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590C"/>
                </a:solidFill>
                <a:latin typeface="Segoe UI"/>
              </a:rPr>
              <a:t>Q   If I make n_layer and n_embd huge, will it get smart?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32704"/>
            <a:ext cx="10774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515"/>
                </a:solidFill>
                <a:latin typeface="Segoe UI"/>
              </a:rPr>
              <a:t>No — you will memorise the tiny dataset. Train loss drops, val loss rises. Model size must grow </a:t>
            </a:r>
            <a:r>
              <a:rPr sz="1200" b="1">
                <a:solidFill>
                  <a:srgbClr val="151515"/>
                </a:solidFill>
                <a:latin typeface="Segoe UI"/>
              </a:rPr>
              <a:t>with</a:t>
            </a:r>
            <a:r>
              <a:rPr sz="1200" b="0">
                <a:solidFill>
                  <a:srgbClr val="151515"/>
                </a:solidFill>
                <a:latin typeface="Segoe UI"/>
              </a:rPr>
              <a:t> data.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THE FAQ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Hard questions students will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590C"/>
                </a:solidFill>
                <a:latin typeface="Segoe UI"/>
              </a:rPr>
              <a:t>Q   What are the units of loss, and what is a good number?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774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515"/>
                </a:solidFill>
                <a:latin typeface="Segoe UI"/>
              </a:rPr>
              <a:t>Cross-entropy in </a:t>
            </a:r>
            <a:r>
              <a:rPr sz="1200" b="1">
                <a:solidFill>
                  <a:srgbClr val="151515"/>
                </a:solidFill>
                <a:latin typeface="Segoe UI"/>
              </a:rPr>
              <a:t>nats</a:t>
            </a:r>
            <a:r>
              <a:rPr sz="1200" b="0">
                <a:solidFill>
                  <a:srgbClr val="151515"/>
                </a:solidFill>
                <a:latin typeface="Segoe UI"/>
              </a:rPr>
              <a:t>. Untrained ≈ ln(vocab_size): 4.17 for char-65, 6.93 for BPE-1024. On Shakespeare-char, ~1.6 is decent. </a:t>
            </a:r>
            <a:r>
              <a:rPr sz="1150" b="0">
                <a:solidFill>
                  <a:srgbClr val="B54408"/>
                </a:solidFill>
                <a:latin typeface="Consolas"/>
              </a:rPr>
              <a:t>perplexity = exp(loss)</a:t>
            </a:r>
            <a:r>
              <a:rPr sz="1200" b="0">
                <a:solidFill>
                  <a:srgbClr val="151515"/>
                </a:solidFill>
                <a:latin typeface="Segoe UI"/>
              </a:rPr>
              <a:t> if that lands better.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590C"/>
                </a:solidFill>
                <a:latin typeface="Segoe UI"/>
              </a:rPr>
              <a:t>Q   Is the tokenizer trained by backpropagation?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14015"/>
            <a:ext cx="10774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51515"/>
                </a:solidFill>
                <a:latin typeface="Segoe UI"/>
              </a:rPr>
              <a:t>No.</a:t>
            </a:r>
            <a:r>
              <a:rPr sz="1200" b="0">
                <a:solidFill>
                  <a:srgbClr val="151515"/>
                </a:solidFill>
                <a:latin typeface="Segoe UI"/>
              </a:rPr>
              <a:t> It is built by counting — BPE merges or the character set — before the model exists, and then frozen. The network never changes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07791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590C"/>
                </a:solidFill>
                <a:latin typeface="Segoe UI"/>
              </a:rPr>
              <a:t>Q   Char or BPE — which is better?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7"/>
            <a:ext cx="10774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515"/>
                </a:solidFill>
                <a:latin typeface="Segoe UI"/>
              </a:rPr>
              <a:t>Neither universally. Char: tiny vocab, long sequences, learns spelling, instant to build. BPE: bigger vocab, ~2.5× shorter sequences, longer effective memory. Same interface, so it is one CLI flag.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12464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590C"/>
                </a:solidFill>
                <a:latin typeface="Segoe UI"/>
              </a:rPr>
              <a:t>Q   Why 90/10 train/val — what does val actually catch?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10774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515"/>
                </a:solidFill>
                <a:latin typeface="Segoe UI"/>
              </a:rPr>
              <a:t>Val is text the model never trains on. Comparing the two curves is the only way to tell </a:t>
            </a:r>
            <a:r>
              <a:rPr sz="1200" b="0" i="1">
                <a:solidFill>
                  <a:srgbClr val="151515"/>
                </a:solidFill>
                <a:latin typeface="Segoe UI"/>
              </a:rPr>
              <a:t>learning the language</a:t>
            </a:r>
            <a:r>
              <a:rPr sz="1200" b="0">
                <a:solidFill>
                  <a:srgbClr val="151515"/>
                </a:solidFill>
                <a:latin typeface="Segoe UI"/>
              </a:rPr>
              <a:t> from </a:t>
            </a:r>
            <a:r>
              <a:rPr sz="1200" b="0" i="1">
                <a:solidFill>
                  <a:srgbClr val="151515"/>
                </a:solidFill>
                <a:latin typeface="Segoe UI"/>
              </a:rPr>
              <a:t>memorising the file</a:t>
            </a:r>
            <a:r>
              <a:rPr sz="1200" b="0">
                <a:solidFill>
                  <a:srgbClr val="151515"/>
                </a:solidFill>
                <a:latin typeface="Segoe UI"/>
              </a:rPr>
              <a:t>. It is the control group.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17136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590C"/>
                </a:solidFill>
                <a:latin typeface="Segoe UI"/>
              </a:rPr>
              <a:t>Q   Can I train it on my own writing, or another language, or emoji?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28031"/>
            <a:ext cx="10774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515"/>
                </a:solidFill>
                <a:latin typeface="Segoe UI"/>
              </a:rPr>
              <a:t>Yes. Drop any </a:t>
            </a:r>
            <a:r>
              <a:rPr sz="1150" b="0">
                <a:solidFill>
                  <a:srgbClr val="B54408"/>
                </a:solidFill>
                <a:latin typeface="Consolas"/>
              </a:rPr>
              <a:t>.txt</a:t>
            </a:r>
            <a:r>
              <a:rPr sz="1200" b="0">
                <a:solidFill>
                  <a:srgbClr val="151515"/>
                </a:solidFill>
                <a:latin typeface="Segoe UI"/>
              </a:rPr>
              <a:t> at </a:t>
            </a:r>
            <a:r>
              <a:rPr sz="1150" b="0">
                <a:solidFill>
                  <a:srgbClr val="B54408"/>
                </a:solidFill>
                <a:latin typeface="Consolas"/>
              </a:rPr>
              <a:t>data/custom/input.txt</a:t>
            </a:r>
            <a:r>
              <a:rPr sz="1200" b="0">
                <a:solidFill>
                  <a:srgbClr val="151515"/>
                </a:solidFill>
                <a:latin typeface="Segoe UI"/>
              </a:rPr>
              <a:t> and run </a:t>
            </a:r>
            <a:r>
              <a:rPr sz="1150" b="0">
                <a:solidFill>
                  <a:srgbClr val="B54408"/>
                </a:solidFill>
                <a:latin typeface="Consolas"/>
              </a:rPr>
              <a:t>python data3.py --dataset custom</a:t>
            </a:r>
            <a:r>
              <a:rPr sz="1200" b="0">
                <a:solidFill>
                  <a:srgbClr val="151515"/>
                </a:solidFill>
                <a:latin typeface="Segoe UI"/>
              </a:rPr>
              <a:t>. BPE starts from raw bytes, so nothing is ever out-of-vocabulary.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21808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590C"/>
                </a:solidFill>
                <a:latin typeface="Segoe UI"/>
              </a:rPr>
              <a:t>Q   How much would it cost to make it actually good?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32704"/>
            <a:ext cx="107743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515"/>
                </a:solidFill>
                <a:latin typeface="Segoe UI"/>
              </a:rPr>
              <a:t>SmolLM2-135M is ~13× our SMALL model but saw </a:t>
            </a:r>
            <a:r>
              <a:rPr sz="1200" b="1">
                <a:solidFill>
                  <a:srgbClr val="151515"/>
                </a:solidFill>
                <a:latin typeface="Segoe UI"/>
              </a:rPr>
              <a:t>2 trillion</a:t>
            </a:r>
            <a:r>
              <a:rPr sz="1200" b="0">
                <a:solidFill>
                  <a:srgbClr val="151515"/>
                </a:solidFill>
                <a:latin typeface="Segoe UI"/>
              </a:rPr>
              <a:t> tokens — millions of GPU-hours of data throughput. </a:t>
            </a:r>
            <a:r>
              <a:rPr sz="1200" b="1">
                <a:solidFill>
                  <a:srgbClr val="151515"/>
                </a:solidFill>
                <a:latin typeface="Segoe UI"/>
              </a:rPr>
              <a:t>The architecture is a weekend. The data and compute are the real cost.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NUMBERS TO HAVE MEMORISED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The cheat sheet — keep this one open while teaching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92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5364326" cy="3273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1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3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Thing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TINY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4 layers, 4 heads, n_embd 128, block 128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TINY parameters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818,048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 (~0.82M), ~3 min on CPU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SMALL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6 layers, 6 heads, n_embd 384, block 256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SMALL parameters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10,770,816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 (~10.8M), ~10 min on L4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head_size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n_embd / n_head — TINY 32, SMALL 64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Parameter formula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≈ n_layer × 12 × n_embd² + embeddings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Shakespeare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1.1 MB, char vocab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65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, 1,115,394 tokens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char → BPE compression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~2.5×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fewer tokens (1.12M → 453k)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Coding dataset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11.6 MB → ~4.6M BPE tokens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24447" y="1298448"/>
          <a:ext cx="5364326" cy="3273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8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Thing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Untrained loss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≈ ln(vocab):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4.17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char-65,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6.93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BPE-1024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Good Shakespeare-char loss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~1.6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TINY token-predictions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2000 × 32 × 128 =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8,192,000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 (~7.3 epochs)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SMALL token-predictions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5000 × 64 × 256 =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81,920,000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Chinchilla rule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~20 tokens per parameter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SmolLM2 training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135M→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2T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, 360M→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4T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, 1.7B→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11T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tokens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L4 GPU cost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$0.80/hr by the second ≈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13¢</a:t>
                      </a: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 per 10-min run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Modal free tier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$30/month ≈ </a:t>
                      </a:r>
                      <a:r>
                        <a:rPr sz="1100" b="1">
                          <a:solidFill>
                            <a:srgbClr val="151515"/>
                          </a:solidFill>
                          <a:latin typeface="Segoe UI"/>
                        </a:rPr>
                        <a:t>37 GPU-hours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GPT-5 context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51515"/>
                          </a:solidFill>
                          <a:latin typeface="Segoe UI"/>
                        </a:rPr>
                        <a:t>400,000 tokens (architecture undisclosed)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700016"/>
          <a:ext cx="11185854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17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8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When you see this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happened</a:t>
                      </a:r>
                    </a:p>
                  </a:txBody>
                  <a:tcPr marL="82296" marR="64008" marT="32004" marB="32004" anchor="ctr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B54408"/>
                          </a:solidFill>
                          <a:latin typeface="Consolas"/>
                        </a:rPr>
                        <a:t>AttributeError: module 'modal' has no attribute 'App'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A file named </a:t>
                      </a:r>
                      <a:r>
                        <a:rPr sz="1000" b="0">
                          <a:solidFill>
                            <a:srgbClr val="B54408"/>
                          </a:solidFill>
                          <a:latin typeface="Consolas"/>
                        </a:rPr>
                        <a:t>modal.py</a:t>
                      </a: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 is shadowing the package. Rename it.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B54408"/>
                          </a:solidFill>
                          <a:latin typeface="Consolas"/>
                        </a:rPr>
                        <a:t>IndexError: index out of range in self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vocab_size disagrees with the data. Re-run </a:t>
                      </a:r>
                      <a:r>
                        <a:rPr sz="1000" b="0">
                          <a:solidFill>
                            <a:srgbClr val="B54408"/>
                          </a:solidFill>
                          <a:latin typeface="Consolas"/>
                        </a:rPr>
                        <a:t>data3.py</a:t>
                      </a: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, then </a:t>
                      </a:r>
                      <a:r>
                        <a:rPr sz="1000" b="0">
                          <a:solidFill>
                            <a:srgbClr val="B54408"/>
                          </a:solidFill>
                          <a:latin typeface="Consolas"/>
                        </a:rPr>
                        <a:t>train5.py</a:t>
                      </a: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B54408"/>
                          </a:solidFill>
                          <a:latin typeface="Consolas"/>
                        </a:rPr>
                        <a:t>FileNotFoundError: .../train.bin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Run </a:t>
                      </a:r>
                      <a:r>
                        <a:rPr sz="1000" b="0">
                          <a:solidFill>
                            <a:srgbClr val="B54408"/>
                          </a:solidFill>
                          <a:latin typeface="Consolas"/>
                        </a:rPr>
                        <a:t>data3.py</a:t>
                      </a: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 before </a:t>
                      </a:r>
                      <a:r>
                        <a:rPr sz="1000" b="0">
                          <a:solidFill>
                            <a:srgbClr val="B54408"/>
                          </a:solidFill>
                          <a:latin typeface="Consolas"/>
                        </a:rPr>
                        <a:t>train5.py</a:t>
                      </a: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Loss goes to </a:t>
                      </a:r>
                      <a:r>
                        <a:rPr sz="1000" b="0">
                          <a:solidFill>
                            <a:srgbClr val="B54408"/>
                          </a:solidFill>
                          <a:latin typeface="Consolas"/>
                        </a:rPr>
                        <a:t>nan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51515"/>
                          </a:solidFill>
                          <a:latin typeface="Segoe UI"/>
                        </a:rPr>
                        <a:t>Learning rate too high. TINY uses 3e-4 for a reason.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Every term used in this session, in one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39" y="1298448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the atomic unit of text the model reads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0078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vocab_size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1700784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how many distinct tokens exist. </a:t>
            </a:r>
            <a:r>
              <a:rPr sz="1100" b="1">
                <a:solidFill>
                  <a:srgbClr val="5C5C5C"/>
                </a:solidFill>
                <a:latin typeface="Segoe UI"/>
              </a:rPr>
              <a:t>Set by the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n_embd (C)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2103120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the length of one token's vector. The model's width.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0545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n_layer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39" y="2505456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how many blocks are stacked. The model's depth.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07791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n_head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39" y="2907791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parallel attention heads per 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10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block_size (T)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39" y="3310128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max tokens it can look back at. Its memory span.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1246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Parameter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39" y="3712464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one learned number. 10M parameters = 10M knobs.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148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Embedding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4114800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a lookup table: id → a learned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1713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Attention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39" y="4517136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how tokens exchange information, via q / k / 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194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Causal mask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39" y="4919472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the rule that a token may only see earlier tokens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21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Residual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39" y="5321808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B54408"/>
                </a:solidFill>
                <a:latin typeface="Consolas"/>
              </a:rPr>
              <a:t>x = x + sublayer(x)</a:t>
            </a:r>
            <a:r>
              <a:rPr sz="1100" b="0">
                <a:solidFill>
                  <a:srgbClr val="5C5C5C"/>
                </a:solidFill>
                <a:latin typeface="Segoe UI"/>
              </a:rPr>
              <a:t> — adds a correction, enables depth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72414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Logits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39" y="5724144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raw pre-softmax scores, one per vocab token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447" y="129844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Cross-entropy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8967" y="1298448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“how surprised was the model”, measured in nats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447" y="170078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Perplexity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8967" y="1700784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B54408"/>
                </a:solidFill>
                <a:latin typeface="Consolas"/>
              </a:rPr>
              <a:t>exp(loss)</a:t>
            </a:r>
            <a:r>
              <a:rPr sz="1100" b="0">
                <a:solidFill>
                  <a:srgbClr val="5C5C5C"/>
                </a:solidFill>
                <a:latin typeface="Segoe UI"/>
              </a:rPr>
              <a:t> — how many tokens it is choosing between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4447" y="21031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Epoch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8967" y="2103120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one full pass over the training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4447" y="250545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Temperature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8967" y="2505456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generation boldness; divides logits before softmax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4447" y="2907791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top-k / top-p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8967" y="2907791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restrict sampling to the k best, or to a probability mass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4447" y="3310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Pretraining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8967" y="3310128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training on raw text with the next-token objective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4447" y="371246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SFT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8967" y="3712464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instruction tuning — fine-tuning on instruction→response pairs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4447" y="41148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RLHF / DPO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8967" y="4114800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aligning outputs to human preference, after SFT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4447" y="451713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Chinchilla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8967" y="4517136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the ~20-tokens-per-parameter compute-optimal rule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4447" y="49194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BPE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8967" y="4919472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byte-pair encoding — merge the most frequent adjacent pair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4447" y="5321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RoPE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8967" y="5321808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rotary positions; makes attention depend on the </a:t>
            </a:r>
            <a:r>
              <a:rPr sz="1100" b="1">
                <a:solidFill>
                  <a:srgbClr val="5C5C5C"/>
                </a:solidFill>
                <a:latin typeface="Segoe UI"/>
              </a:rPr>
              <a:t>gap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4447" y="572414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E8590C"/>
                </a:solidFill>
                <a:latin typeface="Segoe UI"/>
              </a:rPr>
              <a:t>GQA / MoE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8967" y="5724144"/>
            <a:ext cx="34898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5C5C"/>
                </a:solidFill>
                <a:latin typeface="Segoe UI"/>
              </a:rPr>
              <a:t>share KV heads / route to a few expert MLPs per token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spc="120">
                <a:solidFill>
                  <a:srgbClr val="E8590C"/>
                </a:solidFill>
                <a:latin typeface="Segoe UI"/>
              </a:rPr>
              <a:t>ONE LAST 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51515"/>
                </a:solidFill>
                <a:latin typeface="Segoe UI"/>
              </a:rPr>
              <a:t>What to say as you close the laptop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>
                <a:solidFill>
                  <a:srgbClr val="929292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E8590C"/>
                </a:solidFill>
                <a:latin typeface="Segoe UI"/>
              </a:rPr>
              <a:t>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11185855" cy="192024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719072"/>
            <a:ext cx="10728655" cy="1664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1600" b="0">
                <a:solidFill>
                  <a:srgbClr val="151515"/>
                </a:solidFill>
                <a:latin typeface="Segoe UI"/>
              </a:rPr>
              <a:t>Everything in this project — the whole pipeline from a raw text file to a deployed URL your agent can call — is built on one sentence: </a:t>
            </a:r>
            <a:r>
              <a:rPr sz="1600" b="1">
                <a:solidFill>
                  <a:srgbClr val="E8590C"/>
                </a:solidFill>
                <a:latin typeface="Segoe UI"/>
              </a:rPr>
              <a:t>predict the next token</a:t>
            </a:r>
            <a:r>
              <a:rPr sz="1600" b="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0">
                <a:solidFill>
                  <a:srgbClr val="151515"/>
                </a:solidFill>
                <a:latin typeface="Segoe UI"/>
              </a:rPr>
              <a:t>GPT-4, GPT-5 and SmolVLM are the same sentence, with more data, more compute, and a few bolt-ons. </a:t>
            </a:r>
            <a:r>
              <a:rPr sz="1600" b="1">
                <a:solidFill>
                  <a:srgbClr val="151515"/>
                </a:solidFill>
                <a:latin typeface="Segoe UI"/>
              </a:rPr>
              <a:t>You did not build a toy. You built the foundation, and now you can see exactly what everything else is standing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58768"/>
            <a:ext cx="3484778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Run it again tonight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44568"/>
            <a:ext cx="33018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Change one number in </a:t>
            </a:r>
            <a:r>
              <a:rPr sz="1150" b="0">
                <a:solidFill>
                  <a:srgbClr val="B54408"/>
                </a:solidFill>
                <a:latin typeface="Consolas"/>
              </a:rPr>
              <a:t>config1.py</a:t>
            </a:r>
            <a:r>
              <a:rPr sz="1200" b="0">
                <a:solidFill>
                  <a:srgbClr val="5C5C5C"/>
                </a:solidFill>
                <a:latin typeface="Segoe UI"/>
              </a:rPr>
              <a:t> and watch what it does to the loss curve. That is the whole experiment.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3858768"/>
            <a:ext cx="3484778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Then go read coding_llm/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4898" y="4544568"/>
            <a:ext cx="33018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5C5C"/>
                </a:solidFill>
                <a:latin typeface="Segoe UI"/>
              </a:rPr>
              <a:t>The same model plus a chat format, an instruction dataset and loss masking — the SFT step we skipped.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03996" y="3858768"/>
            <a:ext cx="3484778" cy="50292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Then swap in file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5436" y="4544568"/>
            <a:ext cx="33018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54408"/>
                </a:solidFill>
                <a:latin typeface="Consolas"/>
              </a:rPr>
              <a:t>nn.LayerNorm</a:t>
            </a:r>
            <a:r>
              <a:rPr sz="1200" b="0">
                <a:solidFill>
                  <a:srgbClr val="5C5C5C"/>
                </a:solidFill>
                <a:latin typeface="Segoe UI"/>
              </a:rPr>
              <a:t> → </a:t>
            </a:r>
            <a:r>
              <a:rPr sz="1150" b="0">
                <a:solidFill>
                  <a:srgbClr val="B54408"/>
                </a:solidFill>
                <a:latin typeface="Consolas"/>
              </a:rPr>
              <a:t>RMSNorm</a:t>
            </a:r>
            <a:r>
              <a:rPr sz="1200" b="0">
                <a:solidFill>
                  <a:srgbClr val="5C5C5C"/>
                </a:solidFill>
                <a:latin typeface="Segoe UI"/>
              </a:rPr>
              <a:t> and the MLP → </a:t>
            </a:r>
            <a:r>
              <a:rPr sz="1150" b="0">
                <a:solidFill>
                  <a:srgbClr val="B54408"/>
                </a:solidFill>
                <a:latin typeface="Consolas"/>
              </a:rPr>
              <a:t>SwiGLU</a:t>
            </a:r>
            <a:r>
              <a:rPr sz="1200" b="0">
                <a:solidFill>
                  <a:srgbClr val="5C5C5C"/>
                </a:solidFill>
                <a:latin typeface="Segoe UI"/>
              </a:rPr>
              <a:t> are both drop-in. RoPE needs edits inside </a:t>
            </a:r>
            <a:r>
              <a:rPr sz="1150" b="0">
                <a:solidFill>
                  <a:srgbClr val="B54408"/>
                </a:solidFill>
                <a:latin typeface="Consolas"/>
              </a:rPr>
              <a:t>SelfAttention</a:t>
            </a:r>
            <a:r>
              <a:rPr sz="1200" b="0">
                <a:solidFill>
                  <a:srgbClr val="5C5C5C"/>
                </a:solidFill>
                <a:latin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79008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B54408"/>
                </a:solidFill>
                <a:latin typeface="Segoe UI"/>
              </a:rPr>
              <a:t>AI Season   ·   Build an LLM from Scratch, Part 2   ·   Abdul Rahman Azam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22725</Words>
  <Application>Microsoft Office PowerPoint</Application>
  <PresentationFormat>Widescreen</PresentationFormat>
  <Paragraphs>2547</Paragraphs>
  <Slides>94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99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 rahman Azam</cp:lastModifiedBy>
  <cp:revision>2</cp:revision>
  <dcterms:created xsi:type="dcterms:W3CDTF">2013-01-27T09:14:16Z</dcterms:created>
  <dcterms:modified xsi:type="dcterms:W3CDTF">2026-08-06T18:00:36Z</dcterms:modified>
  <cp:category/>
</cp:coreProperties>
</file>