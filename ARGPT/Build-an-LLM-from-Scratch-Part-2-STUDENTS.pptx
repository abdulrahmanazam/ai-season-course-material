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400">
                <a:solidFill>
                  <a:srgbClr val="C27A00"/>
                </a:solidFill>
                <a:latin typeface="Segoe UI"/>
              </a:rPr>
              <a:t>AI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08857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b="1" sz="5000">
                <a:solidFill>
                  <a:srgbClr val="151515"/>
                </a:solidFill>
                <a:latin typeface="Segoe UI"/>
              </a:rPr>
              <a:t>Build an LLM
from Scratch —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29000"/>
            <a:ext cx="1371600" cy="54864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10088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1650">
                <a:solidFill>
                  <a:srgbClr val="5C5C5C"/>
                </a:solidFill>
                <a:latin typeface="Segoe UI"/>
              </a:rPr>
              <a:t>How a language model actually works — from a text file to a model you can talk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Instructor</a:t>
            </a:r>
          </a:p>
          <a:p>
            <a:pPr>
              <a:spcBef>
                <a:spcPts val="300"/>
              </a:spcBef>
            </a:pPr>
            <a:r>
              <a:rPr b="1" sz="2000">
                <a:solidFill>
                  <a:srgbClr val="151515"/>
                </a:solidFill>
                <a:latin typeface="Segoe UI"/>
              </a:rPr>
              <a:t>Abdul Rahman Azam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535" y="4709160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Project: ARGPT</a:t>
            </a:r>
          </a:p>
          <a:p>
            <a:pPr algn="r">
              <a:spcBef>
                <a:spcPts val="5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~700 lines of PyTorch</a:t>
            </a:r>
          </a:p>
          <a:p>
            <a:pPr algn="r">
              <a:spcBef>
                <a:spcPts val="5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No pretrained weights. We build all of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We are building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18488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 text file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Shakespeare
1.1 MB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71216" y="2039112"/>
            <a:ext cx="237744" cy="219456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145536" y="1618488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 tokenizer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text → numbers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93792" y="2039112"/>
            <a:ext cx="237744" cy="219456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468112" y="1618488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 transformer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0.8M numbers
to learn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16367" y="2039112"/>
            <a:ext cx="237744" cy="219456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90688" y="1618488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Training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watch it
get better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38943" y="2039112"/>
            <a:ext cx="237744" cy="219456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113263" y="1618488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Your own model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on a URL
you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186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By the end of today you will have trained a language model </a:t>
            </a:r>
            <a:r>
              <a:rPr b="1" sz="1700">
                <a:solidFill>
                  <a:srgbClr val="151515"/>
                </a:solidFill>
                <a:latin typeface="Segoe UI"/>
              </a:rPr>
              <a:t>yourself</a:t>
            </a:r>
            <a:r>
              <a:rPr b="0" sz="170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5876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8A5700"/>
                </a:solidFill>
                <a:latin typeface="Segoe UI"/>
              </a:rPr>
              <a:t>Not called an API. Not downloaded. Trained.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98848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0664" y="4645152"/>
            <a:ext cx="10728655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400">
                <a:solidFill>
                  <a:srgbClr val="151515"/>
                </a:solidFill>
                <a:latin typeface="Segoe UI"/>
              </a:rPr>
              <a:t>It will be small, and it will write nonsense. </a:t>
            </a:r>
            <a:r>
              <a:rPr b="1" sz="1400">
                <a:solidFill>
                  <a:srgbClr val="151515"/>
                </a:solidFill>
                <a:latin typeface="Segoe UI"/>
              </a:rPr>
              <a:t>That is the point</a:t>
            </a:r>
            <a:r>
              <a:rPr b="0" sz="1400">
                <a:solidFill>
                  <a:srgbClr val="151515"/>
                </a:solidFill>
                <a:latin typeface="Segoe UI"/>
              </a:rPr>
              <a:t> — you will be able to see exactly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THE ONE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Everything today is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11185855" cy="10515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1901952"/>
            <a:ext cx="10728655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sz="2600">
                <a:solidFill>
                  <a:srgbClr val="C27A00"/>
                </a:solidFill>
                <a:latin typeface="Segoe UI"/>
              </a:rPr>
              <a:t>Given some tokens, predict the next token.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3264408"/>
            <a:ext cx="82296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The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264408"/>
            <a:ext cx="82296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cat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64408"/>
            <a:ext cx="82296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sat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3264408"/>
            <a:ext cx="82296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264408"/>
            <a:ext cx="82296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the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264408"/>
            <a:ext cx="822960" cy="822960"/>
          </a:xfrm>
          <a:prstGeom prst="rect">
            <a:avLst/>
          </a:prstGeom>
          <a:solidFill>
            <a:srgbClr val="F7B022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315968"/>
            <a:ext cx="4114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00">
                <a:solidFill>
                  <a:srgbClr val="5C5C5C"/>
                </a:solidFill>
                <a:latin typeface="Segoe UI"/>
              </a:rPr>
              <a:t>what the model can 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315968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00">
                <a:solidFill>
                  <a:srgbClr val="8A5700"/>
                </a:solidFill>
                <a:latin typeface="Segoe UI"/>
              </a:rPr>
              <a:t>predict this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5604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That is it. Grammar, names, punctuation, code — all of it comes out of doing </a:t>
            </a:r>
            <a:r>
              <a:rPr b="1" sz="1600">
                <a:solidFill>
                  <a:srgbClr val="151515"/>
                </a:solidFill>
                <a:latin typeface="Segoe UI"/>
              </a:rPr>
              <a:t>this one thing</a:t>
            </a:r>
            <a:r>
              <a:rPr b="0" sz="1600">
                <a:solidFill>
                  <a:srgbClr val="151515"/>
                </a:solidFill>
                <a:latin typeface="Segoe UI"/>
              </a:rPr>
              <a:t> very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Five things, in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0136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1965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874519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turn text into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892807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tokenizer2.py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225296" y="2350008"/>
            <a:ext cx="164592" cy="182880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051560" y="258775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060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6090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make training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6791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data3.py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225296" y="3136392"/>
            <a:ext cx="164592" cy="182880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051560" y="337413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9242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47288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the transformer itself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46557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model4.py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225296" y="3922776"/>
            <a:ext cx="164592" cy="182880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051560" y="416052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78807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233672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make it less wrong, 2000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251959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train5.py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225296" y="4709159"/>
            <a:ext cx="164592" cy="182880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1051560" y="4946904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96519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020056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make it 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503834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generate6.py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STEP 1   ·   THE TOKENIZER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A neural network cannot read 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35607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It only multiplies numbers. So first, text has to become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304288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2000">
                <a:solidFill>
                  <a:srgbClr val="151515"/>
                </a:solidFill>
                <a:latin typeface="Segoe UI"/>
              </a:rPr>
              <a:t>"hello"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2606040"/>
            <a:ext cx="777240" cy="237744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846320" y="2304288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900">
                <a:solidFill>
                  <a:srgbClr val="151515"/>
                </a:solidFill>
                <a:latin typeface="Segoe UI"/>
              </a:rPr>
              <a:t>[46, 43, 50, 50, 53]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49640" y="2606040"/>
            <a:ext cx="777240" cy="237744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464040" y="2304288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800">
                <a:solidFill>
                  <a:srgbClr val="151515"/>
                </a:solidFill>
                <a:latin typeface="Segoe UI"/>
              </a:rPr>
              <a:t>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1868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00">
                <a:solidFill>
                  <a:srgbClr val="8A5700"/>
                </a:solidFill>
                <a:latin typeface="Segoe UI"/>
              </a:rPr>
              <a:t>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218688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00">
                <a:solidFill>
                  <a:srgbClr val="8A5700"/>
                </a:solidFill>
                <a:latin typeface="Segoe UI"/>
              </a:rPr>
              <a:t>learns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50208"/>
            <a:ext cx="5364327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4096512"/>
            <a:ext cx="49071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WAY 1 — ONE NUMBER PER LETTER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379976"/>
            <a:ext cx="4907127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400">
                <a:solidFill>
                  <a:srgbClr val="151515"/>
                </a:solidFill>
                <a:latin typeface="Segoe UI"/>
              </a:rPr>
              <a:t>Simple. Small vocabulary.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400">
                <a:solidFill>
                  <a:srgbClr val="151515"/>
                </a:solidFill>
                <a:latin typeface="Segoe UI"/>
              </a:rPr>
              <a:t>But every single letter costs a token, so sentences get </a:t>
            </a:r>
            <a:r>
              <a:rPr b="1" sz="1400">
                <a:solidFill>
                  <a:srgbClr val="151515"/>
                </a:solidFill>
                <a:latin typeface="Segoe UI"/>
              </a:rPr>
              <a:t>long</a:t>
            </a:r>
            <a:r>
              <a:rPr b="0" sz="1400">
                <a:solidFill>
                  <a:srgbClr val="151515"/>
                </a:solidFill>
                <a:latin typeface="Segoe U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68496"/>
            <a:ext cx="5272887" cy="27432"/>
          </a:xfrm>
          <a:prstGeom prst="rect">
            <a:avLst/>
          </a:prstGeom>
          <a:solidFill>
            <a:srgbClr val="C2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3950208"/>
            <a:ext cx="5364327" cy="15544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62191" y="4096512"/>
            <a:ext cx="49071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WAY 2 — ONE NUMBER PER WORD-PIECE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191" y="4379976"/>
            <a:ext cx="4907127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400">
                <a:solidFill>
                  <a:srgbClr val="151515"/>
                </a:solidFill>
                <a:latin typeface="Segoe UI"/>
              </a:rPr>
              <a:t>Harder to build. Bigger vocabulary.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400">
                <a:solidFill>
                  <a:srgbClr val="151515"/>
                </a:solidFill>
                <a:latin typeface="Segoe UI"/>
              </a:rPr>
              <a:t>But common words become </a:t>
            </a:r>
            <a:r>
              <a:rPr b="1" sz="1400">
                <a:solidFill>
                  <a:srgbClr val="151515"/>
                </a:solidFill>
                <a:latin typeface="Segoe UI"/>
              </a:rPr>
              <a:t>one</a:t>
            </a:r>
            <a:r>
              <a:rPr b="0" sz="1400">
                <a:solidFill>
                  <a:srgbClr val="151515"/>
                </a:solidFill>
                <a:latin typeface="Segoe UI"/>
              </a:rPr>
              <a:t> token. This is what GPT-4 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WAY 1  · 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Give every letter a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THE TEXT:  "THE CAT SAT ON THE MAT…"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1" y="205740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letter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7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1256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9624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59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4728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3096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9831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6567" y="1847088"/>
            <a:ext cx="658368" cy="658368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1" y="2715768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number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32887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1256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9624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7992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59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24728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3096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1464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16567" y="2505456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3328416"/>
            <a:ext cx="79004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12 different characters  →  vocabulary =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813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NOW ENCODE  "THE CAT"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04487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62856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1224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9592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59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96328" y="417880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46120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04487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62856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21224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9592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59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96328" y="4837176"/>
            <a:ext cx="658368" cy="65836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409236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500">
                <a:solidFill>
                  <a:srgbClr val="151515"/>
                </a:solidFill>
                <a:latin typeface="Segoe UI"/>
              </a:rPr>
              <a:t>in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067604"/>
            <a:ext cx="2560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500">
                <a:solidFill>
                  <a:srgbClr val="151515"/>
                </a:solidFill>
                <a:latin typeface="Segoe UI"/>
              </a:rPr>
              <a:t>out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7332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7 letters  →  </a:t>
            </a:r>
            <a:r>
              <a:rPr b="1" sz="1600">
                <a:solidFill>
                  <a:srgbClr val="151515"/>
                </a:solidFill>
                <a:latin typeface="Segoe UI"/>
              </a:rPr>
              <a:t>7 numbers.</a:t>
            </a:r>
            <a:r>
              <a:rPr b="0" sz="1600">
                <a:solidFill>
                  <a:srgbClr val="151515"/>
                </a:solidFill>
                <a:latin typeface="Segoe UI"/>
              </a:rPr>
              <a:t> Simple, but long.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WAY 2  ·  BPE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Watch it invent words by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44168"/>
            <a:ext cx="11185855" cy="7315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1490472"/>
            <a:ext cx="107286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700">
                <a:solidFill>
                  <a:srgbClr val="151515"/>
                </a:solidFill>
                <a:latin typeface="Segoe UI"/>
              </a:rPr>
              <a:t>Find the two pieces that appear together most often. Glue them. Repeat.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4144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round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350008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'a' + 't'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12080" y="2505456"/>
            <a:ext cx="50292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897880" y="2350008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'at'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45973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929292"/>
                </a:solidFill>
                <a:latin typeface="Segoe UI"/>
              </a:rPr>
              <a:t>1,200 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9981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round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008376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't' + 'h'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12080" y="3163824"/>
            <a:ext cx="50292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897880" y="3008376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'th'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118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929292"/>
                </a:solidFill>
                <a:latin typeface="Segoe UI"/>
              </a:rPr>
              <a:t>800 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58183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round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666744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'th' + 'e'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12080" y="3822191"/>
            <a:ext cx="50292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897880" y="3666744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'the'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77647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929292"/>
                </a:solidFill>
                <a:latin typeface="Segoe UI"/>
              </a:rPr>
              <a:t>800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16552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round 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325112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 c' + 'at'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212080" y="4480560"/>
            <a:ext cx="50292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897880" y="4325112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 cat'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4348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929292"/>
                </a:solidFill>
                <a:latin typeface="Segoe UI"/>
              </a:rPr>
              <a:t>400 times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074919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round 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88920" y="4983479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 s' + 'at'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212080" y="5138927"/>
            <a:ext cx="50292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897880" y="4983479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' sat'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093207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00">
                <a:solidFill>
                  <a:srgbClr val="929292"/>
                </a:solidFill>
                <a:latin typeface="Segoe UI"/>
              </a:rPr>
              <a:t>200 times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7044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8A5700"/>
                </a:solidFill>
                <a:latin typeface="Segoe UI"/>
              </a:rPr>
              <a:t>Nobody told it the word “cat”. It </a:t>
            </a:r>
            <a:r>
              <a:rPr b="1" sz="1600">
                <a:solidFill>
                  <a:srgbClr val="8A5700"/>
                </a:solidFill>
                <a:latin typeface="Segoe UI"/>
              </a:rPr>
              <a:t>counted</a:t>
            </a:r>
            <a:r>
              <a:rPr b="0" sz="1600">
                <a:solidFill>
                  <a:srgbClr val="8A5700"/>
                </a:solidFill>
                <a:latin typeface="Segoe UI"/>
              </a:rPr>
              <a:t>, and found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WHICH ONE WINS?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Same sentence, two tokenizers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"THE CAT SAT"  —  BY CHARACTER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8568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6936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5304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0408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67144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5512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938528"/>
            <a:ext cx="658368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075688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800">
                <a:solidFill>
                  <a:srgbClr val="151515"/>
                </a:solidFill>
                <a:latin typeface="Segoe UI"/>
              </a:rPr>
              <a:t>11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272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"THE CAT SAT"  —  BY BPE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3493008"/>
            <a:ext cx="2194560" cy="2194560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the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493008"/>
            <a:ext cx="2194560" cy="2194560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 cat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493008"/>
            <a:ext cx="2194560" cy="2194560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 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675887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800">
                <a:solidFill>
                  <a:srgbClr val="C27A00"/>
                </a:solidFill>
                <a:latin typeface="Segoe UI"/>
              </a:rPr>
              <a:t>3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98848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0664" y="4645152"/>
            <a:ext cx="10728655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The model can only hold a fixed number of tokens in its head. Fewer tokens for the same text means it </a:t>
            </a:r>
            <a:r>
              <a:rPr b="1" sz="1500">
                <a:solidFill>
                  <a:srgbClr val="151515"/>
                </a:solidFill>
                <a:latin typeface="Segoe UI"/>
              </a:rPr>
              <a:t>remembers more of the story.</a:t>
            </a:r>
            <a:r>
              <a:rPr b="0" sz="1500">
                <a:solidFill>
                  <a:srgbClr val="151515"/>
                </a:solidFill>
                <a:latin typeface="Segoe UI"/>
              </a:rPr>
              <a:t> That is why real models use BPE.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STEP 2   ·  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Where do the training examples come from?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Nobody labels anything. The text labels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404872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3592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0056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3288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9752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2167128"/>
            <a:ext cx="713232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438144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answer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36976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6672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03136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8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00400"/>
            <a:ext cx="713232" cy="713232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151515"/>
                </a:solidFill>
                <a:latin typeface="Consolas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127248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400">
                <a:solidFill>
                  <a:srgbClr val="8A5700"/>
                </a:solidFill>
                <a:latin typeface="Segoe UI"/>
              </a:rPr>
              <a:t>shifted
by one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8736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800">
                <a:solidFill>
                  <a:srgbClr val="151515"/>
                </a:solidFill>
                <a:latin typeface="Segoe UI"/>
              </a:rPr>
              <a:t>The answer is just the input, </a:t>
            </a:r>
            <a:r>
              <a:rPr b="1" sz="1800">
                <a:solidFill>
                  <a:srgbClr val="151515"/>
                </a:solidFill>
                <a:latin typeface="Segoe UI"/>
              </a:rPr>
              <a:t>moved one place left.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73168"/>
            <a:ext cx="11185855" cy="12801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0664" y="4919472"/>
            <a:ext cx="10728655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See “t” → say “h”.      See “the c” → say “a”.      See “the cat ” → say “s”.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One line of 8 letters is </a:t>
            </a:r>
            <a:r>
              <a:rPr b="1" sz="1500">
                <a:solidFill>
                  <a:srgbClr val="151515"/>
                </a:solidFill>
                <a:latin typeface="Segoe UI"/>
              </a:rPr>
              <a:t>8 practice questions.</a:t>
            </a:r>
            <a:r>
              <a:rPr b="0" sz="1500">
                <a:solidFill>
                  <a:srgbClr val="151515"/>
                </a:solidFill>
                <a:latin typeface="Segoe UI"/>
              </a:rPr>
              <a:t> A line of 128 is 128.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TWO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One to learn from, one to check honesty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755648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2000">
                <a:solidFill>
                  <a:srgbClr val="151515"/>
                </a:solidFill>
                <a:latin typeface="Segoe UI"/>
              </a:rPr>
              <a:t>train.bin</a:t>
            </a:r>
          </a:p>
          <a:p>
            <a:pPr algn="ctr">
              <a:spcBef>
                <a:spcPts val="200"/>
              </a:spcBef>
            </a:pPr>
            <a:r>
              <a:rPr b="0" sz="1750">
                <a:solidFill>
                  <a:srgbClr val="5C5C5C"/>
                </a:solidFill>
                <a:latin typeface="Segoe UI"/>
              </a:rPr>
              <a:t>90% of the text — the model learns from this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755648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2000">
                <a:solidFill>
                  <a:srgbClr val="151515"/>
                </a:solidFill>
                <a:latin typeface="Segoe UI"/>
              </a:rPr>
              <a:t>val.bin</a:t>
            </a:r>
          </a:p>
          <a:p>
            <a:pPr algn="ctr">
              <a:spcBef>
                <a:spcPts val="200"/>
              </a:spcBef>
            </a:pPr>
            <a:r>
              <a:rPr b="0" sz="1750">
                <a:solidFill>
                  <a:srgbClr val="5C5C5C"/>
                </a:solidFill>
                <a:latin typeface="Segoe UI"/>
              </a:rPr>
              <a:t>10% — it never sees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18688"/>
            <a:ext cx="5364327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3364992"/>
            <a:ext cx="49071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BOTH NUMBERS GOING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648456"/>
            <a:ext cx="4907127" cy="1289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The model is learning </a:t>
            </a:r>
            <a:r>
              <a:rPr b="1" sz="1500">
                <a:solidFill>
                  <a:srgbClr val="151515"/>
                </a:solidFill>
                <a:latin typeface="Segoe UI"/>
              </a:rPr>
              <a:t>the language</a:t>
            </a:r>
            <a:r>
              <a:rPr b="0" sz="1500">
                <a:solidFill>
                  <a:srgbClr val="151515"/>
                </a:solidFill>
                <a:latin typeface="Segoe UI"/>
              </a:rPr>
              <a:t>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This is what you want to see.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36976"/>
            <a:ext cx="5272887" cy="27432"/>
          </a:xfrm>
          <a:prstGeom prst="rect">
            <a:avLst/>
          </a:prstGeom>
          <a:solidFill>
            <a:srgbClr val="C2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4447" y="3218688"/>
            <a:ext cx="5364327" cy="18288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62191" y="3364992"/>
            <a:ext cx="49071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ONLY THE TRAINING NUMBER GOING 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191" y="3648456"/>
            <a:ext cx="4907127" cy="1289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The model is </a:t>
            </a:r>
            <a:r>
              <a:rPr b="1" sz="1500">
                <a:solidFill>
                  <a:srgbClr val="151515"/>
                </a:solidFill>
                <a:latin typeface="Segoe UI"/>
              </a:rPr>
              <a:t>memorising the file</a:t>
            </a:r>
            <a:r>
              <a:rPr b="0" sz="1500">
                <a:solidFill>
                  <a:srgbClr val="151515"/>
                </a:solidFill>
                <a:latin typeface="Segoe UI"/>
              </a:rPr>
              <a:t>, not learning.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Like a student who memorised the answer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1324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5C5C5C"/>
                </a:solidFill>
                <a:latin typeface="Segoe UI"/>
              </a:rPr>
              <a:t>That is why we hold 10% back. It is the only way to tell the difference.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STEP 3   ·   THE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The model, all of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389888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numbers in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[11, 5, 4, 0, 3, 2, 11]</a:t>
            </a:r>
          </a:p>
        </p:txBody>
      </p:sp>
      <p:sp>
        <p:nvSpPr>
          <p:cNvPr id="8" name="Down Arrow 7"/>
          <p:cNvSpPr/>
          <p:nvPr/>
        </p:nvSpPr>
        <p:spPr>
          <a:xfrm>
            <a:off x="6483096" y="2029967"/>
            <a:ext cx="201168" cy="164592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069080" y="2231136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turn each into a vector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what it is  +  where it sits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483096" y="2871215"/>
            <a:ext cx="201168" cy="164592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069080" y="3072384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BLOCK 1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tokens talk, then think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483096" y="3712464"/>
            <a:ext cx="201168" cy="164592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069080" y="3913632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BLOCK 2   ·   BLOCK 3   ·   BLOCK 4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the same thing, three more times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483096" y="4553712"/>
            <a:ext cx="201168" cy="164592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069080" y="4754880"/>
            <a:ext cx="5029200" cy="603504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score every possible next token</a:t>
            </a:r>
          </a:p>
          <a:p>
            <a:pPr algn="ctr">
              <a:spcBef>
                <a:spcPts val="200"/>
              </a:spcBef>
            </a:pPr>
            <a:r>
              <a:rPr b="0" sz="1150">
                <a:solidFill>
                  <a:srgbClr val="5C5C5C"/>
                </a:solidFill>
                <a:latin typeface="Segoe UI"/>
              </a:rPr>
              <a:t>65 scores, one per character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483096" y="5321808"/>
            <a:ext cx="201168" cy="164592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069080" y="5577840"/>
            <a:ext cx="502920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“the next letter is probably  s 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272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This is the whole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75887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50">
                <a:solidFill>
                  <a:srgbClr val="5C5C5C"/>
                </a:solidFill>
                <a:latin typeface="Segoe UI"/>
              </a:rPr>
              <a:t>Everything after this slide is just
zooming into one of these boxes.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INSIDE  · 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A number becomes a list of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One token id is not enough to describe a word. So each one gets </a:t>
            </a:r>
            <a:r>
              <a:rPr b="1" sz="1600">
                <a:solidFill>
                  <a:srgbClr val="151515"/>
                </a:solidFill>
                <a:latin typeface="Segoe UI"/>
              </a:rPr>
              <a:t>128 numbers</a:t>
            </a:r>
            <a:r>
              <a:rPr b="0" sz="1600">
                <a:solidFill>
                  <a:srgbClr val="151515"/>
                </a:solidFill>
                <a:latin typeface="Segoe UI"/>
              </a:rPr>
              <a:t>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2212848"/>
            <a:ext cx="73152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151515"/>
                </a:solidFill>
                <a:latin typeface="Consolas"/>
              </a:rPr>
              <a:t>11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51760" y="2468880"/>
            <a:ext cx="640080" cy="219456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520439" y="2212848"/>
            <a:ext cx="731520" cy="731520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151515"/>
                </a:solidFill>
                <a:latin typeface="Consolas"/>
              </a:rPr>
              <a:t>0.31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2212848"/>
            <a:ext cx="731520" cy="731520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151515"/>
                </a:solidFill>
                <a:latin typeface="Consolas"/>
              </a:rPr>
              <a:t>-1.2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2212848"/>
            <a:ext cx="731520" cy="731520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151515"/>
                </a:solidFill>
                <a:latin typeface="Consolas"/>
              </a:rPr>
              <a:t>0.04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2212848"/>
            <a:ext cx="731520" cy="731520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151515"/>
                </a:solidFill>
                <a:latin typeface="Consolas"/>
              </a:rPr>
              <a:t>0.88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212848"/>
            <a:ext cx="731520" cy="731520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151515"/>
                </a:solidFill>
                <a:latin typeface="Consolas"/>
              </a:rPr>
              <a:t>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212848"/>
            <a:ext cx="731520" cy="731520"/>
          </a:xfrm>
          <a:prstGeom prst="rect">
            <a:avLst/>
          </a:prstGeom>
          <a:solidFill>
            <a:srgbClr val="FFF7E8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151515"/>
                </a:solidFill>
                <a:latin typeface="Consolas"/>
              </a:rPr>
              <a:t>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12724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128 numbers, learned during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5000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The model can put “cat” and
“dog” near each other here.
Nobody programs that — it
falls out of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75887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AND WE ADD ONE MORE THING: WHERE THE TOKEN SITS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4087368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what it is</a:t>
            </a:r>
          </a:p>
          <a:p>
            <a:pPr algn="ctr">
              <a:spcBef>
                <a:spcPts val="200"/>
              </a:spcBef>
            </a:pPr>
            <a:r>
              <a:rPr b="0" sz="1250">
                <a:solidFill>
                  <a:srgbClr val="5C5C5C"/>
                </a:solidFill>
                <a:latin typeface="Segoe UI"/>
              </a:rPr>
              <a:t>"cat"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42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2200">
                <a:solidFill>
                  <a:srgbClr val="C27A00"/>
                </a:solidFill>
                <a:latin typeface="Segoe UI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4087368"/>
            <a:ext cx="2926080" cy="658368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where it is</a:t>
            </a:r>
          </a:p>
          <a:p>
            <a:pPr algn="ctr">
              <a:spcBef>
                <a:spcPts val="200"/>
              </a:spcBef>
            </a:pPr>
            <a:r>
              <a:rPr b="0" sz="1250">
                <a:solidFill>
                  <a:srgbClr val="5C5C5C"/>
                </a:solidFill>
                <a:latin typeface="Segoe UI"/>
              </a:rPr>
              <a:t>position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242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2200">
                <a:solidFill>
                  <a:srgbClr val="C27A00"/>
                </a:solidFill>
                <a:latin typeface="Segoe UI"/>
              </a:rPr>
              <a:t>=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4087368"/>
            <a:ext cx="2377440" cy="65836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one 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5C5C5C"/>
                </a:solidFill>
                <a:latin typeface="Segoe UI"/>
              </a:rPr>
              <a:t>Without position, </a:t>
            </a:r>
            <a:r>
              <a:rPr b="1" sz="1500">
                <a:solidFill>
                  <a:srgbClr val="5C5C5C"/>
                </a:solidFill>
                <a:latin typeface="Segoe UI"/>
              </a:rPr>
              <a:t>“dog bites man” and “man bites dog” look identical.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INSIDE  · 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How tokens look at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Every token asks a question, advertises an answer, and carries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75688"/>
            <a:ext cx="3454298" cy="64008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800">
                <a:solidFill>
                  <a:srgbClr val="151515"/>
                </a:solidFill>
                <a:latin typeface="Segoe UI"/>
              </a:rPr>
              <a:t>Q  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9864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151515"/>
                </a:solidFill>
                <a:latin typeface="Segoe UI"/>
              </a:rPr>
              <a:t>“what am I looking for?”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2075688"/>
            <a:ext cx="3454298" cy="64008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800">
                <a:solidFill>
                  <a:srgbClr val="151515"/>
                </a:solidFill>
                <a:latin typeface="Segoe UI"/>
              </a:rPr>
              <a:t>K  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289864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151515"/>
                </a:solidFill>
                <a:latin typeface="Segoe UI"/>
              </a:rPr>
              <a:t>“here is what I am about”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4476" y="2075688"/>
            <a:ext cx="3454298" cy="64008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800">
                <a:solidFill>
                  <a:srgbClr val="151515"/>
                </a:solidFill>
                <a:latin typeface="Segoe UI"/>
              </a:rPr>
              <a:t>V  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4476" y="289864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151515"/>
                </a:solidFill>
                <a:latin typeface="Segoe UI"/>
              </a:rPr>
              <a:t>“here is what I will tell you”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EXAMPLE — THE WORD “IT” IS LOOKING FOR WHAT IT REFERS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3904487"/>
            <a:ext cx="1051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The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3472" y="3904487"/>
            <a:ext cx="1051560" cy="566928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cat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41063" y="3904487"/>
            <a:ext cx="1051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sat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48655" y="3904487"/>
            <a:ext cx="17373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because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7" y="3904487"/>
            <a:ext cx="868680" cy="56692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59" y="3904487"/>
            <a:ext cx="1051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was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1" y="3904487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tired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61772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strong match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1772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8A5700"/>
                </a:solidFill>
                <a:latin typeface="Segoe UI"/>
              </a:rPr>
              <a:t>↑ asking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2180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“it” asks, “cat” matches best, so </a:t>
            </a:r>
            <a:r>
              <a:rPr b="1" sz="1600">
                <a:solidFill>
                  <a:srgbClr val="151515"/>
                </a:solidFill>
                <a:latin typeface="Segoe UI"/>
              </a:rPr>
              <a:t>“cat” gets copied into “it”.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INSIDE  · 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What that looks like as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HOW MUCH EACH WORD LISTENS TO EACH OTHER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1709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cat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709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sat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6904" y="1709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224028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984248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100%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1984248"/>
            <a:ext cx="749808" cy="74980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7096" y="1984248"/>
            <a:ext cx="749808" cy="74980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46904" y="1984248"/>
            <a:ext cx="749808" cy="74980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9112" y="2990088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cat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734056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33%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2734056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67%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7096" y="2734056"/>
            <a:ext cx="749808" cy="74980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46904" y="2734056"/>
            <a:ext cx="749808" cy="74980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373989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sat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3483863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8" y="3483863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483863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46904" y="3483863"/>
            <a:ext cx="749808" cy="74980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39112" y="4489704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233672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54%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47288" y="4233672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13%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7096" y="4233672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27%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46904" y="4233672"/>
            <a:ext cx="749808" cy="74980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151515"/>
                </a:solidFill>
                <a:latin typeface="Consolas"/>
              </a:rPr>
              <a:t>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2140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Read a row across.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62432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00">
                <a:solidFill>
                  <a:srgbClr val="5C5C5C"/>
                </a:solidFill>
                <a:latin typeface="Segoe UI"/>
              </a:rPr>
              <a:t>Row “sat”: it listens 25% to “The”,
25% to “cat”, and 50% to itself.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63016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00">
                <a:solidFill>
                  <a:srgbClr val="5C5C5C"/>
                </a:solidFill>
                <a:latin typeface="Segoe UI"/>
              </a:rPr>
              <a:t>Every row adds up to 100%.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24528"/>
            <a:ext cx="5394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500">
                <a:solidFill>
                  <a:srgbClr val="8A5700"/>
                </a:solidFill>
                <a:latin typeface="Segoe UI"/>
              </a:rPr>
              <a:t>The black squares are the future.</a:t>
            </a:r>
            <a:r>
              <a:rPr b="0" sz="1500">
                <a:solidFill>
                  <a:srgbClr val="8A5700"/>
                </a:solidFill>
                <a:latin typeface="Segoe UI"/>
              </a:rPr>
              <a:t>
Nothing gets through them — see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THE MOST IMPORTANT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A token can never see the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527047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1527047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816" y="1527047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1527047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527047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527047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96596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word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801367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32888" y="1801367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9816" y="1801367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1801367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1801367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1801367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2532888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word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2368296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32888" y="2368296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99816" y="2368296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66744" y="2368296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2368296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368296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3099816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word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2935224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2888" y="2935224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99816" y="2935224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66744" y="2935224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3672" y="2935224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935224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3666744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word 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3502151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32888" y="3502151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6" y="3502151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66744" y="3502151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3672" y="3502151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00600" y="3502151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7592" y="4233671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word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65960" y="4069079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32888" y="4069079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99816" y="4069079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66744" y="4069079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3672" y="4069079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069079"/>
            <a:ext cx="566928" cy="566928"/>
          </a:xfrm>
          <a:prstGeom prst="rect">
            <a:avLst/>
          </a:prstGeom>
          <a:solidFill>
            <a:srgbClr val="151515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onsolas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07592" y="4800600"/>
            <a:ext cx="6035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900">
                <a:solidFill>
                  <a:srgbClr val="8A5700"/>
                </a:solidFill>
                <a:latin typeface="Segoe UI"/>
              </a:rPr>
              <a:t>word 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65960" y="4636008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32888" y="4636008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99816" y="4636008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66744" y="4636008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33672" y="4636008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4636008"/>
            <a:ext cx="566928" cy="566928"/>
          </a:xfrm>
          <a:prstGeom prst="rect">
            <a:avLst/>
          </a:prstGeom>
          <a:solidFill>
            <a:srgbClr val="FEE9BF"/>
          </a:solidFill>
          <a:ln w="762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151515"/>
                </a:solidFill>
                <a:latin typeface="Consolas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60" y="5385816"/>
            <a:ext cx="3401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✓ = allowed to look   ·   ✕ = blocked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1892807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Word 1 sees only itself.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2441448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Word 6 sees everything before it.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2990087"/>
            <a:ext cx="54251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C27A00"/>
                </a:solidFill>
                <a:latin typeface="Segoe UI"/>
              </a:rPr>
              <a:t>Nobody ever sees ahead.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3721608"/>
            <a:ext cx="5425135" cy="17373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501383" y="3867912"/>
            <a:ext cx="49679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WHY?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1383" y="4151376"/>
            <a:ext cx="4967935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When the model is </a:t>
            </a:r>
            <a:r>
              <a:rPr b="1" sz="1500">
                <a:solidFill>
                  <a:srgbClr val="151515"/>
                </a:solidFill>
                <a:latin typeface="Segoe UI"/>
              </a:rPr>
              <a:t>writing</a:t>
            </a:r>
            <a:r>
              <a:rPr b="0" sz="1500">
                <a:solidFill>
                  <a:srgbClr val="151515"/>
                </a:solidFill>
                <a:latin typeface="Segoe UI"/>
              </a:rPr>
              <a:t>, the future does not exist yet.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So while it learns, we block the future too — otherwise it would be copying the answer instead of predicting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INSIDE  ·  A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Talk, then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664207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a 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66160" y="1993391"/>
            <a:ext cx="548640" cy="256032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251959" y="1664207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ATTENTION</a:t>
            </a:r>
          </a:p>
          <a:p>
            <a:pPr algn="ctr">
              <a:spcBef>
                <a:spcPts val="200"/>
              </a:spcBef>
            </a:pPr>
            <a:r>
              <a:rPr b="0" sz="1350">
                <a:solidFill>
                  <a:srgbClr val="5C5C5C"/>
                </a:solidFill>
                <a:latin typeface="Segoe UI"/>
              </a:rPr>
              <a:t>look at the other tokens
and take what you need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06640" y="1993391"/>
            <a:ext cx="548640" cy="256032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092440" y="1664207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EE9B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MLP</a:t>
            </a:r>
          </a:p>
          <a:p>
            <a:pPr algn="ctr">
              <a:spcBef>
                <a:spcPts val="200"/>
              </a:spcBef>
            </a:pPr>
            <a:r>
              <a:rPr b="0" sz="1350">
                <a:solidFill>
                  <a:srgbClr val="5C5C5C"/>
                </a:solidFill>
                <a:latin typeface="Segoe UI"/>
              </a:rPr>
              <a:t>think alone about
what you just heard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7157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8A5700"/>
                </a:solidFill>
                <a:latin typeface="Segoe UI"/>
              </a:rPr>
              <a:t>tokens talking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7157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8A5700"/>
                </a:solidFill>
                <a:latin typeface="Segoe UI"/>
              </a:rPr>
              <a:t>one token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300">
                <a:solidFill>
                  <a:srgbClr val="C27A00"/>
                </a:solidFill>
                <a:latin typeface="Segoe UI"/>
              </a:rPr>
              <a:t>THEN STACK THAT BLOCK FOUR TIMES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3858768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block 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4023359"/>
            <a:ext cx="32004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160520" y="3858768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block 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5040" y="4023359"/>
            <a:ext cx="32004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355080" y="3858768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block 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29600" y="4023359"/>
            <a:ext cx="320040" cy="201168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549640" y="3858768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block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188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Four rounds of “talk, then think”. </a:t>
            </a:r>
            <a:r>
              <a:rPr b="1" sz="1700">
                <a:solidFill>
                  <a:srgbClr val="151515"/>
                </a:solidFill>
                <a:latin typeface="Segoe UI"/>
              </a:rPr>
              <a:t>That is the whole transformer.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1324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5C5C5C"/>
                </a:solidFill>
                <a:latin typeface="Segoe UI"/>
              </a:rPr>
              <a:t>GPT-4 does the same thing — just with far more blocks, far bigger.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STEP 4   ·  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How it learns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57276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664208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>
                <a:solidFill>
                  <a:srgbClr val="151515"/>
                </a:solidFill>
                <a:latin typeface="Segoe UI"/>
              </a:rPr>
              <a:t>Show it some text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57984" y="2157984"/>
            <a:ext cx="164592" cy="14630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965960" y="2286000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377440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>
                <a:solidFill>
                  <a:srgbClr val="151515"/>
                </a:solidFill>
                <a:latin typeface="Segoe UI"/>
              </a:rPr>
              <a:t>Ask it to guess the next letter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57984" y="2871216"/>
            <a:ext cx="164592" cy="14630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965960" y="2999232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090672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>
                <a:solidFill>
                  <a:srgbClr val="151515"/>
                </a:solidFill>
                <a:latin typeface="Segoe UI"/>
              </a:rPr>
              <a:t>Measure how wrong it was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57984" y="3584448"/>
            <a:ext cx="164592" cy="14630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965960" y="3712463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803903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>
                <a:solidFill>
                  <a:srgbClr val="151515"/>
                </a:solidFill>
                <a:latin typeface="Segoe UI"/>
              </a:rPr>
              <a:t>Work out which way to adjust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157984" y="4297679"/>
            <a:ext cx="164592" cy="146304"/>
          </a:xfrm>
          <a:prstGeom prst="down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65960" y="4425696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51713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>
                <a:solidFill>
                  <a:srgbClr val="151515"/>
                </a:solidFill>
                <a:latin typeface="Segoe UI"/>
              </a:rPr>
              <a:t>Adjust everything a tiny 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12724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700">
                <a:solidFill>
                  <a:srgbClr val="8A5700"/>
                </a:solidFill>
                <a:latin typeface="Segoe UI"/>
              </a:rPr>
              <a:t>then do it again
</a:t>
            </a:r>
            <a:r>
              <a:rPr b="1" sz="1700">
                <a:solidFill>
                  <a:srgbClr val="8A5700"/>
                </a:solidFill>
                <a:latin typeface="Segoe UI"/>
              </a:rPr>
              <a:t>2,000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413248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5559552"/>
            <a:ext cx="10728655" cy="5669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600">
                <a:solidFill>
                  <a:srgbClr val="151515"/>
                </a:solidFill>
                <a:latin typeface="Segoe UI"/>
              </a:rPr>
              <a:t>There is no step 6. </a:t>
            </a:r>
            <a:r>
              <a:rPr b="1" sz="1600">
                <a:solidFill>
                  <a:srgbClr val="151515"/>
                </a:solidFill>
                <a:latin typeface="Segoe UI"/>
              </a:rPr>
              <a:t>Every</a:t>
            </a:r>
            <a:r>
              <a:rPr b="0" sz="1600">
                <a:solidFill>
                  <a:srgbClr val="151515"/>
                </a:solidFill>
                <a:latin typeface="Segoe UI"/>
              </a:rPr>
              <a:t> neural network ever built was trained by this loop.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THE NUMBER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Loss = how surprised the model was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7"/>
            <a:ext cx="2522143" cy="685800"/>
          </a:xfrm>
          <a:prstGeom prst="roundRect">
            <a:avLst>
              <a:gd name="adj" fmla="val 12000"/>
            </a:avLst>
          </a:prstGeom>
          <a:solidFill>
            <a:srgbClr val="C27A00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at the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328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800">
                <a:solidFill>
                  <a:srgbClr val="151515"/>
                </a:solidFill>
                <a:latin typeface="Segoe UI"/>
              </a:rPr>
              <a:t>4.17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472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pure guessing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664207"/>
            <a:ext cx="2522143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after 250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5328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800">
                <a:solidFill>
                  <a:srgbClr val="151515"/>
                </a:solidFill>
                <a:latin typeface="Segoe UI"/>
              </a:rPr>
              <a:t>2.50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823" y="34472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learned which letters are common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664207"/>
            <a:ext cx="2522143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after 1,000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5328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800">
                <a:solidFill>
                  <a:srgbClr val="151515"/>
                </a:solidFill>
                <a:latin typeface="Segoe UI"/>
              </a:rPr>
              <a:t>1.80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4472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learned word shapes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66631" y="1664207"/>
            <a:ext cx="2522143" cy="68580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after 2,000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6631" y="25328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800">
                <a:solidFill>
                  <a:srgbClr val="151515"/>
                </a:solidFill>
                <a:latin typeface="Segoe UI"/>
              </a:rPr>
              <a:t>1.60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6631" y="3447287"/>
            <a:ext cx="2522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00">
                <a:solidFill>
                  <a:srgbClr val="5C5C5C"/>
                </a:solidFill>
                <a:latin typeface="Segoe UI"/>
              </a:rPr>
              <a:t>learned names and line breaks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Lower is better.</a:t>
            </a:r>
            <a:r>
              <a:rPr b="0" sz="1700">
                <a:solidFill>
                  <a:srgbClr val="151515"/>
                </a:solidFill>
                <a:latin typeface="Segoe UI"/>
              </a:rPr>
              <a:t> It means the model was less surprised by what actually came next.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27448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" y="4873752"/>
            <a:ext cx="10728655" cy="978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Zero would be a model that is never surprised — impossible, because language is not predictable. </a:t>
            </a:r>
            <a:r>
              <a:rPr b="1" sz="1500">
                <a:solidFill>
                  <a:srgbClr val="151515"/>
                </a:solidFill>
                <a:latin typeface="Segoe UI"/>
              </a:rPr>
              <a:t>Watching this number fall is the real result of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WATCH IT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The same model, writing, as training goes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35607"/>
            <a:ext cx="345429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step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39"/>
            <a:ext cx="3454298" cy="16916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2148839"/>
            <a:ext cx="41148" cy="169164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67711"/>
            <a:ext cx="3088538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oTh eaw rn,dtI ohes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ne tt ahe uor mt sae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95927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noise with the right letters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435607"/>
            <a:ext cx="345429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step 1,000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2148839"/>
            <a:ext cx="3454298" cy="16916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68698" y="2148839"/>
            <a:ext cx="41148" cy="169164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9866" y="2267711"/>
            <a:ext cx="3088538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OMIO: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And the sear the world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the sead of hear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995927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words appear, names almost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4476" y="1435607"/>
            <a:ext cx="3454298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500">
                <a:solidFill>
                  <a:srgbClr val="151515"/>
                </a:solidFill>
                <a:latin typeface="Segoe UI"/>
              </a:rPr>
              <a:t>step 2,000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4476" y="2148839"/>
            <a:ext cx="3454298" cy="16916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34476" y="2148839"/>
            <a:ext cx="41148" cy="169164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5644" y="2267711"/>
            <a:ext cx="3088538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ROMEO: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I will be so the world,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250">
                <a:solidFill>
                  <a:srgbClr val="151515"/>
                </a:solidFill>
                <a:latin typeface="Consolas"/>
              </a:rPr>
              <a:t>And the state of his death.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3995927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names, colons, line breaks, sentence shape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90288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473659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BE HONEST ABOUT WHAT THIS 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020055"/>
            <a:ext cx="10728655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450">
                <a:solidFill>
                  <a:srgbClr val="151515"/>
                </a:solidFill>
                <a:latin typeface="Segoe UI"/>
              </a:rPr>
              <a:t>It is 0.8 million numbers trained for three minutes on 1 MB of text. It learned the </a:t>
            </a:r>
            <a:r>
              <a:rPr b="1" sz="1450">
                <a:solidFill>
                  <a:srgbClr val="151515"/>
                </a:solidFill>
                <a:latin typeface="Segoe UI"/>
              </a:rPr>
              <a:t>shape</a:t>
            </a:r>
            <a:r>
              <a:rPr b="0" sz="1450">
                <a:solidFill>
                  <a:srgbClr val="151515"/>
                </a:solidFill>
                <a:latin typeface="Segoe UI"/>
              </a:rPr>
              <a:t> of Shakespeare, not the meaning. </a:t>
            </a:r>
            <a:r>
              <a:rPr b="1" sz="1450">
                <a:solidFill>
                  <a:srgbClr val="151515"/>
                </a:solidFill>
                <a:latin typeface="Segoe UI"/>
              </a:rPr>
              <a:t>That is exactly what should happen</a:t>
            </a:r>
            <a:r>
              <a:rPr b="0" sz="1450">
                <a:solidFill>
                  <a:srgbClr val="151515"/>
                </a:solidFill>
                <a:latin typeface="Segoe UI"/>
              </a:rPr>
              <a:t> — and it is the same process that made ChatGPT, at a millionth of the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STEP 5   ·   GENERATING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How it writes a whole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It only ever predicts </a:t>
            </a:r>
            <a:r>
              <a:rPr b="1" sz="1600">
                <a:solidFill>
                  <a:srgbClr val="151515"/>
                </a:solidFill>
                <a:latin typeface="Segoe UI"/>
              </a:rPr>
              <a:t>one</a:t>
            </a:r>
            <a:r>
              <a:rPr b="0" sz="1600">
                <a:solidFill>
                  <a:srgbClr val="151515"/>
                </a:solidFill>
                <a:latin typeface="Segoe UI"/>
              </a:rPr>
              <a:t> token. So we just ask it again, and again.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2140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"ROMEO"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32120" y="2194560"/>
            <a:ext cx="64008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5080" y="212140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8A5700"/>
                </a:solidFill>
                <a:latin typeface="Segoe UI"/>
              </a:rPr>
              <a:t>":"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1214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…then feed it back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24912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"ROMEO:"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32120" y="2798064"/>
            <a:ext cx="64008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272491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8A5700"/>
                </a:solidFill>
                <a:latin typeface="Segoe UI"/>
              </a:rPr>
              <a:t>new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724912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…then feed it back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28415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"ROMEO:⏎"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32120" y="3401568"/>
            <a:ext cx="64008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3328415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8A5700"/>
                </a:solidFill>
                <a:latin typeface="Segoe UI"/>
              </a:rPr>
              <a:t>"I"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328415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…then feed it back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31920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"ROMEO:⏎I"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532120" y="4005072"/>
            <a:ext cx="64008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8A5700"/>
                </a:solidFill>
                <a:latin typeface="Segoe UI"/>
              </a:rPr>
              <a:t>" 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93192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…then feed it back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35424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"ROMEO:⏎I "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532120" y="4608576"/>
            <a:ext cx="64008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55080" y="4535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8A5700"/>
                </a:solidFill>
                <a:latin typeface="Segoe UI"/>
              </a:rPr>
              <a:t>"w"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13248"/>
            <a:ext cx="11185855" cy="10972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0664" y="5559552"/>
            <a:ext cx="10728655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There is </a:t>
            </a:r>
            <a:r>
              <a:rPr b="1" sz="1500">
                <a:solidFill>
                  <a:srgbClr val="151515"/>
                </a:solidFill>
                <a:latin typeface="Segoe UI"/>
              </a:rPr>
              <a:t>no plan and no draft.</a:t>
            </a:r>
            <a:r>
              <a:rPr b="0" sz="1500">
                <a:solidFill>
                  <a:srgbClr val="151515"/>
                </a:solidFill>
                <a:latin typeface="Segoe UI"/>
              </a:rPr>
              <a:t> It makes one small choice, forgets it, and makes the next one. Everything that looks like intention comes out of that.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ONE DIAL YOU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Temperature — how bold the model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18488"/>
            <a:ext cx="345429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0.2   safe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95728"/>
            <a:ext cx="3454298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2395728"/>
            <a:ext cx="41148" cy="137160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514600"/>
            <a:ext cx="3088538" cy="1161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the   99%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a      1%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my     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7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Almost always picks the favourite. Sensible, but repeats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618488"/>
            <a:ext cx="3454298" cy="621792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0.8   the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2395728"/>
            <a:ext cx="3454298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68698" y="2395728"/>
            <a:ext cx="41148" cy="137160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9866" y="2514600"/>
            <a:ext cx="3088538" cy="1161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the   65%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a     19%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my   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3904487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Usually sensible, sometimes surprising. This is what we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4476" y="1618488"/>
            <a:ext cx="345429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600">
                <a:solidFill>
                  <a:srgbClr val="151515"/>
                </a:solidFill>
                <a:latin typeface="Segoe UI"/>
              </a:rPr>
              <a:t>1.5   wild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4476" y="2395728"/>
            <a:ext cx="3454298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34476" y="2395728"/>
            <a:ext cx="41148" cy="137160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5644" y="2514600"/>
            <a:ext cx="3088538" cy="1161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the   46%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a     24%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00">
                <a:solidFill>
                  <a:srgbClr val="151515"/>
                </a:solidFill>
                <a:latin typeface="Consolas"/>
              </a:rPr>
              <a:t>my    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3904487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Gives odd choices a real chance. Creative, then incoherent.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3892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151515"/>
                </a:solidFill>
                <a:latin typeface="Segoe UI"/>
              </a:rPr>
              <a:t>The last step is a </a:t>
            </a:r>
            <a:r>
              <a:rPr b="1" sz="1500">
                <a:solidFill>
                  <a:srgbClr val="151515"/>
                </a:solidFill>
                <a:latin typeface="Segoe UI"/>
              </a:rPr>
              <a:t>weighted dice roll</a:t>
            </a:r>
            <a:r>
              <a:rPr b="0" sz="1500">
                <a:solidFill>
                  <a:srgbClr val="151515"/>
                </a:solidFill>
                <a:latin typeface="Segoe UI"/>
              </a:rPr>
              <a:t> — which is why the same prompt gives different text every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FROM YOUR LAPTOP TO A REAL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Same code. Different machine.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5318607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1901952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YOUR LAPTOP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85416"/>
            <a:ext cx="4861407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sz="1500">
                <a:solidFill>
                  <a:srgbClr val="151515"/>
                </a:solidFill>
                <a:latin typeface="Segoe UI"/>
              </a:rPr>
              <a:t>0.8 million</a:t>
            </a:r>
            <a:r>
              <a:rPr b="0" sz="1500">
                <a:solidFill>
                  <a:srgbClr val="151515"/>
                </a:solidFill>
                <a:latin typeface="Segoe UI"/>
              </a:rPr>
              <a:t> numbers to learn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About </a:t>
            </a:r>
            <a:r>
              <a:rPr b="1" sz="1500">
                <a:solidFill>
                  <a:srgbClr val="151515"/>
                </a:solidFill>
                <a:latin typeface="Segoe UI"/>
              </a:rPr>
              <a:t>3 minutes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Output: Shakespeare-shaped nonsense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73936"/>
            <a:ext cx="5227167" cy="27432"/>
          </a:xfrm>
          <a:prstGeom prst="rect">
            <a:avLst/>
          </a:prstGeom>
          <a:solidFill>
            <a:srgbClr val="C2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70167" y="1755648"/>
            <a:ext cx="5318607" cy="210312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07911" y="1901952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A RENTED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7911" y="2185416"/>
            <a:ext cx="4861407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sz="1500">
                <a:solidFill>
                  <a:srgbClr val="151515"/>
                </a:solidFill>
                <a:latin typeface="Segoe UI"/>
              </a:rPr>
              <a:t>10.8 million</a:t>
            </a:r>
            <a:r>
              <a:rPr b="0" sz="1500">
                <a:solidFill>
                  <a:srgbClr val="151515"/>
                </a:solidFill>
                <a:latin typeface="Segoe UI"/>
              </a:rPr>
              <a:t> numbers to learn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About </a:t>
            </a:r>
            <a:r>
              <a:rPr b="1" sz="1500">
                <a:solidFill>
                  <a:srgbClr val="151515"/>
                </a:solidFill>
                <a:latin typeface="Segoe UI"/>
              </a:rPr>
              <a:t>10 minutes</a:t>
            </a:r>
            <a:r>
              <a:rPr b="0" sz="1500">
                <a:solidFill>
                  <a:srgbClr val="151515"/>
                </a:solidFill>
                <a:latin typeface="Segoe UI"/>
              </a:rPr>
              <a:t>, costs about </a:t>
            </a:r>
            <a:r>
              <a:rPr b="1" sz="1500">
                <a:solidFill>
                  <a:srgbClr val="151515"/>
                </a:solidFill>
                <a:latin typeface="Segoe UI"/>
              </a:rPr>
              <a:t>13 cents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Output: actually readable-ish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33087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Not one line of the model changes. Only </a:t>
            </a:r>
            <a:r>
              <a:rPr b="1" sz="1700">
                <a:solidFill>
                  <a:srgbClr val="151515"/>
                </a:solidFill>
                <a:latin typeface="Segoe UI"/>
              </a:rPr>
              <a:t>where it runs.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818888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your 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57600" y="5020055"/>
            <a:ext cx="32004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977639" y="4818888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rented GPU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217920" y="5020055"/>
            <a:ext cx="32004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537959" y="4818888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FFF7E8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trained model saved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78240" y="5020055"/>
            <a:ext cx="320040" cy="182880"/>
          </a:xfrm>
          <a:prstGeom prst="rightArrow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098280" y="4818888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behind a URL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NOW YOU ARE THE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Your model, on your own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7"/>
            <a:ext cx="5318607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1810511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SESSIONS 1 –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093975"/>
            <a:ext cx="4861407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You sent a request to </a:t>
            </a:r>
            <a:r>
              <a:rPr b="1" sz="1500">
                <a:solidFill>
                  <a:srgbClr val="151515"/>
                </a:solidFill>
                <a:latin typeface="Segoe UI"/>
              </a:rPr>
              <a:t>somebody else's</a:t>
            </a:r>
            <a:r>
              <a:rPr b="0" sz="1500">
                <a:solidFill>
                  <a:srgbClr val="151515"/>
                </a:solidFill>
                <a:latin typeface="Segoe UI"/>
              </a:rPr>
              <a:t> model.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Their key. Their price. Their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82495"/>
            <a:ext cx="5227167" cy="27432"/>
          </a:xfrm>
          <a:prstGeom prst="rect">
            <a:avLst/>
          </a:prstGeom>
          <a:solidFill>
            <a:srgbClr val="C2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70167" y="1664207"/>
            <a:ext cx="5318607" cy="18288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07911" y="1810511"/>
            <a:ext cx="48614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>
                <a:solidFill>
                  <a:srgbClr val="C27A00"/>
                </a:solidFill>
                <a:latin typeface="Segoe UI"/>
              </a:rPr>
              <a:t>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7911" y="2093975"/>
            <a:ext cx="4861407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You send a request to </a:t>
            </a:r>
            <a:r>
              <a:rPr b="1" sz="1500">
                <a:solidFill>
                  <a:srgbClr val="151515"/>
                </a:solidFill>
                <a:latin typeface="Segoe UI"/>
              </a:rPr>
              <a:t>your own</a:t>
            </a:r>
            <a:r>
              <a:rPr b="0" sz="1500">
                <a:solidFill>
                  <a:srgbClr val="151515"/>
                </a:solidFill>
                <a:latin typeface="Segoe UI"/>
              </a:rPr>
              <a:t> model.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You trained it. You host it. You own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13048"/>
            <a:ext cx="11185855" cy="137160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2920" y="3813048"/>
            <a:ext cx="41148" cy="137160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93192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>
                <a:solidFill>
                  <a:srgbClr val="C27A00"/>
                </a:solidFill>
                <a:latin typeface="Segoe UI"/>
              </a:rPr>
              <a:t>AND ANYONE CAN CALL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187952"/>
            <a:ext cx="10820095" cy="90525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50">
                <a:solidFill>
                  <a:srgbClr val="151515"/>
                </a:solidFill>
                <a:latin typeface="Consolas"/>
              </a:rPr>
              <a:t>curl -X POST  https://&lt;your-url&gt;  \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350">
                <a:solidFill>
                  <a:srgbClr val="151515"/>
                </a:solidFill>
                <a:latin typeface="Consolas"/>
              </a:rPr>
              <a:t>     -d '{"prompt": "ROMEO:", "max_tokens": 200}'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1324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5C5C5C"/>
                </a:solidFill>
                <a:latin typeface="Segoe UI"/>
              </a:rPr>
              <a:t>The same LangChain code from Session 6 works on it, unchanged.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SO WHY ISN'T IT CHATGPT?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You built the bottom layer. There are four more.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527048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Layer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163677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50">
                <a:solidFill>
                  <a:srgbClr val="5C5C5C"/>
                </a:solidFill>
                <a:latin typeface="Segoe UI"/>
              </a:rPr>
              <a:t>Reasoning training — teach it to think in steps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76856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Layer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386584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50">
                <a:solidFill>
                  <a:srgbClr val="5C5C5C"/>
                </a:solidFill>
                <a:latin typeface="Segoe UI"/>
              </a:rPr>
              <a:t>Human feedback — teach it which answers people prefer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026663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3136391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50">
                <a:solidFill>
                  <a:srgbClr val="5C5C5C"/>
                </a:solidFill>
                <a:latin typeface="Segoe UI"/>
              </a:rPr>
              <a:t>Instruction tuning — teach it to </a:t>
            </a:r>
            <a:r>
              <a:rPr i="1" b="0" sz="1550">
                <a:solidFill>
                  <a:srgbClr val="5C5C5C"/>
                </a:solidFill>
                <a:latin typeface="Segoe UI"/>
              </a:rPr>
              <a:t>answer</a:t>
            </a:r>
            <a:r>
              <a:rPr b="0" sz="1550">
                <a:solidFill>
                  <a:srgbClr val="5C5C5C"/>
                </a:solidFill>
                <a:latin typeface="Segoe UI"/>
              </a:rPr>
              <a:t> instead of </a:t>
            </a:r>
            <a:r>
              <a:rPr i="1" b="0" sz="1550">
                <a:solidFill>
                  <a:srgbClr val="5C5C5C"/>
                </a:solidFill>
                <a:latin typeface="Segoe UI"/>
              </a:rPr>
              <a:t>continue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76472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Layer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38862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50">
                <a:solidFill>
                  <a:srgbClr val="5C5C5C"/>
                </a:solidFill>
                <a:latin typeface="Segoe UI"/>
              </a:rPr>
              <a:t>Scale — about a million times bigger, on a million times more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526279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Layer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39" y="4636007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550">
                <a:solidFill>
                  <a:srgbClr val="151515"/>
                </a:solidFill>
                <a:latin typeface="Segoe UI"/>
              </a:rPr>
              <a:t>Pretraining — predict the next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645151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1400">
                <a:solidFill>
                  <a:srgbClr val="C27A00"/>
                </a:solidFill>
                <a:latin typeface="Segoe UI"/>
              </a:rPr>
              <a:t>This is what we built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5896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Layer 0 is the engine. The other four are the driving lessons.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0760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50">
                <a:solidFill>
                  <a:srgbClr val="5C5C5C"/>
                </a:solidFill>
                <a:latin typeface="Segoe UI"/>
              </a:rPr>
              <a:t>Nobody can build layers 1–4 without layer 0 — and now you know exactly what it 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WHAT CHANGED SINCE 2019?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Less than you would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81328"/>
          <a:ext cx="11185854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1116"/>
                <a:gridCol w="6234738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>
                          <a:solidFill>
                            <a:srgbClr val="151515"/>
                          </a:solidFill>
                          <a:latin typeface="Segoe UI"/>
                        </a:rPr>
                        <a:t>What we built  (GPT-2, 2019)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>
                          <a:solidFill>
                            <a:srgbClr val="151515"/>
                          </a:solidFill>
                          <a:latin typeface="Segoe UI"/>
                        </a:rPr>
                        <a:t>What GPT-5 and Llama use today</a:t>
                      </a:r>
                    </a:p>
                  </a:txBody>
                  <a:tcPr marL="82296" marR="64008" marT="32004" marB="32004" anchor="ctr">
                    <a:solidFill>
                      <a:srgbClr val="F7B0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attention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50">
                          <a:solidFill>
                            <a:srgbClr val="151515"/>
                          </a:solidFill>
                          <a:latin typeface="Segoe UI"/>
                        </a:rPr>
                        <a:t>the same attention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predict the next token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50">
                          <a:solidFill>
                            <a:srgbClr val="151515"/>
                          </a:solidFill>
                          <a:latin typeface="Segoe UI"/>
                        </a:rPr>
                        <a:t>the same objective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can't see the future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50">
                          <a:solidFill>
                            <a:srgbClr val="151515"/>
                          </a:solidFill>
                          <a:latin typeface="Segoe UI"/>
                        </a:rPr>
                        <a:t>the same rule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stack identical blocks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350">
                          <a:solidFill>
                            <a:srgbClr val="151515"/>
                          </a:solidFill>
                          <a:latin typeface="Segoe UI"/>
                        </a:rPr>
                        <a:t>the same structure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remembers 128 tokens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remembers 400,000 — a smarter way to number positions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one thinking layer per block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hundreds of them, but only a few run per token</a:t>
                      </a:r>
                    </a:p>
                  </a:txBody>
                  <a:tcPr marL="82296" marR="64008" marT="32004" marB="32004" anchor="ctr">
                    <a:solidFill>
                      <a:srgbClr val="FBFA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trained on 1 MB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trained on </a:t>
                      </a:r>
                      <a:r>
                        <a:rPr b="1" sz="1350">
                          <a:solidFill>
                            <a:srgbClr val="151515"/>
                          </a:solidFill>
                          <a:latin typeface="Segoe UI"/>
                        </a:rPr>
                        <a:t>10-20 trillion</a:t>
                      </a:r>
                      <a:r>
                        <a:rPr b="0" sz="1350">
                          <a:solidFill>
                            <a:srgbClr val="151515"/>
                          </a:solidFill>
                          <a:latin typeface="Segoe UI"/>
                        </a:rPr>
                        <a:t> words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458968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0664" y="5605272"/>
            <a:ext cx="10728655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1" sz="1500">
                <a:solidFill>
                  <a:srgbClr val="151515"/>
                </a:solidFill>
                <a:latin typeface="Segoe UI"/>
              </a:rPr>
              <a:t>The core did not change.</a:t>
            </a:r>
            <a:r>
              <a:rPr b="0" sz="1500">
                <a:solidFill>
                  <a:srgbClr val="151515"/>
                </a:solidFill>
                <a:latin typeface="Segoe UI"/>
              </a:rPr>
              <a:t> What changed was the amount of data, the amount of computing, and the training that happens afterwards.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THE HONEST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Why yours writes nonsense and theirs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3454298" cy="566928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Your model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3288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000">
                <a:solidFill>
                  <a:srgbClr val="151515"/>
                </a:solidFill>
                <a:latin typeface="Segoe UI"/>
              </a:rPr>
              <a:t>10.8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6440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numbers to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2160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8A5700"/>
                </a:solidFill>
                <a:latin typeface="Segoe UI"/>
              </a:rPr>
              <a:t>~4.6 M words of training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55648"/>
            <a:ext cx="345429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The smallest real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253288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000">
                <a:solidFill>
                  <a:srgbClr val="151515"/>
                </a:solidFill>
                <a:latin typeface="Segoe UI"/>
              </a:rPr>
              <a:t>135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8" y="326440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numbers to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372160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8A5700"/>
                </a:solidFill>
                <a:latin typeface="Segoe UI"/>
              </a:rPr>
              <a:t>2,000,000,000,000</a:t>
            </a:r>
            <a:r>
              <a:rPr b="0" sz="1400">
                <a:solidFill>
                  <a:srgbClr val="8A5700"/>
                </a:solidFill>
                <a:latin typeface="Segoe UI"/>
              </a:rPr>
              <a:t> 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4476" y="1755648"/>
            <a:ext cx="345429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GPT-4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4476" y="253288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3000">
                <a:solidFill>
                  <a:srgbClr val="151515"/>
                </a:solidFill>
                <a:latin typeface="Segoe UI"/>
              </a:rPr>
              <a:t>~1,000,000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4476" y="326440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250">
                <a:solidFill>
                  <a:srgbClr val="929292"/>
                </a:solidFill>
                <a:latin typeface="Segoe UI"/>
              </a:rPr>
              <a:t>roughly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76" y="3721608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400">
                <a:solidFill>
                  <a:srgbClr val="8A5700"/>
                </a:solidFill>
                <a:latin typeface="Segoe UI"/>
              </a:rPr>
              <a:t>the readable internet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11185855" cy="12801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664" y="4736592"/>
            <a:ext cx="10728655" cy="1024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500">
                <a:solidFill>
                  <a:srgbClr val="151515"/>
                </a:solidFill>
                <a:latin typeface="Segoe UI"/>
              </a:rPr>
              <a:t>The smallest serious model is only about </a:t>
            </a:r>
            <a:r>
              <a:rPr b="1" sz="1500">
                <a:solidFill>
                  <a:srgbClr val="151515"/>
                </a:solidFill>
                <a:latin typeface="Segoe UI"/>
              </a:rPr>
              <a:t>13× bigger</a:t>
            </a:r>
            <a:r>
              <a:rPr b="0" sz="1500">
                <a:solidFill>
                  <a:srgbClr val="151515"/>
                </a:solidFill>
                <a:latin typeface="Segoe UI"/>
              </a:rPr>
              <a:t> than yours — but it read about </a:t>
            </a:r>
            <a:r>
              <a:rPr b="1" sz="1500">
                <a:solidFill>
                  <a:srgbClr val="151515"/>
                </a:solidFill>
                <a:latin typeface="Segoe UI"/>
              </a:rPr>
              <a:t>2,000,000× more text.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sz="1500">
                <a:solidFill>
                  <a:srgbClr val="151515"/>
                </a:solidFill>
                <a:latin typeface="Segoe UI"/>
              </a:rPr>
              <a:t>The design is the easy part. The data and the computing are the mountain.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EVERYTHING ON ONE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The whole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63039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Text becomes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5270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a tokenizer, built by counting — not by the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671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488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The answer is the text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2128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shifted one place left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529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346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Tokens look backwards at each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8986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and never at the future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38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204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Each token then thinks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5844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attention, then MLP — repeated N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245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062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Training is five steps, repeated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42702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guess, measure, adjust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10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8920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Writing is one token at a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9560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predict, append, repeat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5961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300">
                <a:solidFill>
                  <a:srgbClr val="151515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57784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>
                <a:solidFill>
                  <a:srgbClr val="151515"/>
                </a:solidFill>
                <a:latin typeface="Segoe UI"/>
              </a:rPr>
              <a:t>It is not ChatGPT because of data and 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5641848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350">
                <a:solidFill>
                  <a:srgbClr val="5C5C5C"/>
                </a:solidFill>
                <a:latin typeface="Segoe UI"/>
              </a:rPr>
              <a:t>not because of the design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TRY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Six commands. It runs on your laptop.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1185855" cy="2377440"/>
          </a:xfrm>
          <a:prstGeom prst="rect">
            <a:avLst/>
          </a:prstGeom>
          <a:solidFill>
            <a:srgbClr val="FAF9F7"/>
          </a:solidFill>
          <a:ln w="9525">
            <a:solidFill>
              <a:srgbClr val="DFDF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41148" cy="2377440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950">
                <a:solidFill>
                  <a:srgbClr val="C27A00"/>
                </a:solidFill>
                <a:latin typeface="Segoe UI"/>
              </a:rPr>
              <a:t>ON YOUR OWN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47672"/>
            <a:ext cx="10820095" cy="19110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400">
                <a:solidFill>
                  <a:srgbClr val="151515"/>
                </a:solidFill>
                <a:latin typeface="Consolas"/>
              </a:rPr>
              <a:t>python data3.py --dataset shakespeare --tokenizer char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400">
                <a:solidFill>
                  <a:srgbClr val="151515"/>
                </a:solidFill>
                <a:latin typeface="Consolas"/>
              </a:rPr>
              <a:t>python train5.py                  </a:t>
            </a:r>
            <a:r>
              <a:rPr b="0" sz="1400">
                <a:solidFill>
                  <a:srgbClr val="8A5700"/>
                </a:solidFill>
                <a:latin typeface="Consolas"/>
              </a:rPr>
              <a:t>  # ~3 minutes, watch the loss fall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b="0" sz="1400">
                <a:solidFill>
                  <a:srgbClr val="151515"/>
                </a:solidFill>
                <a:latin typeface="Consolas"/>
              </a:rPr>
              <a:t>python generate6.py --prompt "ROMEO:"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24528"/>
            <a:ext cx="3454298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Change one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56048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Open </a:t>
            </a:r>
            <a:r>
              <a:rPr b="0" sz="1350">
                <a:solidFill>
                  <a:srgbClr val="8A5700"/>
                </a:solidFill>
                <a:latin typeface="Consolas"/>
              </a:rPr>
              <a:t>config1.py</a:t>
            </a:r>
            <a:r>
              <a:rPr b="0" sz="1400">
                <a:solidFill>
                  <a:srgbClr val="5C5C5C"/>
                </a:solidFill>
                <a:latin typeface="Segoe UI"/>
              </a:rPr>
              <a:t>, change </a:t>
            </a:r>
            <a:r>
              <a:rPr b="0" sz="1350">
                <a:solidFill>
                  <a:srgbClr val="8A5700"/>
                </a:solidFill>
                <a:latin typeface="Consolas"/>
              </a:rPr>
              <a:t>n_layer</a:t>
            </a:r>
            <a:r>
              <a:rPr b="0" sz="1400">
                <a:solidFill>
                  <a:srgbClr val="5C5C5C"/>
                </a:solidFill>
                <a:latin typeface="Segoe UI"/>
              </a:rPr>
              <a:t> to 6, run it again. Watch what happens to the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4224528"/>
            <a:ext cx="3454298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Use your own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4956048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Put any </a:t>
            </a:r>
            <a:r>
              <a:rPr b="0" sz="1350">
                <a:solidFill>
                  <a:srgbClr val="8A5700"/>
                </a:solidFill>
                <a:latin typeface="Consolas"/>
              </a:rPr>
              <a:t>.txt</a:t>
            </a:r>
            <a:r>
              <a:rPr b="0" sz="1400">
                <a:solidFill>
                  <a:srgbClr val="5C5C5C"/>
                </a:solidFill>
                <a:latin typeface="Segoe UI"/>
              </a:rPr>
              <a:t> at </a:t>
            </a:r>
            <a:r>
              <a:rPr b="0" sz="1350">
                <a:solidFill>
                  <a:srgbClr val="8A5700"/>
                </a:solidFill>
                <a:latin typeface="Consolas"/>
              </a:rPr>
              <a:t>data/custom/input.txt</a:t>
            </a:r>
            <a:r>
              <a:rPr b="0" sz="1400">
                <a:solidFill>
                  <a:srgbClr val="5C5C5C"/>
                </a:solidFill>
                <a:latin typeface="Segoe UI"/>
              </a:rPr>
              <a:t> and run with </a:t>
            </a:r>
            <a:r>
              <a:rPr b="0" sz="1350">
                <a:solidFill>
                  <a:srgbClr val="8A5700"/>
                </a:solidFill>
                <a:latin typeface="Consolas"/>
              </a:rPr>
              <a:t>--dataset custom</a:t>
            </a:r>
            <a:r>
              <a:rPr b="0" sz="1400">
                <a:solidFill>
                  <a:srgbClr val="5C5C5C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4476" y="4224528"/>
            <a:ext cx="3454298" cy="548640"/>
          </a:xfrm>
          <a:prstGeom prst="roundRect">
            <a:avLst>
              <a:gd name="adj" fmla="val 12000"/>
            </a:avLst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5000"/>
              </a:lnSpc>
            </a:pPr>
            <a:r>
              <a:rPr b="1" sz="1400">
                <a:solidFill>
                  <a:srgbClr val="151515"/>
                </a:solidFill>
                <a:latin typeface="Segoe UI"/>
              </a:rPr>
              <a:t>Break it on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4956048"/>
            <a:ext cx="327141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400">
                <a:solidFill>
                  <a:srgbClr val="5C5C5C"/>
                </a:solidFill>
                <a:latin typeface="Segoe UI"/>
              </a:rPr>
              <a:t>Set </a:t>
            </a:r>
            <a:r>
              <a:rPr b="0" sz="1350">
                <a:solidFill>
                  <a:srgbClr val="8A5700"/>
                </a:solidFill>
                <a:latin typeface="Consolas"/>
              </a:rPr>
              <a:t>learning_rate</a:t>
            </a:r>
            <a:r>
              <a:rPr b="0" sz="1400">
                <a:solidFill>
                  <a:srgbClr val="5C5C5C"/>
                </a:solidFill>
                <a:latin typeface="Segoe UI"/>
              </a:rPr>
              <a:t> to </a:t>
            </a:r>
            <a:r>
              <a:rPr b="0" sz="1350">
                <a:solidFill>
                  <a:srgbClr val="8A5700"/>
                </a:solidFill>
                <a:latin typeface="Consolas"/>
              </a:rPr>
              <a:t>0.1</a:t>
            </a:r>
            <a:r>
              <a:rPr b="0" sz="1400">
                <a:solidFill>
                  <a:srgbClr val="5C5C5C"/>
                </a:solidFill>
                <a:latin typeface="Segoe UI"/>
              </a:rPr>
              <a:t> and watch the loss explode. Now you know what that looks like.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1050" spc="120">
                <a:solidFill>
                  <a:srgbClr val="C27A00"/>
                </a:solidFill>
                <a:latin typeface="Segoe UI"/>
              </a:rPr>
              <a:t>ONE LAST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1" sz="2500">
                <a:solidFill>
                  <a:srgbClr val="151515"/>
                </a:solidFill>
                <a:latin typeface="Segoe UI"/>
              </a:rPr>
              <a:t>It really is just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29284"/>
            <a:ext cx="822960" cy="41148"/>
          </a:xfrm>
          <a:prstGeom prst="rect">
            <a:avLst/>
          </a:prstGeom>
          <a:solidFill>
            <a:srgbClr val="F7B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b="0" sz="850">
                <a:solidFill>
                  <a:srgbClr val="929292"/>
                </a:solidFill>
                <a:latin typeface="Segoe UI"/>
              </a:rPr>
              <a:t>AI Season   ·   Build an LLM from Scratch, 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19088"/>
            <a:ext cx="640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b="1" sz="1100">
                <a:solidFill>
                  <a:srgbClr val="C27A00"/>
                </a:solidFill>
                <a:latin typeface="Segoe UI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38528"/>
            <a:ext cx="11185855" cy="173736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0664" y="2084832"/>
            <a:ext cx="10728655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b="0" sz="1900">
                <a:solidFill>
                  <a:srgbClr val="151515"/>
                </a:solidFill>
                <a:latin typeface="Segoe UI"/>
              </a:rPr>
              <a:t>Everything you saw today — a text file turning into a model on a URL — is built on one sentence: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b="1" sz="1900">
                <a:solidFill>
                  <a:srgbClr val="C27A00"/>
                </a:solidFill>
                <a:latin typeface="Segoe UI"/>
              </a:rPr>
              <a:t>Predict the next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33087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700">
                <a:solidFill>
                  <a:srgbClr val="151515"/>
                </a:solidFill>
                <a:latin typeface="Segoe UI"/>
              </a:rPr>
              <a:t>GPT-5 is the same sentence, with more data, more computing, and a few extra parts.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1888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1" sz="1700">
                <a:solidFill>
                  <a:srgbClr val="151515"/>
                </a:solidFill>
                <a:latin typeface="Segoe UI"/>
              </a:rPr>
              <a:t>You did not build a toy. You built the foundation — and now you can see what everything else stands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79008"/>
            <a:ext cx="11185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>
                <a:solidFill>
                  <a:srgbClr val="8A5700"/>
                </a:solidFill>
                <a:latin typeface="Segoe UI"/>
              </a:rPr>
              <a:t>AI Season   ·   Abdul Rahman Azam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