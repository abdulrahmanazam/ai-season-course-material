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400">
                <a:solidFill>
                  <a:srgbClr val="C27A00"/>
                </a:solidFill>
                <a:latin typeface="Segoe UI"/>
              </a:rPr>
              <a:t>AI SEASON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08857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b="1" i="0" sz="5000">
                <a:solidFill>
                  <a:srgbClr val="151515"/>
                </a:solidFill>
                <a:latin typeface="Segoe UI"/>
              </a:rPr>
              <a:t>Agent-to-Agent (A2A)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429000"/>
            <a:ext cx="1371600" cy="54864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675887"/>
            <a:ext cx="10088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1650">
                <a:solidFill>
                  <a:srgbClr val="5C5C5C"/>
                </a:solidFill>
                <a:latin typeface="Segoe UI"/>
              </a:rPr>
              <a:t>How agents built by different teams, frameworks and companies discover each other and hand off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Instructor</a:t>
            </a:r>
          </a:p>
          <a:p>
            <a:pPr>
              <a:spcBef>
                <a:spcPts val="300"/>
              </a:spcBef>
            </a:pPr>
            <a:r>
              <a:rPr b="1" i="0" sz="2000">
                <a:solidFill>
                  <a:srgbClr val="151515"/>
                </a:solidFill>
                <a:latin typeface="Segoe UI"/>
              </a:rPr>
              <a:t>Abdul Rahman Azam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2535" y="4709160"/>
            <a:ext cx="3931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b="0" i="0" sz="1150">
                <a:solidFill>
                  <a:srgbClr val="5C5C5C"/>
                </a:solidFill>
                <a:latin typeface="Segoe UI"/>
              </a:rPr>
              <a:t>Session 12</a:t>
            </a:r>
          </a:p>
          <a:p>
            <a:pPr algn="r">
              <a:spcBef>
                <a:spcPts val="500"/>
              </a:spcBef>
            </a:pPr>
            <a:r>
              <a:rPr b="0" i="0" sz="1150">
                <a:solidFill>
                  <a:srgbClr val="5C5C5C"/>
                </a:solidFill>
                <a:latin typeface="Segoe UI"/>
              </a:rPr>
              <a:t>11 files + a live debate demo</a:t>
            </a:r>
          </a:p>
          <a:p>
            <a:pPr algn="r">
              <a:spcBef>
                <a:spcPts val="500"/>
              </a:spcBef>
            </a:pPr>
            <a:r>
              <a:rPr b="0" i="0" sz="1150">
                <a:solidFill>
                  <a:srgbClr val="5C5C5C"/>
                </a:solidFill>
                <a:latin typeface="Segoe UI"/>
              </a:rPr>
              <a:t>Python · FastAPI · Groq · a2a-sdk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What we are building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2017715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50">
                <a:solidFill>
                  <a:srgbClr val="151515"/>
                </a:solidFill>
                <a:latin typeface="Segoe UI"/>
              </a:rPr>
              <a:t>WHY</a:t>
            </a:r>
          </a:p>
          <a:p>
            <a:pPr algn="ctr">
              <a:spcBef>
                <a:spcPts val="200"/>
              </a:spcBef>
            </a:pPr>
            <a:r>
              <a:rPr b="0" i="0" sz="1000">
                <a:solidFill>
                  <a:srgbClr val="5C5C5C"/>
                </a:solidFill>
                <a:latin typeface="Segoe UI"/>
              </a:rPr>
              <a:t>the silo problem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57211" y="1856231"/>
            <a:ext cx="201167" cy="182880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794955" y="1481328"/>
            <a:ext cx="2017715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50">
                <a:solidFill>
                  <a:srgbClr val="151515"/>
                </a:solidFill>
                <a:latin typeface="Segoe UI"/>
              </a:rPr>
              <a:t>VOCABULARY</a:t>
            </a:r>
          </a:p>
          <a:p>
            <a:pPr algn="ctr">
              <a:spcBef>
                <a:spcPts val="200"/>
              </a:spcBef>
            </a:pPr>
            <a:r>
              <a:rPr b="0" i="0" sz="1000">
                <a:solidFill>
                  <a:srgbClr val="5C5C5C"/>
                </a:solidFill>
                <a:latin typeface="Segoe UI"/>
              </a:rPr>
              <a:t>card · task · artifact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49246" y="1856231"/>
            <a:ext cx="201167" cy="182880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086990" y="1481328"/>
            <a:ext cx="2017715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50">
                <a:solidFill>
                  <a:srgbClr val="151515"/>
                </a:solidFill>
                <a:latin typeface="Segoe UI"/>
              </a:rPr>
              <a:t>BY HAND</a:t>
            </a:r>
          </a:p>
          <a:p>
            <a:pPr algn="ctr">
              <a:spcBef>
                <a:spcPts val="200"/>
              </a:spcBef>
            </a:pPr>
            <a:r>
              <a:rPr b="0" i="0" sz="1000">
                <a:solidFill>
                  <a:srgbClr val="5C5C5C"/>
                </a:solidFill>
                <a:latin typeface="Segoe UI"/>
              </a:rPr>
              <a:t>40 lines, no SDK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41281" y="1856231"/>
            <a:ext cx="201167" cy="182880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379025" y="1481328"/>
            <a:ext cx="2017715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50">
                <a:solidFill>
                  <a:srgbClr val="151515"/>
                </a:solidFill>
                <a:latin typeface="Segoe UI"/>
              </a:rPr>
              <a:t>REAL BRAINS</a:t>
            </a:r>
          </a:p>
          <a:p>
            <a:pPr algn="ctr">
              <a:spcBef>
                <a:spcPts val="200"/>
              </a:spcBef>
            </a:pPr>
            <a:r>
              <a:rPr b="0" i="0" sz="1000">
                <a:solidFill>
                  <a:srgbClr val="5C5C5C"/>
                </a:solidFill>
                <a:latin typeface="Segoe UI"/>
              </a:rPr>
              <a:t>Groq LLM agents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33316" y="1856231"/>
            <a:ext cx="201167" cy="182880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671060" y="1481328"/>
            <a:ext cx="2017715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50">
                <a:solidFill>
                  <a:srgbClr val="151515"/>
                </a:solidFill>
                <a:latin typeface="Segoe UI"/>
              </a:rPr>
              <a:t>THE SDK</a:t>
            </a:r>
          </a:p>
          <a:p>
            <a:pPr algn="ctr">
              <a:spcBef>
                <a:spcPts val="200"/>
              </a:spcBef>
            </a:pPr>
            <a:r>
              <a:rPr b="0" i="0" sz="1000">
                <a:solidFill>
                  <a:srgbClr val="5C5C5C"/>
                </a:solidFill>
                <a:latin typeface="Segoe UI"/>
              </a:rPr>
              <a:t>a2a-sdk 1.1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2743200"/>
          <a:ext cx="11185853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0744"/>
                <a:gridCol w="5978646"/>
                <a:gridCol w="2025025"/>
                <a:gridCol w="771438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Part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What you will be able to do after it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Files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Min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0 · Why A2A exists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Explain why agents cannot just call each other's APIs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1 · The vocabulary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Read any Agent Card and name every field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01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2 · Build one by hand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Write a working A2A agent + client with no SDK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02, 03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3 · Two agents collaborating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Discover specialists and delegate to the right one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04, 05, 06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4 · Give them real brains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Swap the brain without touching the client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07, 08, 09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5 · Meet the real SDK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Map every SDK piece back to what you built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10, 11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6 · Agents that disagree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Run a 3-agent debate over the same protocol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agent talks 2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5532120"/>
            <a:ext cx="11185855" cy="7132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0664" y="5678424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ONE LINE TO REMEMBER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5961888"/>
            <a:ext cx="10728655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1" i="0" sz="1350">
                <a:solidFill>
                  <a:srgbClr val="C27A00"/>
                </a:solidFill>
                <a:latin typeface="Segoe UI"/>
              </a:rPr>
              <a:t>MCP = agent to tool.   A2A = agent to agent.</a:t>
            </a:r>
            <a:r>
              <a:rPr b="0" i="0" sz="1350">
                <a:solidFill>
                  <a:srgbClr val="151515"/>
                </a:solidFill>
                <a:latin typeface="Segoe UI"/>
              </a:rPr>
              <a:t>   Real systems use both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1 ·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Why do agents need to talk to each other?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541004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1" i="0" sz="1320">
                <a:solidFill>
                  <a:srgbClr val="C27A00"/>
                </a:solidFill>
                <a:latin typeface="Segoe UI"/>
              </a:rPr>
              <a:t>—   </a:t>
            </a:r>
            <a:r>
              <a:rPr b="0" i="0" sz="1320">
                <a:solidFill>
                  <a:srgbClr val="151515"/>
                </a:solidFill>
                <a:latin typeface="Segoe UI"/>
              </a:rPr>
              <a:t>You already know how to give </a:t>
            </a:r>
            <a:r>
              <a:rPr b="1" i="0" sz="1320">
                <a:solidFill>
                  <a:srgbClr val="151515"/>
                </a:solidFill>
                <a:latin typeface="Segoe UI"/>
              </a:rPr>
              <a:t>one</a:t>
            </a:r>
            <a:r>
              <a:rPr b="0" i="0" sz="1320">
                <a:solidFill>
                  <a:srgbClr val="151515"/>
                </a:solidFill>
                <a:latin typeface="Segoe UI"/>
              </a:rPr>
              <a:t> agent tools. But the thing your agent needs help from is often </a:t>
            </a:r>
            <a:r>
              <a:rPr b="1" i="0" sz="1320">
                <a:solidFill>
                  <a:srgbClr val="C27A00"/>
                </a:solidFill>
                <a:latin typeface="Segoe UI"/>
              </a:rPr>
              <a:t>another whole agent</a:t>
            </a:r>
            <a:r>
              <a:rPr b="0" i="0" sz="1320">
                <a:solidFill>
                  <a:srgbClr val="151515"/>
                </a:solidFill>
                <a:latin typeface="Segoe UI"/>
              </a:rPr>
              <a:t> — built by a different company, running on a different framework, that you cannot see inside.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1" i="0" sz="1320">
                <a:solidFill>
                  <a:srgbClr val="C27A00"/>
                </a:solidFill>
                <a:latin typeface="Segoe UI"/>
              </a:rPr>
              <a:t>—   </a:t>
            </a:r>
            <a:r>
              <a:rPr b="0" i="0" sz="1320">
                <a:solidFill>
                  <a:srgbClr val="151515"/>
                </a:solidFill>
                <a:latin typeface="Segoe UI"/>
              </a:rPr>
              <a:t>A </a:t>
            </a:r>
            <a:r>
              <a:rPr b="1" i="0" sz="1320">
                <a:solidFill>
                  <a:srgbClr val="151515"/>
                </a:solidFill>
                <a:latin typeface="Segoe UI"/>
              </a:rPr>
              <a:t>travel</a:t>
            </a:r>
            <a:r>
              <a:rPr b="0" i="0" sz="1320">
                <a:solidFill>
                  <a:srgbClr val="151515"/>
                </a:solidFill>
                <a:latin typeface="Segoe UI"/>
              </a:rPr>
              <a:t> AI, a </a:t>
            </a:r>
            <a:r>
              <a:rPr b="1" i="0" sz="1320">
                <a:solidFill>
                  <a:srgbClr val="151515"/>
                </a:solidFill>
                <a:latin typeface="Segoe UI"/>
              </a:rPr>
              <a:t>weather</a:t>
            </a:r>
            <a:r>
              <a:rPr b="0" i="0" sz="1320">
                <a:solidFill>
                  <a:srgbClr val="151515"/>
                </a:solidFill>
                <a:latin typeface="Segoe UI"/>
              </a:rPr>
              <a:t> AI and a </a:t>
            </a:r>
            <a:r>
              <a:rPr b="1" i="0" sz="1320">
                <a:solidFill>
                  <a:srgbClr val="151515"/>
                </a:solidFill>
                <a:latin typeface="Segoe UI"/>
              </a:rPr>
              <a:t>currency</a:t>
            </a:r>
            <a:r>
              <a:rPr b="0" i="0" sz="1320">
                <a:solidFill>
                  <a:srgbClr val="151515"/>
                </a:solidFill>
                <a:latin typeface="Segoe UI"/>
              </a:rPr>
              <a:t> AI are each smart on their own. None of them can help the others.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0" i="0" sz="1270">
                <a:solidFill>
                  <a:srgbClr val="C27A00"/>
                </a:solidFill>
                <a:latin typeface="Segoe UI"/>
              </a:rPr>
              <a:t>·   </a:t>
            </a:r>
            <a:r>
              <a:rPr b="0" i="0" sz="1270">
                <a:solidFill>
                  <a:srgbClr val="5C5C5C"/>
                </a:solidFill>
                <a:latin typeface="Segoe UI"/>
              </a:rPr>
              <a:t>different teams, different codebases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0" i="0" sz="1270">
                <a:solidFill>
                  <a:srgbClr val="C27A00"/>
                </a:solidFill>
                <a:latin typeface="Segoe UI"/>
              </a:rPr>
              <a:t>·   </a:t>
            </a:r>
            <a:r>
              <a:rPr b="0" i="0" sz="1270">
                <a:solidFill>
                  <a:srgbClr val="5C5C5C"/>
                </a:solidFill>
                <a:latin typeface="Segoe UI"/>
              </a:rPr>
              <a:t>different LLMs, different frameworks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0" i="0" sz="1270">
                <a:solidFill>
                  <a:srgbClr val="C27A00"/>
                </a:solidFill>
                <a:latin typeface="Segoe UI"/>
              </a:rPr>
              <a:t>·   </a:t>
            </a:r>
            <a:r>
              <a:rPr b="0" i="0" sz="1270">
                <a:solidFill>
                  <a:srgbClr val="5C5C5C"/>
                </a:solidFill>
                <a:latin typeface="Segoe UI"/>
              </a:rPr>
              <a:t>no shared memory, no shared variables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1" i="0" sz="1320">
                <a:solidFill>
                  <a:srgbClr val="C27A00"/>
                </a:solidFill>
                <a:latin typeface="Segoe UI"/>
              </a:rPr>
              <a:t>—   </a:t>
            </a:r>
            <a:r>
              <a:rPr b="0" i="0" sz="1320">
                <a:solidFill>
                  <a:srgbClr val="151515"/>
                </a:solidFill>
                <a:latin typeface="Segoe UI"/>
              </a:rPr>
              <a:t>One real user question crosses all three. Somebody has to make them cooperate.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1" i="0" sz="1320">
                <a:solidFill>
                  <a:srgbClr val="C27A00"/>
                </a:solidFill>
                <a:latin typeface="Segoe UI"/>
              </a:rPr>
              <a:t>—   </a:t>
            </a:r>
            <a:r>
              <a:rPr b="0" i="0" sz="1320">
                <a:solidFill>
                  <a:srgbClr val="151515"/>
                </a:solidFill>
                <a:latin typeface="Segoe UI"/>
              </a:rPr>
              <a:t>Before A2A you wrote </a:t>
            </a:r>
            <a:r>
              <a:rPr b="1" i="0" sz="1320">
                <a:solidFill>
                  <a:srgbClr val="151515"/>
                </a:solidFill>
                <a:latin typeface="Segoe UI"/>
              </a:rPr>
              <a:t>custom glue code for every pair</a:t>
            </a:r>
            <a:r>
              <a:rPr b="0" i="0" sz="1320">
                <a:solidFill>
                  <a:srgbClr val="151515"/>
                </a:solidFill>
                <a:latin typeface="Segoe UI"/>
              </a:rPr>
              <a:t>. That does not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1316736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THREE AGENTS, THREE SILOS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737360"/>
            <a:ext cx="1547317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00">
                <a:solidFill>
                  <a:srgbClr val="151515"/>
                </a:solidFill>
                <a:latin typeface="Segoe UI"/>
              </a:rPr>
              <a:t>Travel AI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5C5C5C"/>
                </a:solidFill>
                <a:latin typeface="Segoe UI"/>
              </a:rPr>
              <a:t>plans trips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10092" y="1737360"/>
            <a:ext cx="1547317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00">
                <a:solidFill>
                  <a:srgbClr val="151515"/>
                </a:solidFill>
                <a:latin typeface="Segoe UI"/>
              </a:rPr>
              <a:t>Weather AI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5C5C5C"/>
                </a:solidFill>
                <a:latin typeface="Segoe UI"/>
              </a:rPr>
              <a:t>forecasts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1458" y="1737360"/>
            <a:ext cx="1547317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00">
                <a:solidFill>
                  <a:srgbClr val="151515"/>
                </a:solidFill>
                <a:latin typeface="Segoe UI"/>
              </a:rPr>
              <a:t>Currency AI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5C5C5C"/>
                </a:solidFill>
                <a:latin typeface="Segoe UI"/>
              </a:rPr>
              <a:t>converts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7484" y="2048256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2000">
                <a:solidFill>
                  <a:srgbClr val="B3261E"/>
                </a:solidFill>
                <a:latin typeface="Segoe U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48850" y="2048256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2000">
                <a:solidFill>
                  <a:srgbClr val="B3261E"/>
                </a:solidFill>
                <a:latin typeface="Segoe UI"/>
              </a:rPr>
              <a:t>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80360"/>
            <a:ext cx="5410047" cy="1444752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16471" y="3026664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USER ASKS ONE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471" y="3310128"/>
            <a:ext cx="4952847" cy="9052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1" sz="1250">
                <a:solidFill>
                  <a:srgbClr val="151515"/>
                </a:solidFill>
                <a:latin typeface="Segoe UI"/>
              </a:rPr>
              <a:t>"I fly to Tokyo tomorrow — what is the weather there, and what is 100 USD in yen?"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No single agent can answer it. And none of them knows the others exist.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4480560"/>
            <a:ext cx="5410047" cy="17556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16471" y="4626864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WHAT IS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6471" y="4910328"/>
            <a:ext cx="4952847" cy="1216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A shared way to answer two questions: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1" i="0" sz="1250">
                <a:solidFill>
                  <a:srgbClr val="151515"/>
                </a:solidFill>
                <a:latin typeface="Segoe UI"/>
              </a:rPr>
              <a:t>1.  Who are you and what can you do?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1" i="0" sz="1250">
                <a:solidFill>
                  <a:srgbClr val="151515"/>
                </a:solidFill>
                <a:latin typeface="Segoe UI"/>
              </a:rPr>
              <a:t>2.  How do I send you work and get the result back?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That is exactly what A2A standardises — like HTTP did for web servers.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1 ·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Before A2A: custom glue for every single pair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16736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WITHOUT A PROTOCOL  —  N ×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5410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050">
                <a:solidFill>
                  <a:srgbClr val="5C5C5C"/>
                </a:solidFill>
                <a:latin typeface="Segoe UI"/>
              </a:rPr>
              <a:t>every cell is glue code somebody has to write and maintain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7452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900">
                <a:solidFill>
                  <a:srgbClr val="8A5700"/>
                </a:solidFill>
                <a:latin typeface="Segoe UI"/>
              </a:rPr>
              <a:t>Travel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744" y="187452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900">
                <a:solidFill>
                  <a:srgbClr val="8A5700"/>
                </a:solidFill>
                <a:latin typeface="Segoe UI"/>
              </a:rPr>
              <a:t>Weather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187452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900">
                <a:solidFill>
                  <a:srgbClr val="8A5700"/>
                </a:solidFill>
                <a:latin typeface="Segoe UI"/>
              </a:rPr>
              <a:t>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187452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900">
                <a:solidFill>
                  <a:srgbClr val="8A5700"/>
                </a:solidFill>
                <a:latin typeface="Segoe UI"/>
              </a:rPr>
              <a:t>Booking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33172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i="0" sz="900">
                <a:solidFill>
                  <a:srgbClr val="8A5700"/>
                </a:solidFill>
                <a:latin typeface="Segoe UI"/>
              </a:rPr>
              <a:t>Travel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2148840"/>
            <a:ext cx="60350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i="0" sz="900">
                <a:solidFill>
                  <a:srgbClr val="151515"/>
                </a:solidFill>
                <a:latin typeface="Consolas"/>
              </a:rP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23744" y="2148840"/>
            <a:ext cx="603504" cy="603504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i="0" sz="900">
                <a:solidFill>
                  <a:srgbClr val="151515"/>
                </a:solidFill>
                <a:latin typeface="Consolas"/>
              </a:rPr>
              <a:t>glue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2148840"/>
            <a:ext cx="603504" cy="603504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i="0" sz="900">
                <a:solidFill>
                  <a:srgbClr val="151515"/>
                </a:solidFill>
                <a:latin typeface="Consolas"/>
              </a:rPr>
              <a:t>glue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30752" y="2148840"/>
            <a:ext cx="603504" cy="603504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i="0" sz="900">
                <a:solidFill>
                  <a:srgbClr val="151515"/>
                </a:solidFill>
                <a:latin typeface="Consolas"/>
              </a:rPr>
              <a:t>glue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2935224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i="0" sz="900">
                <a:solidFill>
                  <a:srgbClr val="8A5700"/>
                </a:solidFill>
                <a:latin typeface="Segoe UI"/>
              </a:rPr>
              <a:t>Weather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2752344"/>
            <a:ext cx="603504" cy="603504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i="0" sz="900">
                <a:solidFill>
                  <a:srgbClr val="151515"/>
                </a:solidFill>
                <a:latin typeface="Consolas"/>
              </a:rPr>
              <a:t>glue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2752344"/>
            <a:ext cx="60350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i="0" sz="900">
                <a:solidFill>
                  <a:srgbClr val="151515"/>
                </a:solidFill>
                <a:latin typeface="Consolas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27248" y="2752344"/>
            <a:ext cx="603504" cy="603504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i="0" sz="900">
                <a:solidFill>
                  <a:srgbClr val="151515"/>
                </a:solidFill>
                <a:latin typeface="Consolas"/>
              </a:rPr>
              <a:t>glue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30752" y="2752344"/>
            <a:ext cx="603504" cy="603504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i="0" sz="900">
                <a:solidFill>
                  <a:srgbClr val="151515"/>
                </a:solidFill>
                <a:latin typeface="Consolas"/>
              </a:rPr>
              <a:t>glue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3538728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i="0" sz="900">
                <a:solidFill>
                  <a:srgbClr val="8A5700"/>
                </a:solidFill>
                <a:latin typeface="Segoe UI"/>
              </a:rPr>
              <a:t>Currency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3355848"/>
            <a:ext cx="603504" cy="603504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i="0" sz="900">
                <a:solidFill>
                  <a:srgbClr val="151515"/>
                </a:solidFill>
                <a:latin typeface="Consolas"/>
              </a:rPr>
              <a:t>glue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23744" y="3355848"/>
            <a:ext cx="603504" cy="603504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i="0" sz="900">
                <a:solidFill>
                  <a:srgbClr val="151515"/>
                </a:solidFill>
                <a:latin typeface="Consolas"/>
              </a:rPr>
              <a:t>glue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55848"/>
            <a:ext cx="60350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i="0" sz="900">
                <a:solidFill>
                  <a:srgbClr val="151515"/>
                </a:solidFill>
                <a:latin typeface="Consolas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30752" y="3355848"/>
            <a:ext cx="603504" cy="603504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i="0" sz="900">
                <a:solidFill>
                  <a:srgbClr val="151515"/>
                </a:solidFill>
                <a:latin typeface="Consolas"/>
              </a:rPr>
              <a:t>glue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4142232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i="0" sz="900">
                <a:solidFill>
                  <a:srgbClr val="8A5700"/>
                </a:solidFill>
                <a:latin typeface="Segoe UI"/>
              </a:rPr>
              <a:t>Booking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3959352"/>
            <a:ext cx="603504" cy="603504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i="0" sz="900">
                <a:solidFill>
                  <a:srgbClr val="151515"/>
                </a:solidFill>
                <a:latin typeface="Consolas"/>
              </a:rPr>
              <a:t>glue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23744" y="3959352"/>
            <a:ext cx="603504" cy="603504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i="0" sz="900">
                <a:solidFill>
                  <a:srgbClr val="151515"/>
                </a:solidFill>
                <a:latin typeface="Consolas"/>
              </a:rPr>
              <a:t>glue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7248" y="3959352"/>
            <a:ext cx="603504" cy="603504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i="0" sz="900">
                <a:solidFill>
                  <a:srgbClr val="151515"/>
                </a:solidFill>
                <a:latin typeface="Consolas"/>
              </a:rPr>
              <a:t>glue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30752" y="3959352"/>
            <a:ext cx="60350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i="0" sz="900">
                <a:solidFill>
                  <a:srgbClr val="151515"/>
                </a:solidFill>
                <a:latin typeface="Consolas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709160"/>
            <a:ext cx="5410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250">
                <a:solidFill>
                  <a:srgbClr val="151515"/>
                </a:solidFill>
                <a:latin typeface="Segoe UI"/>
              </a:rPr>
              <a:t>4 agents  = 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12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one-way integrations        10 agents  = 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90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8727" y="1316736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WITH A2A  —  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727" y="1627632"/>
            <a:ext cx="5410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050">
                <a:solidFill>
                  <a:srgbClr val="5C5C5C"/>
                </a:solidFill>
                <a:latin typeface="Segoe UI"/>
              </a:rPr>
              <a:t>each agent learns one protocol, once, and is done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78727" y="2331720"/>
            <a:ext cx="1187919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Travel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6790391" y="3035808"/>
            <a:ext cx="164592" cy="402336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7686103" y="2331720"/>
            <a:ext cx="1187919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Weather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8197767" y="3035808"/>
            <a:ext cx="164592" cy="402336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9093479" y="2331720"/>
            <a:ext cx="1187919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Currency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9605143" y="3035808"/>
            <a:ext cx="164592" cy="402336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10500855" y="2331720"/>
            <a:ext cx="1187919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Booking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11012519" y="3035808"/>
            <a:ext cx="164592" cy="402336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6278727" y="3529584"/>
            <a:ext cx="5410047" cy="73152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400">
                <a:solidFill>
                  <a:srgbClr val="151515"/>
                </a:solidFill>
                <a:latin typeface="Segoe UI"/>
              </a:rPr>
              <a:t>A2A — one shared protocol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78727" y="4407408"/>
            <a:ext cx="5410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250">
                <a:solidFill>
                  <a:srgbClr val="151515"/>
                </a:solidFill>
                <a:latin typeface="Segoe UI"/>
              </a:rPr>
              <a:t>4 agents  = 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4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integrations        10 agents  = 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10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78727" y="4892040"/>
            <a:ext cx="5410047" cy="10972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516471" y="5038344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WHY NOT JUST CALL THEIR REST API?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6471" y="5321807"/>
            <a:ext cx="4952847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00">
                <a:solidFill>
                  <a:srgbClr val="151515"/>
                </a:solidFill>
                <a:latin typeface="Segoe UI"/>
              </a:rPr>
              <a:t>Because an agent is not an endpoint. It </a:t>
            </a:r>
            <a:r>
              <a:rPr b="1" i="0" sz="1200">
                <a:solidFill>
                  <a:srgbClr val="151515"/>
                </a:solidFill>
                <a:latin typeface="Segoe UI"/>
              </a:rPr>
              <a:t>reasons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, it takes minutes, it asks you follow-up questions, and its owner will not show you its prompt. A2A is built for that; a REST call is not.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1 ·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So what exactly is A2A?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3502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0" i="0" sz="1400">
                <a:solidFill>
                  <a:srgbClr val="151515"/>
                </a:solidFill>
                <a:latin typeface="Segoe UI"/>
              </a:rPr>
              <a:t>A2A (</a:t>
            </a:r>
            <a:r>
              <a:rPr b="1" i="0" sz="1400">
                <a:solidFill>
                  <a:srgbClr val="151515"/>
                </a:solidFill>
                <a:latin typeface="Segoe UI"/>
              </a:rPr>
              <a:t>Agent2Agent</a:t>
            </a:r>
            <a:r>
              <a:rPr b="0" i="0" sz="1400">
                <a:solidFill>
                  <a:srgbClr val="151515"/>
                </a:solidFill>
                <a:latin typeface="Segoe UI"/>
              </a:rPr>
              <a:t>) is an </a:t>
            </a:r>
            <a:r>
              <a:rPr b="1" i="0" sz="1400">
                <a:solidFill>
                  <a:srgbClr val="C27A00"/>
                </a:solidFill>
                <a:latin typeface="Segoe UI"/>
              </a:rPr>
              <a:t>open standard for communication between AI agents</a:t>
            </a:r>
            <a:r>
              <a:rPr b="0" i="0" sz="1400">
                <a:solidFill>
                  <a:srgbClr val="151515"/>
                </a:solidFill>
                <a:latin typeface="Segoe UI"/>
              </a:rPr>
              <a:t>. An agent publishes a small JSON résumé at a fixed web address; any other agent reads it and sends it work over plain HTTP. Nothing else is required.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121408"/>
          <a:ext cx="11185854" cy="26151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5434"/>
                <a:gridCol w="3850868"/>
                <a:gridCol w="5409552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Design principle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What the spec says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What it means for you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Simple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Reuse existing, well-understood standards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HTTP, JSON-RPC 2.0, Server-Sent Events — no new wire format to learn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Enterprise ready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Auth, authorization, security, privacy, tracing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Agent Cards carry security schemes; cards can be signed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Async first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Designed for (potentially very) long-running tasks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 job can run for hours; you poll it or get a webhook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Modality agnostic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Support exchange of diverse content types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Text, files and structured data are all just "parts"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Opaque execution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Collaborate without sharing internal thoughts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You never see the other agent's prompt, model, tools or memory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230368"/>
            <a:ext cx="5410047" cy="10058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664" y="5376672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WHO RUNS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5660136"/>
            <a:ext cx="4952847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00">
                <a:solidFill>
                  <a:srgbClr val="151515"/>
                </a:solidFill>
                <a:latin typeface="Segoe UI"/>
              </a:rPr>
              <a:t>A </a:t>
            </a:r>
            <a:r>
              <a:rPr b="1" i="0" sz="1200">
                <a:solidFill>
                  <a:srgbClr val="151515"/>
                </a:solidFill>
                <a:latin typeface="Segoe UI"/>
              </a:rPr>
              <a:t>Linux Foundation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project, not a single vendor's. v1.0 shipped in 2026, 150+ organisations, SDKs in Python, JavaScript, Java, Go and .NET.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5230368"/>
            <a:ext cx="5410047" cy="10058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16471" y="5376672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6471" y="5660136"/>
            <a:ext cx="4952847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150">
                <a:solidFill>
                  <a:srgbClr val="8A5700"/>
                </a:solidFill>
                <a:latin typeface="Consolas"/>
              </a:rPr>
              <a:t>HTTP(S)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is required. An agent must speak at least one of </a:t>
            </a:r>
            <a:r>
              <a:rPr b="1" i="0" sz="1200">
                <a:solidFill>
                  <a:srgbClr val="151515"/>
                </a:solidFill>
                <a:latin typeface="Segoe UI"/>
              </a:rPr>
              <a:t>JSON-RPC 2.0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, </a:t>
            </a:r>
            <a:r>
              <a:rPr b="1" i="0" sz="1200">
                <a:solidFill>
                  <a:srgbClr val="151515"/>
                </a:solidFill>
                <a:latin typeface="Segoe UI"/>
              </a:rPr>
              <a:t>gRPC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, or </a:t>
            </a:r>
            <a:r>
              <a:rPr b="1" i="0" sz="1200">
                <a:solidFill>
                  <a:srgbClr val="151515"/>
                </a:solidFill>
                <a:latin typeface="Segoe UI"/>
              </a:rPr>
              <a:t>HTTP+JSON/REST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. This course uses JSON-RPC.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1 ·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A2A vs MCP vs a plain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45738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Your app</a:t>
            </a:r>
          </a:p>
        </p:txBody>
      </p:sp>
      <p:sp>
        <p:nvSpPr>
          <p:cNvPr id="8" name="Down Arrow 7"/>
          <p:cNvSpPr/>
          <p:nvPr/>
        </p:nvSpPr>
        <p:spPr>
          <a:xfrm>
            <a:off x="2202637" y="1847088"/>
            <a:ext cx="146304" cy="237744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02920" y="2121408"/>
            <a:ext cx="3545738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REST API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202637" y="2578608"/>
            <a:ext cx="146304" cy="237744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02920" y="2852928"/>
            <a:ext cx="3545738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a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978" y="1389888"/>
            <a:ext cx="3545738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An agent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22695" y="1847088"/>
            <a:ext cx="146304" cy="237744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322978" y="2121408"/>
            <a:ext cx="3545738" cy="420624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MCP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022695" y="2578608"/>
            <a:ext cx="146304" cy="237744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322978" y="2852928"/>
            <a:ext cx="3545738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a tool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3036" y="1389888"/>
            <a:ext cx="3545738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An agent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842754" y="1847088"/>
            <a:ext cx="146304" cy="237744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143036" y="2121408"/>
            <a:ext cx="3545738" cy="420624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A2A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9842754" y="2578608"/>
            <a:ext cx="146304" cy="237744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43036" y="2852928"/>
            <a:ext cx="3545738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another agent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3529584"/>
          <a:ext cx="11185853" cy="2359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8684"/>
                <a:gridCol w="2475558"/>
                <a:gridCol w="3209056"/>
                <a:gridCol w="3942555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Plain API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MCP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A2A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Connects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an app to a server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an agent to its tools and data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an agent to another agent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The other side is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code you call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 function you own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 peer that reasons for itself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How you find it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you read the docs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the server lists its tools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you fetch its Agent Card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Unit of work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 request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 tool call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 Message, or a Task with a lifecycle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Who decides how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you do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you do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100">
                          <a:solidFill>
                            <a:srgbClr val="151515"/>
                          </a:solidFill>
                          <a:latin typeface="Segoe UI"/>
                        </a:rPr>
                        <a:t>the other agent does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Think of it as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 vending machine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giving a worker a toolbox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workers phoning and hiring each other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02920" y="6016752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250">
                <a:solidFill>
                  <a:srgbClr val="151515"/>
                </a:solidFill>
                <a:latin typeface="Segoe UI"/>
              </a:rPr>
              <a:t>They are </a:t>
            </a:r>
            <a:r>
              <a:rPr b="1" i="0" sz="1250">
                <a:solidFill>
                  <a:srgbClr val="C27A00"/>
                </a:solidFill>
                <a:latin typeface="Segoe UI"/>
              </a:rPr>
              <a:t>complementary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— a real system uses MCP inside each agent and A2A between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1 ·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The same capability, packaged two 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16736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SESSION 6  —  </a:t>
            </a:r>
            <a:r>
              <a:rPr b="1" i="0" sz="1250">
                <a:solidFill>
                  <a:srgbClr val="8A5700"/>
                </a:solidFill>
                <a:latin typeface="Consolas"/>
              </a:rPr>
              <a:t>GET_WEATHER</a:t>
            </a:r>
            <a:r>
              <a:rPr b="1" i="0" sz="1300">
                <a:solidFill>
                  <a:srgbClr val="C27A00"/>
                </a:solidFill>
                <a:latin typeface="Segoe UI"/>
              </a:rPr>
              <a:t> WAS A TOOL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700784"/>
            <a:ext cx="4404207" cy="1874519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" y="1810512"/>
            <a:ext cx="44042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200">
                <a:solidFill>
                  <a:srgbClr val="C27A00"/>
                </a:solidFill>
                <a:latin typeface="Segoe UI"/>
              </a:rPr>
              <a:t>One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2139696"/>
            <a:ext cx="3489807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the LLM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125647" y="2670048"/>
            <a:ext cx="164592" cy="256032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463040" y="2962656"/>
            <a:ext cx="3489807" cy="475488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050">
                <a:solidFill>
                  <a:srgbClr val="8A5700"/>
                </a:solidFill>
                <a:latin typeface="Consolas"/>
              </a:rPr>
              <a:t>get_weather()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75887"/>
            <a:ext cx="5410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100">
                <a:solidFill>
                  <a:srgbClr val="5C5C5C"/>
                </a:solidFill>
                <a:latin typeface="Segoe UI"/>
              </a:rPr>
              <a:t>one process · one codebase · you wrote both halves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1316736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SESSION 12  —  IT IS ITS OWN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70167" y="1700784"/>
            <a:ext cx="2384983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Orchestrator</a:t>
            </a:r>
          </a:p>
          <a:p>
            <a:pPr algn="ctr">
              <a:spcBef>
                <a:spcPts val="200"/>
              </a:spcBef>
            </a:pPr>
            <a:r>
              <a:rPr b="0" i="0" sz="900">
                <a:solidFill>
                  <a:srgbClr val="5C5C5C"/>
                </a:solidFill>
                <a:latin typeface="Segoe UI"/>
              </a:rPr>
              <a:t>reads cards, delegates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12351" y="1700784"/>
            <a:ext cx="2384983" cy="914400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Weather Agent</a:t>
            </a:r>
          </a:p>
          <a:p>
            <a:pPr algn="ctr">
              <a:spcBef>
                <a:spcPts val="200"/>
              </a:spcBef>
            </a:pPr>
            <a:r>
              <a:rPr b="0" i="0" sz="900">
                <a:solidFill>
                  <a:srgbClr val="5C5C5C"/>
                </a:solidFill>
                <a:latin typeface="Segoe UI"/>
              </a:rPr>
              <a:t>port 8002, own card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00871" y="1975104"/>
            <a:ext cx="384048" cy="164592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78727" y="2743200"/>
            <a:ext cx="5410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050">
                <a:solidFill>
                  <a:srgbClr val="8A5700"/>
                </a:solidFill>
                <a:latin typeface="Consolas"/>
              </a:rPr>
              <a:t>message/send</a:t>
            </a:r>
            <a:r>
              <a:rPr b="0" i="0" sz="1100">
                <a:solidFill>
                  <a:srgbClr val="8A5700"/>
                </a:solidFill>
                <a:latin typeface="Segoe UI"/>
              </a:rPr>
              <a:t>  over HTTP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3035808"/>
            <a:ext cx="5410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100">
                <a:solidFill>
                  <a:srgbClr val="5C5C5C"/>
                </a:solidFill>
                <a:latin typeface="Segoe UI"/>
              </a:rPr>
              <a:t>two processes · two codebases · could be two companies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3675887"/>
            <a:ext cx="5410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150">
                <a:solidFill>
                  <a:srgbClr val="151515"/>
                </a:solidFill>
                <a:latin typeface="Segoe UI"/>
              </a:rPr>
              <a:t>the orchestrator has </a:t>
            </a:r>
            <a:r>
              <a:rPr b="1" i="0" sz="1150">
                <a:solidFill>
                  <a:srgbClr val="C27A00"/>
                </a:solidFill>
                <a:latin typeface="Segoe UI"/>
              </a:rPr>
              <a:t>no idea</a:t>
            </a:r>
            <a:r>
              <a:rPr b="0" i="0" sz="1150">
                <a:solidFill>
                  <a:srgbClr val="151515"/>
                </a:solidFill>
                <a:latin typeface="Segoe UI"/>
              </a:rPr>
              <a:t> what is inside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60520"/>
            <a:ext cx="11185855" cy="8412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0664" y="4306824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SAY THIS OUT 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" y="4590288"/>
            <a:ext cx="10728655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1" sz="1300">
                <a:solidFill>
                  <a:srgbClr val="151515"/>
                </a:solidFill>
                <a:latin typeface="Segoe UI"/>
              </a:rPr>
              <a:t>"That jump — from a </a:t>
            </a:r>
            <a:r>
              <a:rPr b="0" i="1" sz="1300">
                <a:solidFill>
                  <a:srgbClr val="151515"/>
                </a:solidFill>
                <a:latin typeface="Segoe UI"/>
              </a:rPr>
              <a:t>tool you own</a:t>
            </a:r>
            <a:r>
              <a:rPr b="0" i="1" sz="1300">
                <a:solidFill>
                  <a:srgbClr val="151515"/>
                </a:solidFill>
                <a:latin typeface="Segoe UI"/>
              </a:rPr>
              <a:t> to a </a:t>
            </a:r>
            <a:r>
              <a:rPr b="0" i="1" sz="1300">
                <a:solidFill>
                  <a:srgbClr val="151515"/>
                </a:solidFill>
                <a:latin typeface="Segoe UI"/>
              </a:rPr>
              <a:t>separate agent you talk to</a:t>
            </a:r>
            <a:r>
              <a:rPr b="0" i="1" sz="1300">
                <a:solidFill>
                  <a:srgbClr val="151515"/>
                </a:solidFill>
                <a:latin typeface="Segoe UI"/>
              </a:rPr>
              <a:t> — is agent-to-agent. Everything else in this session is detail."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5193792"/>
          <a:ext cx="11185854" cy="987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0744"/>
                <a:gridCol w="3575806"/>
                <a:gridCol w="4309304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Use a plain API when…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Use MCP when…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Use A2A when…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the other side is deterministic code and you just want the data back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your own agent needs a tool, a file or a database it can call directly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the other side is an autonomous agent that reasons, is owned by someone else, or takes a long time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2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Multi-Agent Architecture — the three 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16736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280">
                <a:solidFill>
                  <a:srgbClr val="151515"/>
                </a:solidFill>
                <a:latin typeface="Segoe UI"/>
              </a:rPr>
              <a:t>A client is not a special program — </a:t>
            </a:r>
            <a:r>
              <a:rPr b="1" i="0" sz="1280">
                <a:solidFill>
                  <a:srgbClr val="151515"/>
                </a:solidFill>
                <a:latin typeface="Segoe UI"/>
              </a:rPr>
              <a:t>an agent acting as a client is still an agent</a:t>
            </a:r>
            <a:r>
              <a:rPr b="0" i="0" sz="128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187451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300">
                <a:solidFill>
                  <a:srgbClr val="151515"/>
                </a:solidFill>
                <a:latin typeface="Segoe UI"/>
              </a:rPr>
              <a:t>User</a:t>
            </a:r>
          </a:p>
          <a:p>
            <a:pPr algn="ctr">
              <a:spcBef>
                <a:spcPts val="200"/>
              </a:spcBef>
            </a:pPr>
            <a:r>
              <a:rPr b="0" i="0" sz="1050">
                <a:solidFill>
                  <a:srgbClr val="5C5C5C"/>
                </a:solidFill>
                <a:latin typeface="Segoe UI"/>
              </a:rPr>
              <a:t>asks for something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97480" y="1975104"/>
            <a:ext cx="502920" cy="201168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337560" y="1691640"/>
            <a:ext cx="2788920" cy="77724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300">
                <a:solidFill>
                  <a:srgbClr val="151515"/>
                </a:solidFill>
                <a:latin typeface="Segoe UI"/>
              </a:rPr>
              <a:t>A2A Client</a:t>
            </a:r>
          </a:p>
          <a:p>
            <a:pPr algn="ctr">
              <a:spcBef>
                <a:spcPts val="200"/>
              </a:spcBef>
            </a:pPr>
            <a:r>
              <a:rPr b="0" i="0" sz="1050">
                <a:solidFill>
                  <a:srgbClr val="5C5C5C"/>
                </a:solidFill>
                <a:latin typeface="Segoe UI"/>
              </a:rPr>
              <a:t>the agent that starts it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263640" y="1975104"/>
            <a:ext cx="1325880" cy="201168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726679" y="1691640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300">
                <a:solidFill>
                  <a:srgbClr val="151515"/>
                </a:solidFill>
                <a:latin typeface="Segoe UI"/>
              </a:rPr>
              <a:t>A2A Server</a:t>
            </a:r>
            <a:br/>
            <a:r>
              <a:rPr b="1" i="0" sz="1300">
                <a:solidFill>
                  <a:srgbClr val="151515"/>
                </a:solidFill>
                <a:latin typeface="Segoe UI"/>
              </a:rPr>
              <a:t>(Remote Agent)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64208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000">
                <a:solidFill>
                  <a:srgbClr val="8A5700"/>
                </a:solidFill>
                <a:latin typeface="Segoe UI"/>
              </a:rPr>
              <a:t>HTTP(S)</a:t>
            </a:r>
            <a:br/>
            <a:r>
              <a:rPr b="0" i="0" sz="1000">
                <a:solidFill>
                  <a:srgbClr val="8A5700"/>
                </a:solidFill>
                <a:latin typeface="Segoe UI"/>
              </a:rPr>
              <a:t>JSON-RPC 2.0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310128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29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726679" y="3401568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950">
                <a:solidFill>
                  <a:srgbClr val="929292"/>
                </a:solidFill>
                <a:latin typeface="Segoe UI"/>
              </a:rPr>
              <a:t>everything below is INVISIBLE to the client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3703320"/>
            <a:ext cx="987552" cy="4023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0" i="0" sz="950">
                <a:solidFill>
                  <a:srgbClr val="151515"/>
                </a:solidFill>
                <a:latin typeface="Segoe UI"/>
              </a:rPr>
              <a:t>its 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3" y="3703320"/>
            <a:ext cx="987552" cy="4023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0" i="0" sz="950">
                <a:solidFill>
                  <a:srgbClr val="151515"/>
                </a:solidFill>
                <a:latin typeface="Segoe UI"/>
              </a:rPr>
              <a:t>its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3703320"/>
            <a:ext cx="987552" cy="40233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0" i="0" sz="950">
                <a:solidFill>
                  <a:srgbClr val="151515"/>
                </a:solidFill>
                <a:latin typeface="Segoe UI"/>
              </a:rPr>
              <a:t>its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206240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C27A00"/>
                </a:solidFill>
                <a:latin typeface="Segoe UI"/>
              </a:rPr>
              <a:t>opaque execution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82328" y="3108960"/>
            <a:ext cx="10972" cy="201168"/>
          </a:xfrm>
          <a:prstGeom prst="rect">
            <a:avLst/>
          </a:prstGeom>
          <a:solidFill>
            <a:srgbClr val="9292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4956048"/>
          <a:ext cx="11185853" cy="1207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3870"/>
                <a:gridCol w="5134490"/>
                <a:gridCol w="3667493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Actor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Official definition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In our code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A2A Client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The application or agent that initiates requests on behalf of a user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06_orchestrator.py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,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03_greeting_client.py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A2A Server (Remote Agent)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An agent that exposes an A2A-compliant HTTP endpoint and does the work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04_weather_agent.py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,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05_currency_agent.py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2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Three shapes a multi-agent system 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35152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1 · ORCHESTRATOR – WORKER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00429" y="1755648"/>
            <a:ext cx="1920240" cy="548640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Orchestrator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78608"/>
            <a:ext cx="2692298" cy="25603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60549" y="2304288"/>
            <a:ext cx="25603" cy="274320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578608"/>
            <a:ext cx="25603" cy="237744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60549" y="2578608"/>
            <a:ext cx="25603" cy="237744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06698" y="2578608"/>
            <a:ext cx="25603" cy="237744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816352"/>
            <a:ext cx="1013256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000">
                <a:solidFill>
                  <a:srgbClr val="151515"/>
                </a:solidFill>
                <a:latin typeface="Segoe UI"/>
              </a:rPr>
              <a:t>Weather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89912" y="2816352"/>
            <a:ext cx="1013256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000">
                <a:solidFill>
                  <a:srgbClr val="151515"/>
                </a:solidFill>
                <a:latin typeface="Segoe UI"/>
              </a:rPr>
              <a:t>Currency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1185" y="2816352"/>
            <a:ext cx="1013256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000">
                <a:solidFill>
                  <a:srgbClr val="151515"/>
                </a:solidFill>
                <a:latin typeface="Segoe UI"/>
              </a:rPr>
              <a:t>Maths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456432"/>
            <a:ext cx="35152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100">
                <a:solidFill>
                  <a:srgbClr val="151515"/>
                </a:solidFill>
                <a:latin typeface="Segoe UI"/>
              </a:rPr>
              <a:t>one hires many · </a:t>
            </a:r>
            <a:r>
              <a:rPr b="1" i="0" sz="1100">
                <a:solidFill>
                  <a:srgbClr val="151515"/>
                </a:solidFill>
                <a:latin typeface="Segoe UI"/>
              </a:rPr>
              <a:t>file 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30752"/>
            <a:ext cx="35152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050">
                <a:solidFill>
                  <a:srgbClr val="5C5C5C"/>
                </a:solidFill>
                <a:latin typeface="Segoe UI"/>
              </a:rPr>
              <a:t>the shape 90% of systems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8218" y="1353312"/>
            <a:ext cx="35152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2 · PEER TO PEER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9658" y="2011680"/>
            <a:ext cx="1437589" cy="640080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PRO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447" y="2011680"/>
            <a:ext cx="1437589" cy="640080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CON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894679" y="2084831"/>
            <a:ext cx="420624" cy="146304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Left Arrow 22"/>
          <p:cNvSpPr/>
          <p:nvPr/>
        </p:nvSpPr>
        <p:spPr>
          <a:xfrm>
            <a:off x="5894679" y="2377440"/>
            <a:ext cx="420624" cy="146304"/>
          </a:xfrm>
          <a:prstGeom prst="lef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308473" y="2880360"/>
            <a:ext cx="1757629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050">
                <a:solidFill>
                  <a:srgbClr val="151515"/>
                </a:solidFill>
                <a:latin typeface="Segoe UI"/>
              </a:rPr>
              <a:t>Referee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8218" y="3529584"/>
            <a:ext cx="35152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100">
                <a:solidFill>
                  <a:srgbClr val="151515"/>
                </a:solidFill>
                <a:latin typeface="Segoe UI"/>
              </a:rPr>
              <a:t>each answers the other · </a:t>
            </a:r>
            <a:r>
              <a:rPr b="1" i="0" sz="1100">
                <a:solidFill>
                  <a:srgbClr val="151515"/>
                </a:solidFill>
                <a:latin typeface="Segoe UI"/>
              </a:rPr>
              <a:t>agent talks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8218" y="3803904"/>
            <a:ext cx="35152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050">
                <a:solidFill>
                  <a:srgbClr val="5C5C5C"/>
                </a:solidFill>
                <a:latin typeface="Segoe UI"/>
              </a:rPr>
              <a:t>debate, negotiation,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3516" y="1353312"/>
            <a:ext cx="35152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3 · PIPELINE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93556" y="1755648"/>
            <a:ext cx="2875178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Research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9848850" y="2267712"/>
            <a:ext cx="164592" cy="128016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493556" y="2414015"/>
            <a:ext cx="2875178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Write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9848850" y="2926079"/>
            <a:ext cx="164592" cy="128016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8493556" y="3072384"/>
            <a:ext cx="2875178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Edit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3516" y="3803904"/>
            <a:ext cx="35152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100">
                <a:solidFill>
                  <a:srgbClr val="151515"/>
                </a:solidFill>
                <a:latin typeface="Segoe UI"/>
              </a:rPr>
              <a:t>output of one is input of the next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297680"/>
            <a:ext cx="11185855" cy="8686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0664" y="4443984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ONLY THING THAT CHANGES BETWEEN THEM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" y="4727448"/>
            <a:ext cx="107286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1" i="0" sz="1250">
                <a:solidFill>
                  <a:srgbClr val="151515"/>
                </a:solidFill>
                <a:latin typeface="Segoe UI"/>
              </a:rPr>
              <a:t>Who calls </a:t>
            </a:r>
            <a:r>
              <a:rPr b="1" i="0" sz="1200">
                <a:solidFill>
                  <a:srgbClr val="8A5700"/>
                </a:solidFill>
                <a:latin typeface="Consolas"/>
              </a:rPr>
              <a:t>message/send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, and in what order.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The protocol, the cards and the Task objects are identical in all three. That is why one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DebateAgent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class can play any role.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502920" y="5376672"/>
          <a:ext cx="11185853" cy="950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7245"/>
                <a:gridCol w="4584366"/>
                <a:gridCol w="4034242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Topology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Who decides what happens next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You will see it in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Orchestrator – worker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one central agent routes every question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06_orchestrator.py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·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09_llm_orchestrator.py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Peer to peer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the agents themselves, turn by turn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agent talks 2 / 03_two_agents_talk.py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2 ·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The eight words you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53312"/>
          <a:ext cx="11185854" cy="3694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8808"/>
                <a:gridCol w="4951116"/>
                <a:gridCol w="4125930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Word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What it is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Where you will meet it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Agent Card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 JSON résumé: identity, endpoint, skills, capabilities, auth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/.well-known/agent-card.json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— file 01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Agent Skill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One thing the agent can do, with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id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,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tags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and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examples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skills[0]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in every card — file 04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Message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One turn of the conversation. Has a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role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and a list of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parts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params.message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— file 03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Part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The smallest content unit: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text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,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file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or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data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parts[0]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— every single call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Task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 stateful unit of work with an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id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and a lifecycle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the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result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of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message/send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— agent talks 2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Artifact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The finished output the agent produced for a task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task["artifacts"][0]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— agent talks 2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Context (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contextId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The id that groups related tasks into one conversation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ctx-debate-1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— agent talks 2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Client / Server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Who starts the call / who does the work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orchestrator / specialist — file 06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449824"/>
            <a:ext cx="11185855" cy="78638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0664" y="5596128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TWO OF THESE TRIP EVERYONE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5879592"/>
            <a:ext cx="10728655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A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Message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is a turn of talk; a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Task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is a job with a state. Simple agents reply with a Message; working agents reply with a Task, and the answer lives in its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Artifact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3 · AGENT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The Agent Card — an agent's résumé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35024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0" i="0" sz="1350">
                <a:solidFill>
                  <a:srgbClr val="151515"/>
                </a:solidFill>
                <a:latin typeface="Segoe UI"/>
              </a:rPr>
              <a:t>Before two agents can work together they must answer one question: </a:t>
            </a:r>
            <a:r>
              <a:rPr b="1" i="0" sz="1350">
                <a:solidFill>
                  <a:srgbClr val="C27A00"/>
                </a:solidFill>
                <a:latin typeface="Segoe UI"/>
              </a:rPr>
              <a:t>"Who are you, and what can you do?"</a:t>
            </a:r>
            <a:r>
              <a:rPr b="0" i="0" sz="1350">
                <a:solidFill>
                  <a:srgbClr val="151515"/>
                </a:solidFill>
                <a:latin typeface="Segoe UI"/>
              </a:rPr>
              <a:t>  A2A answers it with a single JSON file every agent publishes about itself.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484632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22960" y="2139696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100">
                <a:solidFill>
                  <a:srgbClr val="C27A00"/>
                </a:solidFill>
                <a:latin typeface="Segoe UI"/>
              </a:rPr>
              <a:t>AGENT CARD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432304"/>
            <a:ext cx="4297680" cy="10972"/>
          </a:xfrm>
          <a:prstGeom prst="rect">
            <a:avLst/>
          </a:prstGeom>
          <a:solidFill>
            <a:srgbClr val="DFD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2596896"/>
            <a:ext cx="1051560" cy="658368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WHO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651760"/>
            <a:ext cx="30632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300">
                <a:solidFill>
                  <a:srgbClr val="151515"/>
                </a:solidFill>
                <a:latin typeface="Segoe UI"/>
              </a:rPr>
              <a:t>Weather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926079"/>
            <a:ext cx="30632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000">
                <a:solidFill>
                  <a:srgbClr val="8A5700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5C5C5C"/>
                </a:solidFill>
                <a:latin typeface="Segoe UI"/>
              </a:rPr>
              <a:t> · </a:t>
            </a:r>
            <a:r>
              <a:rPr b="0" i="0" sz="1000">
                <a:solidFill>
                  <a:srgbClr val="8A5700"/>
                </a:solidFill>
                <a:latin typeface="Consolas"/>
              </a:rPr>
              <a:t>description</a:t>
            </a:r>
            <a:r>
              <a:rPr b="0" i="0" sz="1050">
                <a:solidFill>
                  <a:srgbClr val="5C5C5C"/>
                </a:solidFill>
                <a:latin typeface="Segoe UI"/>
              </a:rPr>
              <a:t> · </a:t>
            </a:r>
            <a:r>
              <a:rPr b="0" i="0" sz="1000">
                <a:solidFill>
                  <a:srgbClr val="8A5700"/>
                </a:solidFill>
                <a:latin typeface="Consolas"/>
              </a:rPr>
              <a:t>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456432"/>
            <a:ext cx="1051560" cy="658368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511296"/>
            <a:ext cx="30632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300">
                <a:solidFill>
                  <a:srgbClr val="151515"/>
                </a:solidFill>
                <a:latin typeface="Segoe UI"/>
              </a:rPr>
              <a:t>http://localhost:8002/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785615"/>
            <a:ext cx="30632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000">
                <a:solidFill>
                  <a:srgbClr val="8A5700"/>
                </a:solidFill>
                <a:latin typeface="Consolas"/>
              </a:rPr>
              <a:t>url</a:t>
            </a:r>
            <a:r>
              <a:rPr b="0" i="0" sz="1050">
                <a:solidFill>
                  <a:srgbClr val="5C5C5C"/>
                </a:solidFill>
                <a:latin typeface="Segoe UI"/>
              </a:rPr>
              <a:t> — POST your messages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315968"/>
            <a:ext cx="1051560" cy="658368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WHAT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370831"/>
            <a:ext cx="30632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300">
                <a:solidFill>
                  <a:srgbClr val="151515"/>
                </a:solidFill>
                <a:latin typeface="Segoe UI"/>
              </a:rPr>
              <a:t>get_weather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645152"/>
            <a:ext cx="30632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000">
                <a:solidFill>
                  <a:srgbClr val="8A5700"/>
                </a:solidFill>
                <a:latin typeface="Consolas"/>
              </a:rPr>
              <a:t>skills[]</a:t>
            </a:r>
            <a:r>
              <a:rPr b="0" i="0" sz="1050">
                <a:solidFill>
                  <a:srgbClr val="5C5C5C"/>
                </a:solidFill>
                <a:latin typeface="Segoe UI"/>
              </a:rPr>
              <a:t> — with tags others match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048256"/>
            <a:ext cx="560801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1" i="0" sz="1300">
                <a:solidFill>
                  <a:srgbClr val="C27A00"/>
                </a:solidFill>
                <a:latin typeface="Segoe UI"/>
              </a:rPr>
              <a:t>—   </a:t>
            </a:r>
            <a:r>
              <a:rPr b="0" i="0" sz="1300">
                <a:solidFill>
                  <a:srgbClr val="151515"/>
                </a:solidFill>
                <a:latin typeface="Segoe UI"/>
              </a:rPr>
              <a:t>It is </a:t>
            </a:r>
            <a:r>
              <a:rPr b="1" i="0" sz="1300">
                <a:solidFill>
                  <a:srgbClr val="151515"/>
                </a:solidFill>
                <a:latin typeface="Segoe UI"/>
              </a:rPr>
              <a:t>public</a:t>
            </a:r>
            <a:r>
              <a:rPr b="0" i="0" sz="1300">
                <a:solidFill>
                  <a:srgbClr val="151515"/>
                </a:solidFill>
                <a:latin typeface="Segoe UI"/>
              </a:rPr>
              <a:t>. Anyone may read it — that is the point.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1" i="0" sz="1300">
                <a:solidFill>
                  <a:srgbClr val="C27A00"/>
                </a:solidFill>
                <a:latin typeface="Segoe UI"/>
              </a:rPr>
              <a:t>—   </a:t>
            </a:r>
            <a:r>
              <a:rPr b="0" i="0" sz="1300">
                <a:solidFill>
                  <a:srgbClr val="151515"/>
                </a:solidFill>
                <a:latin typeface="Segoe UI"/>
              </a:rPr>
              <a:t>It is </a:t>
            </a:r>
            <a:r>
              <a:rPr b="1" i="0" sz="1300">
                <a:solidFill>
                  <a:srgbClr val="151515"/>
                </a:solidFill>
                <a:latin typeface="Segoe UI"/>
              </a:rPr>
              <a:t>not</a:t>
            </a:r>
            <a:r>
              <a:rPr b="0" i="0" sz="1300">
                <a:solidFill>
                  <a:srgbClr val="151515"/>
                </a:solidFill>
                <a:latin typeface="Segoe UI"/>
              </a:rPr>
              <a:t> where your prompt goes. The card is the outside of the agent; the prompt is the inside.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1" i="0" sz="1300">
                <a:solidFill>
                  <a:srgbClr val="C27A00"/>
                </a:solidFill>
                <a:latin typeface="Segoe UI"/>
              </a:rPr>
              <a:t>—   </a:t>
            </a:r>
            <a:r>
              <a:rPr b="0" i="0" sz="1300">
                <a:solidFill>
                  <a:srgbClr val="151515"/>
                </a:solidFill>
                <a:latin typeface="Segoe UI"/>
              </a:rPr>
              <a:t>It lives at one fixed path so nobody has to be told where to look: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0" i="0" sz="1250">
                <a:solidFill>
                  <a:srgbClr val="C27A00"/>
                </a:solidFill>
                <a:latin typeface="Segoe UI"/>
              </a:rPr>
              <a:t>·  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https://&lt;host&gt;/.well-known/agent-card.json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1" i="0" sz="1300">
                <a:solidFill>
                  <a:srgbClr val="C27A00"/>
                </a:solidFill>
                <a:latin typeface="Segoe UI"/>
              </a:rPr>
              <a:t>—   </a:t>
            </a:r>
            <a:r>
              <a:rPr b="0" i="0" sz="1300">
                <a:solidFill>
                  <a:srgbClr val="151515"/>
                </a:solidFill>
                <a:latin typeface="Segoe UI"/>
              </a:rPr>
              <a:t>Every field exists to answer a client's question: </a:t>
            </a:r>
            <a:r>
              <a:rPr b="0" i="1" sz="1300">
                <a:solidFill>
                  <a:srgbClr val="151515"/>
                </a:solidFill>
                <a:latin typeface="Segoe UI"/>
              </a:rPr>
              <a:t>should I hire this agent, and how exactly do I talk to it?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4892040"/>
            <a:ext cx="5608015" cy="1280160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18504" y="5038344"/>
            <a:ext cx="51508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IF YOU REMEMBER ONE THING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5321807"/>
            <a:ext cx="5150815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1" sz="1250">
                <a:solidFill>
                  <a:srgbClr val="151515"/>
                </a:solidFill>
                <a:latin typeface="Segoe UI"/>
              </a:rPr>
              <a:t>"If you know one thing about A2A, know this file."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 Publish a card and answer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message/send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— that is a valid A2A agent. Everything else is optional.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3 · AGENT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What is inside an Agent 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16736"/>
          <a:ext cx="5989320" cy="4279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3703320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Field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What it holds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protocolVersion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which A2A version this agent speaks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name</a:t>
                      </a: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 · </a:t>
                      </a: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description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who it is, in plain words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url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the endpoint you POST messages to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preferredTransport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JSONRPC</a:t>
                      </a: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 (default) · </a:t>
                      </a: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GRPC</a:t>
                      </a: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 · </a:t>
                      </a: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HTTP+JSON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additionalInterfaces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other transport + URL pairs it also serves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version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the agent's own version, not the protocol's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provider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the organisation behind it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capabilities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streaming? push notifications? extensions?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defaultInputModes</a:t>
                      </a: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 / </a:t>
                      </a: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OutputModes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the MIME types it takes and returns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skills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the heart of the card</a:t>
                      </a: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 — what it can do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securitySchemes</a:t>
                      </a: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 · </a:t>
                      </a: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security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how to authenticate to it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signatures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JSON Web Signatures proving the card is genuine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20840" y="1316736"/>
            <a:ext cx="4967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WHAT SESSION 12 ACTUALLY USES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1627632"/>
            <a:ext cx="4967935" cy="202567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720840" y="1627632"/>
            <a:ext cx="41148" cy="2025670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22007" y="1746504"/>
            <a:ext cx="46021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the minimum viable card  —  a real, discoverable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2007" y="2002536"/>
            <a:ext cx="4602175" cy="155932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"name":              "Weather Agent",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"description":       "Tells the weather.",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"version":           "1.0.0",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"url":               "http://localhost:8002/",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"defaultInputModes":  ["text"],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"defaultOutputModes": ["text"],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"capabilities": {...},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"skills":       [...]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822191"/>
            <a:ext cx="4967935" cy="11430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958583" y="3968496"/>
            <a:ext cx="45107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WHY THE REST IS 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8583" y="4251959"/>
            <a:ext cx="451073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00">
                <a:solidFill>
                  <a:srgbClr val="151515"/>
                </a:solidFill>
                <a:latin typeface="Segoe UI"/>
              </a:rPr>
              <a:t>Every other field is </a:t>
            </a:r>
            <a:r>
              <a:rPr b="1" i="0" sz="1200">
                <a:solidFill>
                  <a:srgbClr val="151515"/>
                </a:solidFill>
                <a:latin typeface="Segoe UI"/>
              </a:rPr>
              <a:t>optional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. Add </a:t>
            </a:r>
            <a:r>
              <a:rPr b="0" i="0" sz="1150">
                <a:solidFill>
                  <a:srgbClr val="8A5700"/>
                </a:solidFill>
                <a:latin typeface="Consolas"/>
              </a:rPr>
              <a:t>securitySchemes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when the agent goes on a real network; add </a:t>
            </a:r>
            <a:r>
              <a:rPr b="0" i="0" sz="1150">
                <a:solidFill>
                  <a:srgbClr val="8A5700"/>
                </a:solidFill>
                <a:latin typeface="Consolas"/>
              </a:rPr>
              <a:t>signatures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when clients must prove the card was not swapped.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5111496"/>
            <a:ext cx="4967935" cy="1124712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58583" y="5257800"/>
            <a:ext cx="45107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CAREFUL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8583" y="5541264"/>
            <a:ext cx="4510735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150">
                <a:solidFill>
                  <a:srgbClr val="8A5700"/>
                </a:solidFill>
                <a:latin typeface="Consolas"/>
              </a:rPr>
              <a:t>version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is </a:t>
            </a:r>
            <a:r>
              <a:rPr b="0" i="1" sz="1200">
                <a:solidFill>
                  <a:srgbClr val="151515"/>
                </a:solidFill>
                <a:latin typeface="Segoe UI"/>
              </a:rPr>
              <a:t>your agent's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version. </a:t>
            </a:r>
            <a:r>
              <a:rPr b="0" i="0" sz="1150">
                <a:solidFill>
                  <a:srgbClr val="8A5700"/>
                </a:solidFill>
                <a:latin typeface="Consolas"/>
              </a:rPr>
              <a:t>protocolVersion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is </a:t>
            </a:r>
            <a:r>
              <a:rPr b="0" i="1" sz="1200">
                <a:solidFill>
                  <a:srgbClr val="151515"/>
                </a:solidFill>
                <a:latin typeface="Segoe UI"/>
              </a:rPr>
              <a:t>A2A's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version. They are different fields and people mix them up constantly.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3 · AGENT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File 01 — the card, in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5410047" cy="4690483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41148" cy="4690483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01_what_is_an_agent_card.py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728216"/>
            <a:ext cx="5044287" cy="422413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agent_card = {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    # --- WHO am I? ---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"name": "Weather Agent",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"description": "Tells the current weather.",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"version": "1.0.0",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    # --- WHERE do you reach me? ---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"url": "http://localhost:8002/",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    # --- HOW do we talk? ---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"defaultInputModes": ["text"],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"defaultOutputModes": ["text"],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    # --- WHICH features do I support? ---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"capabilities": {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"streaming": False,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"pushNotifications": False,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},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    # --- WHAT can I actually do? ---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"skills": [ ... 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353312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WHAT IT PRINTS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1627632"/>
            <a:ext cx="5410047" cy="1579294"/>
          </a:xfrm>
          <a:prstGeom prst="rect">
            <a:avLst/>
          </a:prstGeom>
          <a:solidFill>
            <a:srgbClr val="FFFFFF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78727" y="1627632"/>
            <a:ext cx="41148" cy="1579294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9895" y="1746504"/>
            <a:ext cx="5044287" cy="136898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Every card answers 3 questions: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1. WHO   -&gt; Weather Agent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2. WHERE -&gt; http://localhost:8002/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3. WHAT  -&gt; ['Get weather']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In real life published at: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.../.well-known/agent-card.json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3401568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16471" y="3547872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NO SERVER, NO LLM, NO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6471" y="3831336"/>
            <a:ext cx="4952847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File 01 starts nothing. It builds one dictionary and prints it, so the JSON stops looking scary before we put it behind a web server in file 02.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663440"/>
            <a:ext cx="5410047" cy="1572768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16471" y="4809744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THREE QUESTIONS, EVERY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6471" y="5093207"/>
            <a:ext cx="4952847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1" i="0" sz="1250">
                <a:solidFill>
                  <a:srgbClr val="151515"/>
                </a:solidFill>
                <a:latin typeface="Segoe UI"/>
              </a:rPr>
              <a:t>WHO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— so a human can tell what they hired.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1" i="0" sz="1250">
                <a:solidFill>
                  <a:srgbClr val="151515"/>
                </a:solidFill>
                <a:latin typeface="Segoe UI"/>
              </a:rPr>
              <a:t>WHERE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— so a machine knows where to POST.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1" i="0" sz="1250">
                <a:solidFill>
                  <a:srgbClr val="151515"/>
                </a:solidFill>
                <a:latin typeface="Segoe UI"/>
              </a:rPr>
              <a:t>WHAT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— so a machine can decide </a:t>
            </a:r>
            <a:r>
              <a:rPr b="0" i="1" sz="1250">
                <a:solidFill>
                  <a:srgbClr val="151515"/>
                </a:solidFill>
                <a:latin typeface="Segoe UI"/>
              </a:rPr>
              <a:t>whether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to POST at all.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3 · AGENT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Agent Skills — and why </a:t>
            </a:r>
            <a:r>
              <a:rPr b="1" i="0" sz="2450">
                <a:solidFill>
                  <a:srgbClr val="8A5700"/>
                </a:solidFill>
                <a:latin typeface="Consolas"/>
              </a:rPr>
              <a:t>tags</a:t>
            </a:r>
            <a:r>
              <a:rPr b="1" i="0" sz="2500">
                <a:solidFill>
                  <a:srgbClr val="151515"/>
                </a:solidFill>
                <a:latin typeface="Segoe UI"/>
              </a:rPr>
              <a:t> decide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35024"/>
          <a:ext cx="5394959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19"/>
                <a:gridCol w="3291840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Field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What it is for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machine name, unique within the agent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name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human name, shown in a directory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description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what an LLM router reads to choose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tags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100">
                          <a:solidFill>
                            <a:srgbClr val="151515"/>
                          </a:solidFill>
                          <a:latin typeface="Segoe UI"/>
                        </a:rPr>
                        <a:t>keywords other agents match against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examples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sample prompts that should hit this skill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inputModes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/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outputModes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override the card defaults for this skill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3803904"/>
            <a:ext cx="5394960" cy="2216014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02920" y="3803904"/>
            <a:ext cx="41148" cy="2216014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92277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two skills, two tag 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4178808"/>
            <a:ext cx="5029200" cy="17496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# 04_weather_agent.py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"id":   "get_weather",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"tags": ["weather", "forecast",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"temperature", "rain"],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# 05_currency_agent.py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"id":   "convert_currency",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"tags": ["currency", "convert",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"exchange", "money", "forex"],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335024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HOW A TAG BECOMES A ROUTING DECISION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664208"/>
            <a:ext cx="5410047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50">
                <a:solidFill>
                  <a:srgbClr val="151515"/>
                </a:solidFill>
                <a:latin typeface="Segoe UI"/>
              </a:rPr>
              <a:t>"Is it raining in London?"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901455" y="2304288"/>
            <a:ext cx="164592" cy="310896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278727" y="2688336"/>
            <a:ext cx="5410047" cy="56692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50">
                <a:solidFill>
                  <a:srgbClr val="151515"/>
                </a:solidFill>
                <a:latin typeface="Segoe UI"/>
              </a:rPr>
              <a:t>scan every card's </a:t>
            </a:r>
            <a:r>
              <a:rPr b="1" i="0" sz="1200">
                <a:solidFill>
                  <a:srgbClr val="8A5700"/>
                </a:solidFill>
                <a:latin typeface="Consolas"/>
              </a:rPr>
              <a:t>skill["tags"]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01455" y="3328416"/>
            <a:ext cx="164592" cy="310896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278727" y="3712463"/>
            <a:ext cx="2567863" cy="658368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00">
                <a:solidFill>
                  <a:srgbClr val="151515"/>
                </a:solidFill>
                <a:latin typeface="Segoe UI"/>
              </a:rPr>
              <a:t>Weather Agent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5C5C5C"/>
                </a:solidFill>
                <a:latin typeface="Segoe UI"/>
              </a:rPr>
              <a:t>"rain" matched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20911" y="3712463"/>
            <a:ext cx="2567863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29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00">
                <a:solidFill>
                  <a:srgbClr val="151515"/>
                </a:solidFill>
                <a:latin typeface="Segoe UI"/>
              </a:rPr>
              <a:t>Currency Agent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5C5C5C"/>
                </a:solidFill>
                <a:latin typeface="Segoe UI"/>
              </a:rPr>
              <a:t>no tag matched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4617720"/>
            <a:ext cx="5410047" cy="9601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16471" y="4764024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PICK TAGS LIKE A SEARCH ENGINE WOULD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6471" y="5047488"/>
            <a:ext cx="495284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00">
                <a:solidFill>
                  <a:srgbClr val="151515"/>
                </a:solidFill>
                <a:latin typeface="Segoe UI"/>
              </a:rPr>
              <a:t>The question said "raining", not "weather". The tag </a:t>
            </a:r>
            <a:r>
              <a:rPr b="0" i="0" sz="1150">
                <a:solidFill>
                  <a:srgbClr val="8A5700"/>
                </a:solidFill>
                <a:latin typeface="Consolas"/>
              </a:rPr>
              <a:t>rain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is what saved the routing. Thin tag lists are the number-one reason delegation fails.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5669280"/>
            <a:ext cx="5410047" cy="566928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16471" y="5815584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TAGS ARE A HINT, NOT A 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6471" y="6099048"/>
            <a:ext cx="4952847" cy="27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00">
                <a:solidFill>
                  <a:srgbClr val="151515"/>
                </a:solidFill>
                <a:latin typeface="Segoe UI"/>
              </a:rPr>
              <a:t>An LLM router (file 09) reads </a:t>
            </a:r>
            <a:r>
              <a:rPr b="0" i="0" sz="1150">
                <a:solidFill>
                  <a:srgbClr val="8A5700"/>
                </a:solidFill>
                <a:latin typeface="Consolas"/>
              </a:rPr>
              <a:t>description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instead.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3 · AGENT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450">
                <a:solidFill>
                  <a:srgbClr val="8A5700"/>
                </a:solidFill>
                <a:latin typeface="Consolas"/>
              </a:rPr>
              <a:t>capabilities</a:t>
            </a:r>
            <a:r>
              <a:rPr b="1" i="0" sz="2500">
                <a:solidFill>
                  <a:srgbClr val="151515"/>
                </a:solidFill>
                <a:latin typeface="Segoe UI"/>
              </a:rPr>
              <a:t> — what the agent opts into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35024"/>
            <a:ext cx="111858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0" i="0" sz="1320">
                <a:solidFill>
                  <a:srgbClr val="151515"/>
                </a:solidFill>
                <a:latin typeface="Segoe UI"/>
              </a:rPr>
              <a:t>Four booleans that tell a client which </a:t>
            </a:r>
            <a:r>
              <a:rPr b="0" i="1" sz="1320">
                <a:solidFill>
                  <a:srgbClr val="151515"/>
                </a:solidFill>
                <a:latin typeface="Segoe UI"/>
              </a:rPr>
              <a:t>optional</a:t>
            </a:r>
            <a:r>
              <a:rPr b="0" i="0" sz="1320">
                <a:solidFill>
                  <a:srgbClr val="151515"/>
                </a:solidFill>
                <a:latin typeface="Segoe UI"/>
              </a:rPr>
              <a:t> parts of the protocol it may use. Declaring them is a promise: if you say </a:t>
            </a:r>
            <a:r>
              <a:rPr b="0" i="0" sz="1270">
                <a:solidFill>
                  <a:srgbClr val="8A5700"/>
                </a:solidFill>
                <a:latin typeface="Consolas"/>
              </a:rPr>
              <a:t>streaming: true</a:t>
            </a:r>
            <a:r>
              <a:rPr b="0" i="0" sz="1320">
                <a:solidFill>
                  <a:srgbClr val="151515"/>
                </a:solidFill>
                <a:latin typeface="Segoe UI"/>
              </a:rPr>
              <a:t>, you must actually serve </a:t>
            </a:r>
            <a:r>
              <a:rPr b="0" i="0" sz="1270">
                <a:solidFill>
                  <a:srgbClr val="8A5700"/>
                </a:solidFill>
                <a:latin typeface="Consolas"/>
              </a:rPr>
              <a:t>message/stream</a:t>
            </a:r>
            <a:r>
              <a:rPr b="0" i="0" sz="132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2590723" cy="566928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streaming</a:t>
            </a:r>
          </a:p>
        </p:txBody>
      </p:sp>
      <p:sp>
        <p:nvSpPr>
          <p:cNvPr id="9" name="Down Arrow 8"/>
          <p:cNvSpPr/>
          <p:nvPr/>
        </p:nvSpPr>
        <p:spPr>
          <a:xfrm>
            <a:off x="1725129" y="2560320"/>
            <a:ext cx="146304" cy="237744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02920" y="2871216"/>
            <a:ext cx="2590723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950">
                <a:solidFill>
                  <a:srgbClr val="8A5700"/>
                </a:solidFill>
                <a:latin typeface="Consolas"/>
              </a:rPr>
              <a:t>message/stream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93008"/>
            <a:ext cx="25907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050">
                <a:solidFill>
                  <a:srgbClr val="5C5C5C"/>
                </a:solidFill>
                <a:latin typeface="Segoe UI"/>
              </a:rPr>
              <a:t>partial answers pushed live over Server-Sent 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7963" y="1920240"/>
            <a:ext cx="2590723" cy="566928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pushNotifications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590173" y="2560320"/>
            <a:ext cx="146304" cy="237744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3367963" y="2871216"/>
            <a:ext cx="2590723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950">
                <a:solidFill>
                  <a:srgbClr val="8A5700"/>
                </a:solidFill>
                <a:latin typeface="Consolas"/>
              </a:rPr>
              <a:t>tasks/pushNotificationConfig/set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7963" y="3493008"/>
            <a:ext cx="25907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050">
                <a:solidFill>
                  <a:srgbClr val="5C5C5C"/>
                </a:solidFill>
                <a:latin typeface="Segoe UI"/>
              </a:rPr>
              <a:t>the agent calls your webhook when a long job finishes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920240"/>
            <a:ext cx="2590723" cy="566928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stateTransitionHistory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7455217" y="2560320"/>
            <a:ext cx="146304" cy="237744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233007" y="2871216"/>
            <a:ext cx="2590723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000">
                <a:solidFill>
                  <a:srgbClr val="151515"/>
                </a:solidFill>
                <a:latin typeface="Segoe UI"/>
              </a:rPr>
              <a:t>the full </a:t>
            </a:r>
            <a:r>
              <a:rPr b="1" i="0" sz="950">
                <a:solidFill>
                  <a:srgbClr val="8A5700"/>
                </a:solidFill>
                <a:latin typeface="Consolas"/>
              </a:rPr>
              <a:t>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3493008"/>
            <a:ext cx="25907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050">
                <a:solidFill>
                  <a:srgbClr val="5C5C5C"/>
                </a:solidFill>
                <a:latin typeface="Segoe UI"/>
              </a:rPr>
              <a:t>the client can replay every state the task passed through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051" y="1920240"/>
            <a:ext cx="2590723" cy="566928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extensions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0320261" y="2560320"/>
            <a:ext cx="146304" cy="237744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098051" y="2871216"/>
            <a:ext cx="2590723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000">
                <a:solidFill>
                  <a:srgbClr val="151515"/>
                </a:solidFill>
                <a:latin typeface="Segoe UI"/>
              </a:rPr>
              <a:t>custom behaviour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051" y="3493008"/>
            <a:ext cx="25907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050">
                <a:solidFill>
                  <a:srgbClr val="5C5C5C"/>
                </a:solidFill>
                <a:latin typeface="Segoe UI"/>
              </a:rPr>
              <a:t>agreed extras, declared by URI, beyond base A2A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315968"/>
            <a:ext cx="5410047" cy="1699366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02920" y="4315968"/>
            <a:ext cx="41148" cy="1699366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4434840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every card in session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690872"/>
            <a:ext cx="5044287" cy="123302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100">
                <a:solidFill>
                  <a:srgbClr val="151515"/>
                </a:solidFill>
                <a:latin typeface="Consolas"/>
              </a:rPr>
              <a:t>"capabilities": {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100">
                <a:solidFill>
                  <a:srgbClr val="151515"/>
                </a:solidFill>
                <a:latin typeface="Consolas"/>
              </a:rPr>
              <a:t>    "streaming": False,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100">
                <a:solidFill>
                  <a:srgbClr val="151515"/>
                </a:solidFill>
                <a:latin typeface="Consolas"/>
              </a:rPr>
              <a:t>    "pushNotifications": False,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100">
                <a:solidFill>
                  <a:srgbClr val="151515"/>
                </a:solidFill>
                <a:latin typeface="Consolas"/>
              </a:rPr>
              <a:t>},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100">
                <a:solidFill>
                  <a:srgbClr val="929292"/>
                </a:solidFill>
                <a:latin typeface="Consolas"/>
              </a:rPr>
              <a:t># both false, on purpose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8727" y="4315968"/>
            <a:ext cx="5410047" cy="16642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16471" y="4462272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WHY WE SAY FALSE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6471" y="4745736"/>
            <a:ext cx="4952847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Our agents answer in one shot, so there is nothing to stream and no long job to call back about.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Declaring a feature you have not built is worse than not declaring it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— a client will try to use it and fail.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Exercise 3 in the lesson guide flips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streaming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to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true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and makes the reply arrive word by word.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3 ·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Agent Discovery — one fixed address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2651760" cy="65836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50">
                <a:solidFill>
                  <a:srgbClr val="151515"/>
                </a:solidFill>
                <a:latin typeface="Segoe UI"/>
              </a:rPr>
              <a:t>A2A Client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645920"/>
            <a:ext cx="2514600" cy="658368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50">
                <a:solidFill>
                  <a:srgbClr val="151515"/>
                </a:solidFill>
                <a:latin typeface="Segoe UI"/>
              </a:rPr>
              <a:t>Remote Agent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20440" y="1773936"/>
            <a:ext cx="5074920" cy="182880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20440" y="1481328"/>
            <a:ext cx="5074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100">
                <a:solidFill>
                  <a:srgbClr val="8A5700"/>
                </a:solidFill>
                <a:latin typeface="Consolas"/>
              </a:rPr>
              <a:t>GET /.well-known/agent-card.json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3520440" y="2395728"/>
            <a:ext cx="5074920" cy="182880"/>
          </a:xfrm>
          <a:prstGeom prst="lef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20440" y="2103120"/>
            <a:ext cx="5074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100">
                <a:solidFill>
                  <a:srgbClr val="8A5700"/>
                </a:solidFill>
                <a:latin typeface="Consolas"/>
              </a:rPr>
              <a:t>200 OK</a:t>
            </a:r>
            <a:r>
              <a:rPr b="0" i="0" sz="1150">
                <a:solidFill>
                  <a:srgbClr val="8A5700"/>
                </a:solidFill>
                <a:latin typeface="Segoe UI"/>
              </a:rPr>
              <a:t>  — the Agent Card as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77440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050">
                <a:solidFill>
                  <a:srgbClr val="5C5C5C"/>
                </a:solidFill>
                <a:latin typeface="Segoe UI"/>
              </a:rPr>
              <a:t>now it knows the url,</a:t>
            </a:r>
            <a:br/>
            <a:r>
              <a:rPr b="0" i="0" sz="1050">
                <a:solidFill>
                  <a:srgbClr val="5C5C5C"/>
                </a:solidFill>
                <a:latin typeface="Segoe UI"/>
              </a:rPr>
              <a:t>the skills and the tags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80360"/>
            <a:ext cx="5410047" cy="1454638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02920" y="2880360"/>
            <a:ext cx="41148" cy="145463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999232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the server side — 02_greeting_agent.py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255263"/>
            <a:ext cx="5044287" cy="98829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@app.get("/.well-known/agent-card.json")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def get_agent_card():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return AGENT_CARD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# the entire discovery half of the protocol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8727" y="2880360"/>
            <a:ext cx="5410047" cy="1454638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78727" y="2880360"/>
            <a:ext cx="41148" cy="145463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9895" y="2999232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the client side — 03_greeting_client.py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9895" y="3255263"/>
            <a:ext cx="5044287" cy="98829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card = requests.get(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f"{AGENT_BASE}/.well-known/agent-card.json"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).json()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print("can do:", [s["name"]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  for s in card["skills"]])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4480560"/>
          <a:ext cx="11185853" cy="1426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92183"/>
                <a:gridCol w="5134490"/>
                <a:gridCol w="3759180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How a client finds a card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How it works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Use it when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Well-known URI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GET https://&lt;host&gt;/.well-known/agent-card.json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the agent is public, or you already know its domain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Curated registry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query a catalogue by skill, tag or provider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an enterprise, or a marketplace with many agents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Direct configuration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the URL is hardcoded, in config, or in an env var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private agents — what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KNOWN_AGENTS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does in file 06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02920" y="5998464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150">
                <a:solidFill>
                  <a:srgbClr val="5C5C5C"/>
                </a:solidFill>
                <a:latin typeface="Segoe UI"/>
              </a:rPr>
              <a:t>Cards can be cached (</a:t>
            </a:r>
            <a:r>
              <a:rPr b="0" i="0" sz="1100">
                <a:solidFill>
                  <a:srgbClr val="8A5700"/>
                </a:solidFill>
                <a:latin typeface="Consolas"/>
              </a:rPr>
              <a:t>Cache-Control</a:t>
            </a:r>
            <a:r>
              <a:rPr b="0" i="0" sz="1150">
                <a:solidFill>
                  <a:srgbClr val="5C5C5C"/>
                </a:solidFill>
                <a:latin typeface="Segoe UI"/>
              </a:rPr>
              <a:t>, </a:t>
            </a:r>
            <a:r>
              <a:rPr b="0" i="0" sz="1100">
                <a:solidFill>
                  <a:srgbClr val="8A5700"/>
                </a:solidFill>
                <a:latin typeface="Consolas"/>
              </a:rPr>
              <a:t>ETag</a:t>
            </a:r>
            <a:r>
              <a:rPr b="0" i="0" sz="1150">
                <a:solidFill>
                  <a:srgbClr val="5C5C5C"/>
                </a:solidFill>
                <a:latin typeface="Segoe UI"/>
              </a:rPr>
              <a:t>), and a sensitive agent can serve a fuller </a:t>
            </a:r>
            <a:r>
              <a:rPr b="1" i="0" sz="1150">
                <a:solidFill>
                  <a:srgbClr val="5C5C5C"/>
                </a:solidFill>
                <a:latin typeface="Segoe UI"/>
              </a:rPr>
              <a:t>authenticated extended card</a:t>
            </a:r>
            <a:r>
              <a:rPr b="0" i="0" sz="1150">
                <a:solidFill>
                  <a:srgbClr val="5C5C5C"/>
                </a:solidFill>
                <a:latin typeface="Segoe UI"/>
              </a:rPr>
              <a:t> only to callers who log 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3 · MESSAGES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Messages and Parts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35024"/>
            <a:ext cx="111858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0" i="0" sz="1320">
                <a:solidFill>
                  <a:srgbClr val="151515"/>
                </a:solidFill>
                <a:latin typeface="Segoe UI"/>
              </a:rPr>
              <a:t>A </a:t>
            </a:r>
            <a:r>
              <a:rPr b="1" i="0" sz="1320">
                <a:solidFill>
                  <a:srgbClr val="151515"/>
                </a:solidFill>
                <a:latin typeface="Segoe UI"/>
              </a:rPr>
              <a:t>Message</a:t>
            </a:r>
            <a:r>
              <a:rPr b="0" i="0" sz="1320">
                <a:solidFill>
                  <a:srgbClr val="151515"/>
                </a:solidFill>
                <a:latin typeface="Segoe UI"/>
              </a:rPr>
              <a:t> is one turn of the conversation. Its content is never a bare string — it is always a </a:t>
            </a:r>
            <a:r>
              <a:rPr b="1" i="0" sz="1320">
                <a:solidFill>
                  <a:srgbClr val="151515"/>
                </a:solidFill>
                <a:latin typeface="Segoe UI"/>
              </a:rPr>
              <a:t>list of Parts</a:t>
            </a:r>
            <a:r>
              <a:rPr b="0" i="0" sz="1320">
                <a:solidFill>
                  <a:srgbClr val="151515"/>
                </a:solidFill>
                <a:latin typeface="Segoe UI"/>
              </a:rPr>
              <a:t>, so the same envelope carries text, a PDF and a JSON blob without changing shape.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5410047" cy="214884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02920" y="2029968"/>
            <a:ext cx="5410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100">
                <a:solidFill>
                  <a:srgbClr val="C27A00"/>
                </a:solidFill>
                <a:latin typeface="Segoe UI"/>
              </a:rPr>
              <a:t>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48614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150">
                <a:solidFill>
                  <a:srgbClr val="8A5700"/>
                </a:solidFill>
                <a:latin typeface="Consolas"/>
              </a:rPr>
              <a:t>role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: "user"  |  "agent"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48614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150">
                <a:solidFill>
                  <a:srgbClr val="8A5700"/>
                </a:solidFill>
                <a:latin typeface="Consolas"/>
              </a:rPr>
              <a:t>messageId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 ·  </a:t>
            </a:r>
            <a:r>
              <a:rPr b="0" i="0" sz="1150">
                <a:solidFill>
                  <a:srgbClr val="8A5700"/>
                </a:solidFill>
                <a:latin typeface="Consolas"/>
              </a:rPr>
              <a:t>taskId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 ·  </a:t>
            </a:r>
            <a:r>
              <a:rPr b="0" i="0" sz="1150">
                <a:solidFill>
                  <a:srgbClr val="8A5700"/>
                </a:solidFill>
                <a:latin typeface="Consolas"/>
              </a:rPr>
              <a:t>contextId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52928"/>
            <a:ext cx="48614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150">
                <a:solidFill>
                  <a:srgbClr val="8A5700"/>
                </a:solidFill>
                <a:latin typeface="Consolas"/>
              </a:rPr>
              <a:t>parts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27248"/>
            <a:ext cx="15544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050">
                <a:solidFill>
                  <a:srgbClr val="151515"/>
                </a:solidFill>
                <a:latin typeface="Segoe UI"/>
              </a:rPr>
              <a:t>kind:</a:t>
            </a:r>
            <a:br/>
            <a:r>
              <a:rPr b="1" i="0" sz="1050">
                <a:solidFill>
                  <a:srgbClr val="151515"/>
                </a:solidFill>
                <a:latin typeface="Segoe UI"/>
              </a:rPr>
              <a:t>"text"</a:t>
            </a:r>
          </a:p>
          <a:p>
            <a:pPr algn="ctr">
              <a:spcBef>
                <a:spcPts val="200"/>
              </a:spcBef>
            </a:pPr>
            <a:r>
              <a:rPr b="0" i="0" sz="800">
                <a:solidFill>
                  <a:srgbClr val="5C5C5C"/>
                </a:solidFill>
                <a:latin typeface="Segoe UI"/>
              </a:rPr>
              <a:t>plain words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87168" y="3127248"/>
            <a:ext cx="15544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050">
                <a:solidFill>
                  <a:srgbClr val="151515"/>
                </a:solidFill>
                <a:latin typeface="Segoe UI"/>
              </a:rPr>
              <a:t>kind:</a:t>
            </a:r>
            <a:br/>
            <a:r>
              <a:rPr b="1" i="0" sz="1050">
                <a:solidFill>
                  <a:srgbClr val="151515"/>
                </a:solidFill>
                <a:latin typeface="Segoe UI"/>
              </a:rPr>
              <a:t>"file"</a:t>
            </a:r>
          </a:p>
          <a:p>
            <a:pPr algn="ctr">
              <a:spcBef>
                <a:spcPts val="200"/>
              </a:spcBef>
            </a:pPr>
            <a:r>
              <a:rPr b="0" i="0" sz="800">
                <a:solidFill>
                  <a:srgbClr val="5C5C5C"/>
                </a:solidFill>
                <a:latin typeface="Segoe UI"/>
              </a:rPr>
              <a:t>bytes or a URI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51376" y="3127248"/>
            <a:ext cx="15544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050">
                <a:solidFill>
                  <a:srgbClr val="151515"/>
                </a:solidFill>
                <a:latin typeface="Segoe UI"/>
              </a:rPr>
              <a:t>kind:</a:t>
            </a:r>
            <a:br/>
            <a:r>
              <a:rPr b="1" i="0" sz="1050">
                <a:solidFill>
                  <a:srgbClr val="151515"/>
                </a:solidFill>
                <a:latin typeface="Segoe UI"/>
              </a:rPr>
              <a:t>"data"</a:t>
            </a:r>
          </a:p>
          <a:p>
            <a:pPr algn="ctr">
              <a:spcBef>
                <a:spcPts val="200"/>
              </a:spcBef>
            </a:pPr>
            <a:r>
              <a:rPr b="0" i="0" sz="800">
                <a:solidFill>
                  <a:srgbClr val="5C5C5C"/>
                </a:solidFill>
                <a:latin typeface="Segoe UI"/>
              </a:rPr>
              <a:t>structured 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920240"/>
            <a:ext cx="5410047" cy="2216014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78727" y="1920240"/>
            <a:ext cx="41148" cy="2216014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2039112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03_greeting_client.py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9895" y="2295144"/>
            <a:ext cx="5044287" cy="17496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"message": {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"role": "user",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"parts": [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{"kind": "text", "text": "Sara"}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"messageId": uuid.uuid4().hex,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}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# coming back, the role flips to "agent"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224528"/>
            <a:ext cx="5410047" cy="9601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0664" y="4370832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WHY A LIST, FOR ONE STRING?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4654296"/>
            <a:ext cx="495284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00">
                <a:solidFill>
                  <a:srgbClr val="151515"/>
                </a:solidFill>
                <a:latin typeface="Segoe UI"/>
              </a:rPr>
              <a:t>Because next week you will send an image with a caption. The client code that reads </a:t>
            </a:r>
            <a:r>
              <a:rPr b="0" i="0" sz="1150">
                <a:solidFill>
                  <a:srgbClr val="8A5700"/>
                </a:solidFill>
                <a:latin typeface="Consolas"/>
              </a:rPr>
              <a:t>parts[0]["text"]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never has to change.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8727" y="4224528"/>
            <a:ext cx="5410047" cy="960120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16471" y="4370832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00">
                <a:solidFill>
                  <a:srgbClr val="8A5700"/>
                </a:solidFill>
                <a:latin typeface="Consolas"/>
              </a:rPr>
              <a:t>ROLE</a:t>
            </a:r>
            <a:r>
              <a:rPr b="1" i="0" sz="1050">
                <a:solidFill>
                  <a:srgbClr val="C27A00"/>
                </a:solidFill>
                <a:latin typeface="Segoe UI"/>
              </a:rPr>
              <a:t> HAS EXACTLY TWO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6471" y="4654296"/>
            <a:ext cx="495284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150">
                <a:solidFill>
                  <a:srgbClr val="8A5700"/>
                </a:solidFill>
                <a:latin typeface="Consolas"/>
              </a:rPr>
              <a:t>"user"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is whoever is asking — often another agent. </a:t>
            </a:r>
            <a:r>
              <a:rPr b="0" i="0" sz="1150">
                <a:solidFill>
                  <a:srgbClr val="8A5700"/>
                </a:solidFill>
                <a:latin typeface="Consolas"/>
              </a:rPr>
              <a:t>"agent"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is the one answering. There is no </a:t>
            </a:r>
            <a:r>
              <a:rPr b="0" i="0" sz="1150">
                <a:solidFill>
                  <a:srgbClr val="8A5700"/>
                </a:solidFill>
                <a:latin typeface="Consolas"/>
              </a:rPr>
              <a:t>"system"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role on the wire.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330952"/>
            <a:ext cx="11185855" cy="90525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0664" y="5477256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THREE IDS, IN ONE LINE 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" y="5760720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00">
                <a:solidFill>
                  <a:srgbClr val="8A5700"/>
                </a:solidFill>
                <a:latin typeface="Consolas"/>
              </a:rPr>
              <a:t>messageId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— this one turn.   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taskId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— the job this turn belongs to.   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contextId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— the whole conversation the job belongs 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3 · TRANSPORT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JSON-RPC 2.0 — the envelope every call travels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5410047" cy="2216014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41148" cy="2216014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the request  —  POST 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728216"/>
            <a:ext cx="5044287" cy="17496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{"jsonrpc": "2.0",      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always this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"id": 1,               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echoed back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"method": "message/send", # what you want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"params": {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"message": {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"role": "user",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"parts": [{"kind": "text",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"text": "Sara"}],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"messageId": "..."}}}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353312"/>
            <a:ext cx="5410047" cy="2216014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78727" y="1353312"/>
            <a:ext cx="41148" cy="2216014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9895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the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9895" y="1728216"/>
            <a:ext cx="5044287" cy="17496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{"jsonrpc": "2.0",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"id": 1,               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the same id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"result": {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"role": "agent",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"parts": [{"kind": "text",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"text": "Hello, Sara!"}],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"messageId": "greeting-reply-1"}}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# on failure: "error" instead of "result"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49039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250">
                <a:solidFill>
                  <a:srgbClr val="151515"/>
                </a:solidFill>
                <a:latin typeface="Segoe UI"/>
              </a:rPr>
              <a:t>Ten methods exist. </a:t>
            </a:r>
            <a:r>
              <a:rPr b="1" i="0" sz="1200">
                <a:solidFill>
                  <a:srgbClr val="8A5700"/>
                </a:solidFill>
                <a:latin typeface="Consolas"/>
              </a:rPr>
              <a:t>message/send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 alone is a useful agent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— that is all files 02 to 09 implement.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4078224"/>
          <a:ext cx="11185853" cy="2139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84118"/>
                <a:gridCol w="5134490"/>
                <a:gridCol w="2567245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Method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What it does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Needed?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message/send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send a message, get a Message or a Task back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100">
                          <a:solidFill>
                            <a:srgbClr val="151515"/>
                          </a:solidFill>
                          <a:latin typeface="Segoe UI"/>
                        </a:rPr>
                        <a:t>yes — this is the protocol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message/stream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same, but events arrive live over SSE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only if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streaming: true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tasks/get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look up a task you started earlier, by id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for long jobs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tasks/cancel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·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tasks/resubscribe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stop a running task · reattach to a dropped stream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for long jobs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tasks/pushNotificationConfig/*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set · get · list · delete your webhook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only if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pushNotifications: true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agent/getAuthenticatedExtendedCard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fetch the fuller card after logging in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optional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3 · TRANSPORT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When things go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35024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STANDARD JSON-RPC 2.0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09344"/>
          <a:ext cx="5410046" cy="1883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3739"/>
                <a:gridCol w="4126307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Code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Meaning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-32700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Parse error — that was not JSON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-32600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Invalid Request — not a JSON-RPC object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-32601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100">
                          <a:solidFill>
                            <a:srgbClr val="151515"/>
                          </a:solidFill>
                          <a:latin typeface="Segoe UI"/>
                        </a:rPr>
                        <a:t>Method not found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— the common one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-32602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Invalid params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-32603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Internal error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78727" y="1335024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A2A-SPECIFIC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78727" y="1609344"/>
          <a:ext cx="5410046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3739"/>
                <a:gridCol w="4126307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Code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Name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-32001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TaskNotFoundError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-32002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TaskNotCancelableError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-32003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PushNotificationNotSupportedError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-32004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UnsupportedOperationError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-32005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ContentTypeNotSupportedError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-32006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InvalidAgentResponseError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-32007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ExtendedAgentCardNotConfiguredError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-32008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ExtensionSupportRequiredError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-32009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VersionNotSupportedError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3639312"/>
            <a:ext cx="5410047" cy="1454638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02920" y="3639312"/>
            <a:ext cx="41148" cy="145463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758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02_greeting_agent.py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14216"/>
            <a:ext cx="5044287" cy="98829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# any method we do not implement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return {"jsonrpc": "2.0", "id": rpc.get("id"),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"error": {"code": -32601,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  "message":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    f"Method not found: {method}"}}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285232"/>
            <a:ext cx="5410047" cy="95097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0664" y="5431536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ERRORS ARE HOW DISCOVERY STAYS HONEST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715000"/>
            <a:ext cx="49528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00">
                <a:solidFill>
                  <a:srgbClr val="151515"/>
                </a:solidFill>
                <a:latin typeface="Segoe UI"/>
              </a:rPr>
              <a:t>A client that asks for something you did not declare gets a clean, numbered refusal instead of a 500.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5285232"/>
            <a:ext cx="5410047" cy="950976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16471" y="5431536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TRY IT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6471" y="5715000"/>
            <a:ext cx="49528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150">
                <a:solidFill>
                  <a:srgbClr val="8A5700"/>
                </a:solidFill>
                <a:latin typeface="Consolas"/>
              </a:rPr>
              <a:t>agent talks 2 / 02_one_agent_replies.py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sends </a:t>
            </a:r>
            <a:r>
              <a:rPr b="0" i="0" sz="1150">
                <a:solidFill>
                  <a:srgbClr val="8A5700"/>
                </a:solidFill>
                <a:latin typeface="Consolas"/>
              </a:rPr>
              <a:t>make/coffee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and prints </a:t>
            </a:r>
            <a:r>
              <a:rPr b="0" i="0" sz="1150">
                <a:solidFill>
                  <a:srgbClr val="8A5700"/>
                </a:solidFill>
                <a:latin typeface="Consolas"/>
              </a:rPr>
              <a:t>-32601: Method not found: make/coffee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3 ·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Tasks — work that has an id and a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5410047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1" i="0" sz="1300">
                <a:solidFill>
                  <a:srgbClr val="C27A00"/>
                </a:solidFill>
                <a:latin typeface="Segoe UI"/>
              </a:rPr>
              <a:t>—   </a:t>
            </a:r>
            <a:r>
              <a:rPr b="0" i="0" sz="1300">
                <a:solidFill>
                  <a:srgbClr val="151515"/>
                </a:solidFill>
                <a:latin typeface="Segoe UI"/>
              </a:rPr>
              <a:t>A Message is a turn of talk. A </a:t>
            </a:r>
            <a:r>
              <a:rPr b="1" i="0" sz="1300">
                <a:solidFill>
                  <a:srgbClr val="151515"/>
                </a:solidFill>
                <a:latin typeface="Segoe UI"/>
              </a:rPr>
              <a:t>Task is a job</a:t>
            </a:r>
            <a:r>
              <a:rPr b="0" i="0" sz="1300">
                <a:solidFill>
                  <a:srgbClr val="151515"/>
                </a:solidFill>
                <a:latin typeface="Segoe UI"/>
              </a:rPr>
              <a:t> — it can take minutes, pause to ask you something, fail, or be cancelled.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1" i="0" sz="1300">
                <a:solidFill>
                  <a:srgbClr val="C27A00"/>
                </a:solidFill>
                <a:latin typeface="Segoe UI"/>
              </a:rPr>
              <a:t>—   </a:t>
            </a:r>
            <a:r>
              <a:rPr b="0" i="0" sz="1300">
                <a:solidFill>
                  <a:srgbClr val="151515"/>
                </a:solidFill>
                <a:latin typeface="Segoe UI"/>
              </a:rPr>
              <a:t>The agent creates the task and owns its state. The client only watches.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1" i="0" sz="1300">
                <a:solidFill>
                  <a:srgbClr val="C27A00"/>
                </a:solidFill>
                <a:latin typeface="Segoe UI"/>
              </a:rPr>
              <a:t>—   </a:t>
            </a:r>
            <a:r>
              <a:rPr b="0" i="0" sz="1300">
                <a:solidFill>
                  <a:srgbClr val="151515"/>
                </a:solidFill>
                <a:latin typeface="Segoe UI"/>
              </a:rPr>
              <a:t>This is what makes A2A </a:t>
            </a:r>
            <a:r>
              <a:rPr b="1" i="0" sz="1300">
                <a:solidFill>
                  <a:srgbClr val="C27A00"/>
                </a:solidFill>
                <a:latin typeface="Segoe UI"/>
              </a:rPr>
              <a:t>async first</a:t>
            </a:r>
            <a:r>
              <a:rPr b="0" i="0" sz="1300">
                <a:solidFill>
                  <a:srgbClr val="151515"/>
                </a:solidFill>
                <a:latin typeface="Segoe UI"/>
              </a:rPr>
              <a:t>: you get an id immediately and the answer whenever it is ready.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1" i="0" sz="1300">
                <a:solidFill>
                  <a:srgbClr val="C27A00"/>
                </a:solidFill>
                <a:latin typeface="Segoe UI"/>
              </a:rPr>
              <a:t>—   </a:t>
            </a:r>
            <a:r>
              <a:rPr b="0" i="0" sz="1300">
                <a:solidFill>
                  <a:srgbClr val="151515"/>
                </a:solidFill>
                <a:latin typeface="Segoe UI"/>
              </a:rPr>
              <a:t>A simple agent may skip tasks and reply with a bare Message. Files 02–09 do exactly that; </a:t>
            </a:r>
            <a:r>
              <a:rPr b="0" i="0" sz="1250">
                <a:solidFill>
                  <a:srgbClr val="8A5700"/>
                </a:solidFill>
                <a:latin typeface="Consolas"/>
              </a:rPr>
              <a:t>agent talks 2</a:t>
            </a:r>
            <a:r>
              <a:rPr b="0" i="0" sz="1300">
                <a:solidFill>
                  <a:srgbClr val="151515"/>
                </a:solidFill>
                <a:latin typeface="Segoe UI"/>
              </a:rPr>
              <a:t> returns real Tasks.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703320"/>
            <a:ext cx="5410047" cy="2596701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02920" y="3703320"/>
            <a:ext cx="41148" cy="2596701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822191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a Task, the moment it is born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4078224"/>
            <a:ext cx="5044287" cy="2130357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task = {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"id":        "task-3f9a1c2b",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"contextId": "ctx-debate-1",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"status": {"state": "submitted",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"timestamp": "2026-08-08T..."},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"history":   [incoming_message],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"artifacts": [],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"kind":      "task",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}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# agent talks 2 / debate_agent.py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7" y="1353312"/>
          <a:ext cx="5410046" cy="2889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2218"/>
                <a:gridCol w="3667828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Field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What it holds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unique id for this job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contextId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the conversation it belongs to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status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state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+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timestamp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+ an optional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message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history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every Message exchanged for this task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artifacts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100">
                          <a:solidFill>
                            <a:srgbClr val="151515"/>
                          </a:solidFill>
                          <a:latin typeface="Segoe UI"/>
                        </a:rPr>
                        <a:t>the outputs the agent produced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metadata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anything extra you want to carry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kind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always the literal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"task"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278727" y="4242816"/>
            <a:ext cx="5410047" cy="1005840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16471" y="4389120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PART PEOPLE MISS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6471" y="4672583"/>
            <a:ext cx="4952847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00">
                <a:solidFill>
                  <a:srgbClr val="8A5700"/>
                </a:solidFill>
                <a:latin typeface="Consolas"/>
              </a:rPr>
              <a:t>message/send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does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not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hand back a string. It hands back a Task, and the answer is inside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task["artifacts"][0]["parts"][0]["text"]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5394960"/>
            <a:ext cx="5410047" cy="8412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16471" y="5541264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WHY AN ID AT ALL?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6471" y="5824728"/>
            <a:ext cx="4952847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So you can walk away.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tasks/get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lets a client that crashed, or a different client entirely, pick the job back up.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3 ·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The Task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1673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THE HAPPY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1664208"/>
            <a:ext cx="23317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300">
                <a:solidFill>
                  <a:srgbClr val="151515"/>
                </a:solidFill>
                <a:latin typeface="Segoe UI"/>
              </a:rPr>
              <a:t>submitted</a:t>
            </a:r>
          </a:p>
          <a:p>
            <a:pPr algn="ctr">
              <a:spcBef>
                <a:spcPts val="200"/>
              </a:spcBef>
            </a:pPr>
            <a:r>
              <a:rPr b="0" i="0" sz="1050">
                <a:solidFill>
                  <a:srgbClr val="5C5C5C"/>
                </a:solidFill>
                <a:latin typeface="Segoe UI"/>
              </a:rPr>
              <a:t>accepted, queued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13632" y="1874519"/>
            <a:ext cx="658368" cy="201168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754880" y="1664208"/>
            <a:ext cx="2331720" cy="621792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300">
                <a:solidFill>
                  <a:srgbClr val="151515"/>
                </a:solidFill>
                <a:latin typeface="Segoe UI"/>
              </a:rPr>
              <a:t>working</a:t>
            </a:r>
          </a:p>
          <a:p>
            <a:pPr algn="ctr">
              <a:spcBef>
                <a:spcPts val="200"/>
              </a:spcBef>
            </a:pPr>
            <a:r>
              <a:rPr b="0" i="0" sz="1050">
                <a:solidFill>
                  <a:srgbClr val="5C5C5C"/>
                </a:solidFill>
                <a:latin typeface="Segoe UI"/>
              </a:rPr>
              <a:t>the agent is on it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51192" y="1874519"/>
            <a:ext cx="658368" cy="201168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92440" y="1664208"/>
            <a:ext cx="2331720" cy="621792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300">
                <a:solidFill>
                  <a:srgbClr val="FFFFFF"/>
                </a:solidFill>
                <a:latin typeface="Segoe UI"/>
              </a:rPr>
              <a:t>completed</a:t>
            </a:r>
          </a:p>
          <a:p>
            <a:pPr algn="ctr">
              <a:spcBef>
                <a:spcPts val="200"/>
              </a:spcBef>
            </a:pPr>
            <a:r>
              <a:rPr b="0" i="0" sz="1050">
                <a:solidFill>
                  <a:srgbClr val="5C5C5C"/>
                </a:solidFill>
                <a:latin typeface="Segoe UI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70048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PAUSED  —  NOT TERMINAL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62656"/>
            <a:ext cx="2567863" cy="56692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00">
                <a:solidFill>
                  <a:srgbClr val="151515"/>
                </a:solidFill>
                <a:latin typeface="Segoe UI"/>
              </a:rPr>
              <a:t>input-required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5103" y="2962656"/>
            <a:ext cx="2567863" cy="56692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00">
                <a:solidFill>
                  <a:srgbClr val="151515"/>
                </a:solidFill>
                <a:latin typeface="Segoe UI"/>
              </a:rPr>
              <a:t>auth-required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39312"/>
            <a:ext cx="5410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150">
                <a:solidFill>
                  <a:srgbClr val="5C5C5C"/>
                </a:solidFill>
                <a:latin typeface="Segoe UI"/>
              </a:rPr>
              <a:t>the agent needs something from you. Reply with the same </a:t>
            </a:r>
            <a:r>
              <a:rPr b="0" i="0" sz="1100">
                <a:solidFill>
                  <a:srgbClr val="8A5700"/>
                </a:solidFill>
                <a:latin typeface="Consolas"/>
              </a:rPr>
              <a:t>taskId</a:t>
            </a:r>
            <a:r>
              <a:rPr b="0" i="0" sz="1150">
                <a:solidFill>
                  <a:srgbClr val="5C5C5C"/>
                </a:solidFill>
                <a:latin typeface="Segoe UI"/>
              </a:rPr>
              <a:t> and it goes back to </a:t>
            </a:r>
            <a:r>
              <a:rPr b="0" i="0" sz="1100">
                <a:solidFill>
                  <a:srgbClr val="8A5700"/>
                </a:solidFill>
                <a:latin typeface="Consolas"/>
              </a:rPr>
              <a:t>working</a:t>
            </a:r>
            <a:r>
              <a:rPr b="0" i="0" sz="1150">
                <a:solidFill>
                  <a:srgbClr val="5C5C5C"/>
                </a:solidFill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2670048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THE OTHER ENDINGS  —  TERMINAL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2962656"/>
            <a:ext cx="1711909" cy="566928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00">
                <a:solidFill>
                  <a:srgbClr val="FFFFFF"/>
                </a:solidFill>
                <a:latin typeface="Segoe UI"/>
              </a:rPr>
              <a:t>failed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7796" y="2962656"/>
            <a:ext cx="1711909" cy="566928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00">
                <a:solidFill>
                  <a:srgbClr val="FFFFFF"/>
                </a:solidFill>
                <a:latin typeface="Segoe UI"/>
              </a:rPr>
              <a:t>canceled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76866" y="2962656"/>
            <a:ext cx="1711909" cy="566928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00">
                <a:solidFill>
                  <a:srgbClr val="FFFFFF"/>
                </a:solidFill>
                <a:latin typeface="Segoe UI"/>
              </a:rPr>
              <a:t>rejected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3639312"/>
            <a:ext cx="5410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150">
                <a:solidFill>
                  <a:srgbClr val="5C5C5C"/>
                </a:solidFill>
                <a:latin typeface="Segoe UI"/>
              </a:rPr>
              <a:t>the agent broke · you called </a:t>
            </a:r>
            <a:r>
              <a:rPr b="0" i="0" sz="1100">
                <a:solidFill>
                  <a:srgbClr val="8A5700"/>
                </a:solidFill>
                <a:latin typeface="Consolas"/>
              </a:rPr>
              <a:t>tasks/cancel</a:t>
            </a:r>
            <a:r>
              <a:rPr b="0" i="0" sz="1150">
                <a:solidFill>
                  <a:srgbClr val="5C5C5C"/>
                </a:solidFill>
                <a:latin typeface="Segoe UI"/>
              </a:rPr>
              <a:t> · the agent refused the work outright.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224528"/>
            <a:ext cx="11185855" cy="10972"/>
          </a:xfrm>
          <a:prstGeom prst="rect">
            <a:avLst/>
          </a:prstGeom>
          <a:solidFill>
            <a:srgbClr val="DFD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4407408"/>
            <a:ext cx="5410047" cy="960120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0664" y="4553712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TERMINAL MEANS TERMINAL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" y="4837176"/>
            <a:ext cx="495284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00">
                <a:solidFill>
                  <a:srgbClr val="8A5700"/>
                </a:solidFill>
                <a:latin typeface="Consolas"/>
              </a:rPr>
              <a:t>completed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·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canceled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·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failed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·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rejected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end the task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forever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. A task can never restart. That is what makes its artifacts trustworthy.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4407408"/>
            <a:ext cx="5410047" cy="9601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16471" y="4553712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SO HOW DO YOU REFINE AN ANSWER?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6471" y="4837176"/>
            <a:ext cx="495284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You start a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new task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in the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same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contextId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, and point at the old one with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referenceTaskIds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504688"/>
            <a:ext cx="11185855" cy="74980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0664" y="565099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NINTH 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" y="5934455"/>
            <a:ext cx="10728655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There is also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unknown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— an indeterminate state. You should never emit it; you handle it defensively when reading someone else's task.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3 ·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Artifacts — the thing the agent actually made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35024"/>
            <a:ext cx="111858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0" i="0" sz="1320">
                <a:solidFill>
                  <a:srgbClr val="151515"/>
                </a:solidFill>
                <a:latin typeface="Segoe UI"/>
              </a:rPr>
              <a:t>A Message is what an agent </a:t>
            </a:r>
            <a:r>
              <a:rPr b="1" i="0" sz="1320">
                <a:solidFill>
                  <a:srgbClr val="151515"/>
                </a:solidFill>
                <a:latin typeface="Segoe UI"/>
              </a:rPr>
              <a:t>said</a:t>
            </a:r>
            <a:r>
              <a:rPr b="0" i="0" sz="1320">
                <a:solidFill>
                  <a:srgbClr val="151515"/>
                </a:solidFill>
                <a:latin typeface="Segoe UI"/>
              </a:rPr>
              <a:t>. An Artifact is what it </a:t>
            </a:r>
            <a:r>
              <a:rPr b="1" i="0" sz="1320">
                <a:solidFill>
                  <a:srgbClr val="151515"/>
                </a:solidFill>
                <a:latin typeface="Segoe UI"/>
              </a:rPr>
              <a:t>produced</a:t>
            </a:r>
            <a:r>
              <a:rPr b="0" i="0" sz="1320">
                <a:solidFill>
                  <a:srgbClr val="151515"/>
                </a:solidFill>
                <a:latin typeface="Segoe UI"/>
              </a:rPr>
              <a:t> — the report, the image, the converted file, the argument. Artifacts hang off the Task, not off the conversation.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5410047" cy="530352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50">
                <a:solidFill>
                  <a:srgbClr val="151515"/>
                </a:solidFill>
                <a:latin typeface="Segoe UI"/>
              </a:rPr>
              <a:t>Task</a:t>
            </a:r>
          </a:p>
        </p:txBody>
      </p:sp>
      <p:sp>
        <p:nvSpPr>
          <p:cNvPr id="9" name="Down Arrow 8"/>
          <p:cNvSpPr/>
          <p:nvPr/>
        </p:nvSpPr>
        <p:spPr>
          <a:xfrm>
            <a:off x="914400" y="2487168"/>
            <a:ext cx="164592" cy="237744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22960" y="2761488"/>
            <a:ext cx="5090007" cy="530352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8A5700"/>
                </a:solidFill>
                <a:latin typeface="Consolas"/>
              </a:rPr>
              <a:t>artifacts</a:t>
            </a:r>
            <a:r>
              <a:rPr b="1" i="0" sz="1200">
                <a:solidFill>
                  <a:srgbClr val="151515"/>
                </a:solidFill>
                <a:latin typeface="Segoe UI"/>
              </a:rPr>
              <a:t>  — a list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234440" y="3328416"/>
            <a:ext cx="164592" cy="237744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143000" y="3602736"/>
            <a:ext cx="4769967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Artifact — </a:t>
            </a:r>
            <a:r>
              <a:rPr b="1" i="0" sz="1100">
                <a:solidFill>
                  <a:srgbClr val="8A5700"/>
                </a:solidFill>
                <a:latin typeface="Consolas"/>
              </a:rPr>
              <a:t>artifactId</a:t>
            </a:r>
            <a:r>
              <a:rPr b="1" i="0" sz="1150">
                <a:solidFill>
                  <a:srgbClr val="151515"/>
                </a:solidFill>
                <a:latin typeface="Segoe UI"/>
              </a:rPr>
              <a:t> · </a:t>
            </a:r>
            <a:r>
              <a:rPr b="1" i="0" sz="1100">
                <a:solidFill>
                  <a:srgbClr val="8A5700"/>
                </a:solidFill>
                <a:latin typeface="Consolas"/>
              </a:rPr>
              <a:t>name</a:t>
            </a:r>
            <a:r>
              <a:rPr b="1" i="0" sz="1150">
                <a:solidFill>
                  <a:srgbClr val="151515"/>
                </a:solidFill>
                <a:latin typeface="Segoe UI"/>
              </a:rPr>
              <a:t> · </a:t>
            </a:r>
            <a:r>
              <a:rPr b="1" i="0" sz="1100">
                <a:solidFill>
                  <a:srgbClr val="8A5700"/>
                </a:solidFill>
                <a:latin typeface="Consolas"/>
              </a:rPr>
              <a:t>parts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554480" y="4169663"/>
            <a:ext cx="164592" cy="237744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463040" y="4443984"/>
            <a:ext cx="4449927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8A5700"/>
                </a:solidFill>
                <a:latin typeface="Consolas"/>
              </a:rPr>
              <a:t>{"kind": "text", "text": ...}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1920240"/>
            <a:ext cx="5410047" cy="2859557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78727" y="1920240"/>
            <a:ext cx="41148" cy="2859557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9895" y="2039112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agent talks 2 / debate_agent.py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9895" y="2295144"/>
            <a:ext cx="5044287" cy="239321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929292"/>
                </a:solidFill>
                <a:latin typeface="Consolas"/>
              </a:rPr>
              <a:t># working -&gt; completed, with the result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929292"/>
                </a:solidFill>
                <a:latin typeface="Consolas"/>
              </a:rPr>
              <a:t># carried as an ARTIFACT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task["artifacts"] = [{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"artifactId": _id("artifact"),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"name": "argument",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"parts": [{"kind": "text",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           "text": reply_text}],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}]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task["status"] = {"state": "completed",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              "timestamp": _now()}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def task_text(task):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return task["artifacts"][0]["parts"][0]["text"]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138928"/>
            <a:ext cx="5410047" cy="10972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0664" y="5285232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MESSAGE OR ARTIFACT?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5568696"/>
            <a:ext cx="4952847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If a human would call it </a:t>
            </a:r>
            <a:r>
              <a:rPr b="0" i="1" sz="1250">
                <a:solidFill>
                  <a:srgbClr val="151515"/>
                </a:solidFill>
                <a:latin typeface="Segoe UI"/>
              </a:rPr>
              <a:t>"the deliverable"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, it is an Artifact. If it is </a:t>
            </a:r>
            <a:r>
              <a:rPr b="0" i="1" sz="1250">
                <a:solidFill>
                  <a:srgbClr val="151515"/>
                </a:solidFill>
                <a:latin typeface="Segoe UI"/>
              </a:rPr>
              <a:t>"what it said back"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, it is a Message. Chatty agents produce only Messages; working agents produce both.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5138928"/>
            <a:ext cx="5410047" cy="1097280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16471" y="5285232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A TASK CAN PRODUCE MANY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6471" y="5568696"/>
            <a:ext cx="4952847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00">
                <a:solidFill>
                  <a:srgbClr val="8A5700"/>
                </a:solidFill>
                <a:latin typeface="Consolas"/>
              </a:rPr>
              <a:t>artifacts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is a list because one job can yield a chart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and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a CSV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and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a summary. Each artifact has its own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name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so the client can tell them apart.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4 · THE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The A2A Communication Flow,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39" y="1353312"/>
            <a:ext cx="2651760" cy="530352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50">
                <a:solidFill>
                  <a:srgbClr val="151515"/>
                </a:solidFill>
                <a:latin typeface="Segoe UI"/>
              </a:rPr>
              <a:t>A2A Client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53312"/>
            <a:ext cx="2651760" cy="530352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50">
                <a:solidFill>
                  <a:srgbClr val="151515"/>
                </a:solidFill>
                <a:latin typeface="Segoe UI"/>
              </a:rPr>
              <a:t>Remote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883664"/>
            <a:ext cx="10972" cy="3611880"/>
          </a:xfrm>
          <a:prstGeom prst="rect">
            <a:avLst/>
          </a:prstGeom>
          <a:solidFill>
            <a:srgbClr val="DFD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81160" y="1883664"/>
            <a:ext cx="10972" cy="3611880"/>
          </a:xfrm>
          <a:prstGeom prst="rect">
            <a:avLst/>
          </a:prstGeom>
          <a:solidFill>
            <a:srgbClr val="DFD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121408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39" y="1938528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100">
                <a:solidFill>
                  <a:srgbClr val="8A5700"/>
                </a:solidFill>
                <a:latin typeface="Consolas"/>
              </a:rPr>
              <a:t>GET /.well-known/agent-card.json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359151" y="2212848"/>
            <a:ext cx="6894576" cy="164592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377439" y="238658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000">
                <a:solidFill>
                  <a:srgbClr val="5C5C5C"/>
                </a:solidFill>
                <a:latin typeface="Segoe UI"/>
              </a:rPr>
              <a:t>discovery — one fixed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34640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39" y="2651760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150">
                <a:solidFill>
                  <a:srgbClr val="151515"/>
                </a:solidFill>
                <a:latin typeface="Segoe UI"/>
              </a:rPr>
              <a:t>the </a:t>
            </a:r>
            <a:r>
              <a:rPr b="1" i="0" sz="1150">
                <a:solidFill>
                  <a:srgbClr val="151515"/>
                </a:solidFill>
                <a:latin typeface="Segoe UI"/>
              </a:rPr>
              <a:t>Agent Card</a:t>
            </a:r>
            <a:r>
              <a:rPr b="0" i="0" sz="1150">
                <a:solidFill>
                  <a:srgbClr val="151515"/>
                </a:solidFill>
                <a:latin typeface="Segoe UI"/>
              </a:rPr>
              <a:t>  —  </a:t>
            </a:r>
            <a:r>
              <a:rPr b="0" i="0" sz="1100">
                <a:solidFill>
                  <a:srgbClr val="8A5700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151515"/>
                </a:solidFill>
                <a:latin typeface="Segoe UI"/>
              </a:rPr>
              <a:t> · </a:t>
            </a:r>
            <a:r>
              <a:rPr b="0" i="0" sz="1100">
                <a:solidFill>
                  <a:srgbClr val="8A5700"/>
                </a:solidFill>
                <a:latin typeface="Consolas"/>
              </a:rPr>
              <a:t>url</a:t>
            </a:r>
            <a:r>
              <a:rPr b="0" i="0" sz="1150">
                <a:solidFill>
                  <a:srgbClr val="151515"/>
                </a:solidFill>
                <a:latin typeface="Segoe UI"/>
              </a:rPr>
              <a:t> · </a:t>
            </a:r>
            <a:r>
              <a:rPr b="0" i="0" sz="1100">
                <a:solidFill>
                  <a:srgbClr val="8A5700"/>
                </a:solidFill>
                <a:latin typeface="Consolas"/>
              </a:rPr>
              <a:t>skills</a:t>
            </a:r>
            <a:r>
              <a:rPr b="0" i="0" sz="1150">
                <a:solidFill>
                  <a:srgbClr val="151515"/>
                </a:solidFill>
                <a:latin typeface="Segoe UI"/>
              </a:rPr>
              <a:t> · </a:t>
            </a:r>
            <a:r>
              <a:rPr b="0" i="0" sz="1100">
                <a:solidFill>
                  <a:srgbClr val="8A5700"/>
                </a:solidFill>
                <a:latin typeface="Consolas"/>
              </a:rPr>
              <a:t>capabilities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2359151" y="2926080"/>
            <a:ext cx="6894576" cy="164592"/>
          </a:xfrm>
          <a:prstGeom prst="lef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377439" y="3099816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000">
                <a:solidFill>
                  <a:srgbClr val="5C5C5C"/>
                </a:solidFill>
                <a:latin typeface="Segoe UI"/>
              </a:rPr>
              <a:t>now the client knows what it can ask for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47872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39" y="3511296"/>
            <a:ext cx="265176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pick_agent()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49300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150">
                <a:solidFill>
                  <a:srgbClr val="151515"/>
                </a:solidFill>
                <a:latin typeface="Segoe UI"/>
              </a:rPr>
              <a:t>match the question against every </a:t>
            </a:r>
            <a:r>
              <a:rPr b="0" i="0" sz="1100">
                <a:solidFill>
                  <a:srgbClr val="8A5700"/>
                </a:solidFill>
                <a:latin typeface="Consolas"/>
              </a:rPr>
              <a:t>skill["tags"]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7307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000">
                <a:solidFill>
                  <a:srgbClr val="5C5C5C"/>
                </a:solidFill>
                <a:latin typeface="Segoe UI"/>
              </a:rPr>
              <a:t>the client decides WHO, before it sends anything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61104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39" y="407822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100">
                <a:solidFill>
                  <a:srgbClr val="8A5700"/>
                </a:solidFill>
                <a:latin typeface="Consolas"/>
              </a:rPr>
              <a:t>POST /</a:t>
            </a:r>
            <a:r>
              <a:rPr b="0" i="0" sz="1150">
                <a:solidFill>
                  <a:srgbClr val="151515"/>
                </a:solidFill>
                <a:latin typeface="Segoe UI"/>
              </a:rPr>
              <a:t>   </a:t>
            </a:r>
            <a:r>
              <a:rPr b="0" i="0" sz="1100">
                <a:solidFill>
                  <a:srgbClr val="8A5700"/>
                </a:solidFill>
                <a:latin typeface="Consolas"/>
              </a:rPr>
              <a:t>{"method": "message/send", "params": {"message": ...}}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359151" y="4352544"/>
            <a:ext cx="6894576" cy="164592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377439" y="4526280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000">
                <a:solidFill>
                  <a:srgbClr val="5C5C5C"/>
                </a:solidFill>
                <a:latin typeface="Segoe UI"/>
              </a:rPr>
              <a:t>delegation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74336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39" y="4791456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100">
                <a:solidFill>
                  <a:srgbClr val="8A5700"/>
                </a:solidFill>
                <a:latin typeface="Consolas"/>
              </a:rPr>
              <a:t>{"result": ...}</a:t>
            </a:r>
            <a:r>
              <a:rPr b="0" i="0" sz="1150">
                <a:solidFill>
                  <a:srgbClr val="151515"/>
                </a:solidFill>
                <a:latin typeface="Segoe UI"/>
              </a:rPr>
              <a:t>  —  a </a:t>
            </a:r>
            <a:r>
              <a:rPr b="1" i="0" sz="1150">
                <a:solidFill>
                  <a:srgbClr val="151515"/>
                </a:solidFill>
                <a:latin typeface="Segoe UI"/>
              </a:rPr>
              <a:t>Message</a:t>
            </a:r>
            <a:r>
              <a:rPr b="0" i="0" sz="1150">
                <a:solidFill>
                  <a:srgbClr val="151515"/>
                </a:solidFill>
                <a:latin typeface="Segoe UI"/>
              </a:rPr>
              <a:t>, or a </a:t>
            </a:r>
            <a:r>
              <a:rPr b="1" i="0" sz="1150">
                <a:solidFill>
                  <a:srgbClr val="151515"/>
                </a:solidFill>
                <a:latin typeface="Segoe UI"/>
              </a:rPr>
              <a:t>Task</a:t>
            </a:r>
            <a:r>
              <a:rPr b="0" i="0" sz="1150">
                <a:solidFill>
                  <a:srgbClr val="151515"/>
                </a:solidFill>
                <a:latin typeface="Segoe UI"/>
              </a:rPr>
              <a:t> with artifacts</a:t>
            </a:r>
          </a:p>
        </p:txBody>
      </p:sp>
      <p:sp>
        <p:nvSpPr>
          <p:cNvPr id="29" name="Left Arrow 28"/>
          <p:cNvSpPr/>
          <p:nvPr/>
        </p:nvSpPr>
        <p:spPr>
          <a:xfrm>
            <a:off x="2359151" y="5065776"/>
            <a:ext cx="6894576" cy="164592"/>
          </a:xfrm>
          <a:prstGeom prst="lef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377439" y="5239512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000">
                <a:solidFill>
                  <a:srgbClr val="5C5C5C"/>
                </a:solidFill>
                <a:latin typeface="Segoe UI"/>
              </a:rPr>
              <a:t>read </a:t>
            </a:r>
            <a:r>
              <a:rPr b="0" i="0" sz="950">
                <a:solidFill>
                  <a:srgbClr val="8A5700"/>
                </a:solidFill>
                <a:latin typeface="Consolas"/>
              </a:rPr>
              <a:t>parts[0]["text"]</a:t>
            </a:r>
            <a:r>
              <a:rPr b="0" i="0" sz="1000">
                <a:solidFill>
                  <a:srgbClr val="5C5C5C"/>
                </a:solidFill>
                <a:latin typeface="Segoe UI"/>
              </a:rPr>
              <a:t>, or </a:t>
            </a:r>
            <a:r>
              <a:rPr b="0" i="0" sz="950">
                <a:solidFill>
                  <a:srgbClr val="8A5700"/>
                </a:solidFill>
                <a:latin typeface="Consolas"/>
              </a:rPr>
              <a:t>artifacts[0]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577840"/>
            <a:ext cx="11185855" cy="65836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0664" y="5724144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WHOLE PROTOCOL, IN ONE BREATH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" y="6007607"/>
            <a:ext cx="10728655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1" i="0" sz="1300">
                <a:solidFill>
                  <a:srgbClr val="C27A00"/>
                </a:solidFill>
                <a:latin typeface="Segoe UI"/>
              </a:rPr>
              <a:t>publish a card  →  discover it  →  </a:t>
            </a:r>
            <a:r>
              <a:rPr b="1" i="0" sz="1250">
                <a:solidFill>
                  <a:srgbClr val="8A5700"/>
                </a:solidFill>
                <a:latin typeface="Consolas"/>
              </a:rPr>
              <a:t>message/send</a:t>
            </a:r>
            <a:r>
              <a:rPr b="1" i="0" sz="1300">
                <a:solidFill>
                  <a:srgbClr val="C27A00"/>
                </a:solidFill>
                <a:latin typeface="Segoe UI"/>
              </a:rPr>
              <a:t>  →  read the reply.</a:t>
            </a:r>
            <a:r>
              <a:rPr b="0" i="0" sz="1300">
                <a:solidFill>
                  <a:srgbClr val="151515"/>
                </a:solidFill>
                <a:latin typeface="Segoe UI"/>
              </a:rPr>
              <a:t>   Everything else is built on that loop.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5 · THE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The eleven files, and how to run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35024"/>
          <a:ext cx="6629400" cy="38999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2743200"/>
                <a:gridCol w="3429000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File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What it teaches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01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01_what_is_an_agent_card.py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The Agent Card — an agent's résumé (no server)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02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02_greeting_agent.py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An A2A </a:t>
                      </a: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server</a:t>
                      </a: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 by hand — card + </a:t>
                      </a: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message/send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03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03_greeting_client.py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An A2A </a:t>
                      </a: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client</a:t>
                      </a: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 — discover → send → read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04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04_weather_agent.py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A </a:t>
                      </a: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specialist</a:t>
                      </a: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 agent (weather, mock data)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05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05_currency_agent.py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A </a:t>
                      </a: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specialist</a:t>
                      </a: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 agent (currency, mock data)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06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06_orchestrator.py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⭐ Discovers both and </a:t>
                      </a: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delegates</a:t>
                      </a: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 to the right one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07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07_llm_weather_agent.py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Same weather agent, now with a </a:t>
                      </a: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Groq LLM</a:t>
                      </a: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 brain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08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08_llm_currency_agent.py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Same currency agent, with an LLM brain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09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09_llm_orchestrator.py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The </a:t>
                      </a: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router itself</a:t>
                      </a: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 becomes an LLM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10_sdk_agent.py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The same agent with the official </a:t>
                      </a:r>
                      <a:r>
                        <a:rPr b="1" i="0" sz="1000">
                          <a:solidFill>
                            <a:srgbClr val="8A5700"/>
                          </a:solidFill>
                          <a:latin typeface="Consolas"/>
                        </a:rPr>
                        <a:t>a2a-sdk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00">
                          <a:solidFill>
                            <a:srgbClr val="8A5700"/>
                          </a:solidFill>
                          <a:latin typeface="Consolas"/>
                        </a:rPr>
                        <a:t>11_sdk_client.py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151515"/>
                          </a:solidFill>
                          <a:latin typeface="Segoe UI"/>
                        </a:rPr>
                        <a:t>The SDK </a:t>
                      </a: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client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52360" y="1335024"/>
            <a:ext cx="4236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EVERY AGENT IS A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645920"/>
            <a:ext cx="4236415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Terminal 1</a:t>
            </a:r>
          </a:p>
          <a:p>
            <a:pPr algn="ctr">
              <a:spcBef>
                <a:spcPts val="200"/>
              </a:spcBef>
            </a:pPr>
            <a:r>
              <a:rPr b="0" i="0" sz="900">
                <a:solidFill>
                  <a:srgbClr val="5C5C5C"/>
                </a:solidFill>
                <a:latin typeface="Segoe UI"/>
              </a:rPr>
              <a:t>python 04_weather_agent.py   · 8002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2377440"/>
            <a:ext cx="4236415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Terminal 2</a:t>
            </a:r>
          </a:p>
          <a:p>
            <a:pPr algn="ctr">
              <a:spcBef>
                <a:spcPts val="200"/>
              </a:spcBef>
            </a:pPr>
            <a:r>
              <a:rPr b="0" i="0" sz="900">
                <a:solidFill>
                  <a:srgbClr val="5C5C5C"/>
                </a:solidFill>
                <a:latin typeface="Segoe UI"/>
              </a:rPr>
              <a:t>python 05_currency_agent.py  · 8003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108960"/>
            <a:ext cx="4236415" cy="603504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Terminal 3</a:t>
            </a:r>
          </a:p>
          <a:p>
            <a:pPr algn="ctr">
              <a:spcBef>
                <a:spcPts val="200"/>
              </a:spcBef>
            </a:pPr>
            <a:r>
              <a:rPr b="0" i="0" sz="900">
                <a:solidFill>
                  <a:srgbClr val="5C5C5C"/>
                </a:solidFill>
                <a:latin typeface="Segoe UI"/>
              </a:rPr>
              <a:t>python 06_orchestrator.py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452360" y="3913632"/>
          <a:ext cx="4236414" cy="1572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0959"/>
                <a:gridCol w="3315455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Port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Who lives there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8001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greeting agent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8002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weather agent (04 </a:t>
                      </a:r>
                      <a:r>
                        <a:rPr b="1" i="0" sz="1100">
                          <a:solidFill>
                            <a:srgbClr val="151515"/>
                          </a:solidFill>
                          <a:latin typeface="Segoe UI"/>
                        </a:rPr>
                        <a:t>or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07)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8003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currency agent (05 </a:t>
                      </a:r>
                      <a:r>
                        <a:rPr b="1" i="0" sz="1100">
                          <a:solidFill>
                            <a:srgbClr val="151515"/>
                          </a:solidFill>
                          <a:latin typeface="Segoe UI"/>
                        </a:rPr>
                        <a:t>or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08)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9999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the SDK agent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452360" y="5577840"/>
            <a:ext cx="4236415" cy="676656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90104" y="5724144"/>
            <a:ext cx="3779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BEFORE 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0104" y="6007607"/>
            <a:ext cx="3779215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100">
                <a:solidFill>
                  <a:srgbClr val="8A5700"/>
                </a:solidFill>
                <a:latin typeface="Consolas"/>
              </a:rPr>
              <a:t>pip install -r requirements.txt</a:t>
            </a:r>
            <a:r>
              <a:rPr b="0" i="0" sz="1150">
                <a:solidFill>
                  <a:srgbClr val="151515"/>
                </a:solidFill>
                <a:latin typeface="Segoe UI"/>
              </a:rPr>
              <a:t>, and pin </a:t>
            </a:r>
            <a:r>
              <a:rPr b="1" i="0" sz="1100">
                <a:solidFill>
                  <a:srgbClr val="8A5700"/>
                </a:solidFill>
                <a:latin typeface="Consolas"/>
              </a:rPr>
              <a:t>a2a-sdk==1.1.1</a:t>
            </a:r>
            <a:r>
              <a:rPr b="0" i="0" sz="1150">
                <a:solidFill>
                  <a:srgbClr val="151515"/>
                </a:solidFill>
                <a:latin typeface="Segoe UI"/>
              </a:rPr>
              <a:t> — files 10 and 11 need it. A Groq key is optional; 07–09 fall back to mock.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5 · FILE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An A2A server, built by hand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35024"/>
            <a:ext cx="111858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0" i="0" sz="1320">
                <a:solidFill>
                  <a:srgbClr val="151515"/>
                </a:solidFill>
                <a:latin typeface="Segoe UI"/>
              </a:rPr>
              <a:t>An A2A agent is not a special kind of program. It is a normal web server that keeps </a:t>
            </a:r>
            <a:r>
              <a:rPr b="1" i="0" sz="1320">
                <a:solidFill>
                  <a:srgbClr val="C27A00"/>
                </a:solidFill>
                <a:latin typeface="Segoe UI"/>
              </a:rPr>
              <a:t>exactly two promises</a:t>
            </a:r>
            <a:r>
              <a:rPr b="0" i="0" sz="1320">
                <a:solidFill>
                  <a:srgbClr val="151515"/>
                </a:solidFill>
                <a:latin typeface="Segoe UI"/>
              </a:rPr>
              <a:t> — and you can see both of them on this slide.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83664"/>
            <a:ext cx="5410047" cy="354842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02920" y="1883664"/>
            <a:ext cx="41148" cy="3548420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002536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02_greeting_agent.py   ·   port 8001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258568"/>
            <a:ext cx="5044287" cy="308207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app = FastAPI()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# PROMISE 1 — publish the card at the fixed path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@app.get("/.well-known/agent-card.json")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def get_agent_card():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return AGENT_CARD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# PROMISE 2 — answer message/send at "/"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@app.post("/")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async def handle_rpc(request: Request):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rpc = await request.json()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method = rpc.get("method")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if method == "message/send":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user_text = rpc["params"]["message"] \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       ["parts"][0]["text"]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reply_text = f"Hello, {user_text}!"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1883664"/>
            <a:ext cx="5410047" cy="3358076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78727" y="1883664"/>
            <a:ext cx="41148" cy="3358076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9895" y="2002536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…the reply, and the error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9895" y="2258568"/>
            <a:ext cx="5044287" cy="28917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agent_message = {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"role": "agent",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"parts": [{"kind": "text",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       "text": reply_text}],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"messageId": "greeting-reply-1"}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return {"jsonrpc": "2.0",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"id": rpc.get("id"),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"result": agent_message}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    # anything else -&gt; a JSON-RPC error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return {"jsonrpc": "2.0", "id": rpc.get("id"),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"error": {"code": -32601, "message":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      f"Method not found: {method}"}}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uvicorn.run(app, host="127.0.0.1", port=8001)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468112"/>
            <a:ext cx="11185855" cy="76809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0664" y="5614416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CHECKPOINT QUESTION FOR THE ROOM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5897880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1" sz="1250">
                <a:solidFill>
                  <a:srgbClr val="151515"/>
                </a:solidFill>
                <a:latin typeface="Segoe UI"/>
              </a:rPr>
              <a:t>"What are the only two things this server had to do to be a valid A2A agent?"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  → 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serve a card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, and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answer </a:t>
            </a:r>
            <a:r>
              <a:rPr b="1" i="0" sz="1200">
                <a:solidFill>
                  <a:srgbClr val="8A5700"/>
                </a:solidFill>
                <a:latin typeface="Consolas"/>
              </a:rPr>
              <a:t>message/send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5 · FILE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An A2A client, built by hand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4475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4475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300">
                <a:solidFill>
                  <a:srgbClr val="151515"/>
                </a:solidFill>
                <a:latin typeface="Segoe UI"/>
              </a:rP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00784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050">
                <a:solidFill>
                  <a:srgbClr val="5C5C5C"/>
                </a:solidFill>
                <a:latin typeface="Segoe UI"/>
              </a:rPr>
              <a:t>read the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1538" y="144475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4458" y="144475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300">
                <a:solidFill>
                  <a:srgbClr val="151515"/>
                </a:solidFill>
                <a:latin typeface="Segoe UI"/>
              </a:rPr>
              <a:t>SEND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4458" y="1700784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050">
                <a:solidFill>
                  <a:srgbClr val="5C5C5C"/>
                </a:solidFill>
                <a:latin typeface="Segoe UI"/>
              </a:rPr>
              <a:t>POST message/send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60156" y="144475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3076" y="144475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300">
                <a:solidFill>
                  <a:srgbClr val="151515"/>
                </a:solidFill>
                <a:latin typeface="Segoe UI"/>
              </a:rPr>
              <a:t>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3076" y="1700784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sz="1050">
                <a:solidFill>
                  <a:srgbClr val="5C5C5C"/>
                </a:solidFill>
                <a:latin typeface="Segoe UI"/>
              </a:rPr>
              <a:t>pull the text 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084831"/>
            <a:ext cx="5410047" cy="3929108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02920" y="2084831"/>
            <a:ext cx="41148" cy="392910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203703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03_greeting_client.py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459735"/>
            <a:ext cx="5044287" cy="34627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# 1) DISCOVER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card = requests.get(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f"{AGENT_BASE}/.well-known/agent-card.json"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).json()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print("   can do:",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[s["name"] for s in card["skills"]])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# 2) SEND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rpc_request = {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"jsonrpc": "2.0",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"id": 1,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"method": "message/send",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"params": {"message": {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"role": "user",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"parts": [{"kind": "text",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   "text": "Sara"}],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"messageId": uuid.uuid4().hex,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}},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2084831"/>
            <a:ext cx="5410047" cy="1835326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278727" y="2084831"/>
            <a:ext cx="41148" cy="1835326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895" y="2203703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…send it, and dig the answer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895" y="2459735"/>
            <a:ext cx="5044287" cy="136898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}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response = requests.post(card["url"],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         json=rpc_request).json()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# 3) READ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reply_text = response["result"]["parts"][0]["text"]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print("Agent replied:", reply_text)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727" y="3986784"/>
            <a:ext cx="5410047" cy="10972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16471" y="4133088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NOTICE WHAT IS NOT 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6471" y="4416552"/>
            <a:ext cx="4952847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No SDK. No client library. No schema. Just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requests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and a dictionary — because A2A is </a:t>
            </a:r>
            <a:r>
              <a:rPr b="0" i="1" sz="1250">
                <a:solidFill>
                  <a:srgbClr val="151515"/>
                </a:solidFill>
                <a:latin typeface="Segoe UI"/>
              </a:rPr>
              <a:t>JSON over HTTP you already know how to speak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8727" y="5230368"/>
            <a:ext cx="5410047" cy="1005840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16471" y="5376672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TRACE IT LIVE IN 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6471" y="5660136"/>
            <a:ext cx="4952847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Follow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"Sara"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from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parts[0]["text"]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on the way out to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"Hello, Sara!"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on the way back, and match it to the card's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greet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skill.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5 · FILES 04 + 05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Two specialists that know nothing about each other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5410047" cy="2787045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41148" cy="2787045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04_weather_agent.py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728216"/>
            <a:ext cx="5044287" cy="232070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FAKE_WEATHER = {"karachi": "34 C, sunny",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"london":  "18 C, rainy",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"tokyo":   "25 C, cloudy"}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def look_up_weather(text: str) -&gt; str: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text = text.lower()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for city, weather in FAKE_WEATHER.items():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if city in text: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return f"The weather in ..."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return "I can report Karachi, London, Tokyo."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"tags": ["weather", "forecast", "temperature",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"rain"],                   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port 8002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353312"/>
            <a:ext cx="5410047" cy="2787045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78727" y="1353312"/>
            <a:ext cx="41148" cy="2787045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9895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05_currency_agent.py   ·   port 8003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9895" y="1728216"/>
            <a:ext cx="5044287" cy="232070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RATES = {"USD": 1.0, "PKR": 278.0, "EUR": 0.9}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def convert_currency(text: str) -&gt; str: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amount_match = re.search(r"(\d+(?:\.\d+)?)", text)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codes = [w.upper() for w in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re.findall(r"[A-Za-z]{3}", text)]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known = [c for c in codes if c in RATES]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if not amount_match or len(known) &lt; 2: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return "Ask me like: convert 100 USD to PKR."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amount = float(amount_match.group(1))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frm, to = known[0], known[1]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result = amount / RATES[frm] * RATES[to]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return f"{amount:.0f} {frm} = {result:.0f} {to}"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51960"/>
            <a:ext cx="5410047" cy="10058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0664" y="4398264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WHY SCAN FOR KNOWN CODES?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4681728"/>
            <a:ext cx="4952847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Guessing by position breaks on </a:t>
            </a:r>
            <a:r>
              <a:rPr b="0" i="1" sz="1250">
                <a:solidFill>
                  <a:srgbClr val="151515"/>
                </a:solidFill>
                <a:latin typeface="Segoe UI"/>
              </a:rPr>
              <a:t>"I have 100 USD, convert it to PKR"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. Scanning for codes we know survives messy phrasing — and messy phrasing is what students type.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251960"/>
            <a:ext cx="5410047" cy="1005840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16471" y="4398264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SESSION 6 CALLBACK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6471" y="4681728"/>
            <a:ext cx="4952847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These are the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same two functions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from Session 6, where they were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tools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one agent owned. Same capability, new packaging.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394960"/>
            <a:ext cx="11185855" cy="8412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0664" y="5541264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SAY THIS OUT 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" y="5824728"/>
            <a:ext cx="10728655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1" sz="1300">
                <a:solidFill>
                  <a:srgbClr val="151515"/>
                </a:solidFill>
                <a:latin typeface="Segoe UI"/>
              </a:rPr>
              <a:t>"Neither of these agents knows the other exists — no shared variable, no import, no memory. What makes them a </a:t>
            </a:r>
            <a:r>
              <a:rPr b="0" i="1" sz="1300">
                <a:solidFill>
                  <a:srgbClr val="151515"/>
                </a:solidFill>
                <a:latin typeface="Segoe UI"/>
              </a:rPr>
              <a:t>team</a:t>
            </a:r>
            <a:r>
              <a:rPr b="0" i="1" sz="1300">
                <a:solidFill>
                  <a:srgbClr val="151515"/>
                </a:solidFill>
                <a:latin typeface="Segoe UI"/>
              </a:rPr>
              <a:t> is file 06, and the only thing file 06 has is their cards."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5 · FILE 06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The orchestrator — discover, then decide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5410047" cy="3929108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41148" cy="392910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06_orchestrator.py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728216"/>
            <a:ext cx="5044287" cy="34627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KNOWN_AGENTS = ["http://localhost:8002",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"http://localhost:8003"]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# 1) DISCOVER — build a directory of cards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def discover(agent_urls):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directory = []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for base in agent_urls: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card = requests.get(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f"{base}/.well-known/agent-card.json"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).json()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directory.append(card)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tags = [t for skill in card["skills"]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  for t in skill["tags"]]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print(f"  found {card['name']} -&gt; {tags}")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return directory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# 2) ROUTE — whose tags appear in the question?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def pick_agent(directory, question):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353312"/>
            <a:ext cx="5410047" cy="2216014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78727" y="1353312"/>
            <a:ext cx="41148" cy="2216014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9895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…the routing rule, in eight 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9895" y="1728216"/>
            <a:ext cx="5044287" cy="17496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q = question.lower()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for card in directory: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for skill in card["skills"]: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keywords = skill["tags"] + [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skill["id"], skill["name"].lower()]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if any(word.lower() in q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   for word in keywords):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return card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return None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3675887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THE SHAPE IT MAKES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5031" y="3968496"/>
            <a:ext cx="2377440" cy="475488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00">
                <a:solidFill>
                  <a:srgbClr val="151515"/>
                </a:solidFill>
                <a:latin typeface="Segoe UI"/>
              </a:rPr>
              <a:t>Orchestrator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83751" y="4443984"/>
            <a:ext cx="25603" cy="164592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13167" y="4608576"/>
            <a:ext cx="2941167" cy="25603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13167" y="4608576"/>
            <a:ext cx="25603" cy="164592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54335" y="4608576"/>
            <a:ext cx="25603" cy="164592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3047" y="4773168"/>
            <a:ext cx="192024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Weather</a:t>
            </a:r>
          </a:p>
          <a:p>
            <a:pPr algn="ctr">
              <a:spcBef>
                <a:spcPts val="200"/>
              </a:spcBef>
            </a:pPr>
            <a:r>
              <a:rPr b="0" i="0" sz="850">
                <a:solidFill>
                  <a:srgbClr val="5C5C5C"/>
                </a:solidFill>
                <a:latin typeface="Segoe UI"/>
              </a:rPr>
              <a:t>8002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94215" y="4773168"/>
            <a:ext cx="192024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Currency</a:t>
            </a:r>
          </a:p>
          <a:p>
            <a:pPr algn="ctr">
              <a:spcBef>
                <a:spcPts val="200"/>
              </a:spcBef>
            </a:pPr>
            <a:r>
              <a:rPr b="0" i="0" sz="850">
                <a:solidFill>
                  <a:srgbClr val="5C5C5C"/>
                </a:solidFill>
                <a:latin typeface="Segoe UI"/>
              </a:rPr>
              <a:t>8003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8727" y="5394960"/>
            <a:ext cx="5410047" cy="8412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16471" y="5541264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A WHOLE NEW KIND OF PROGRAM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6471" y="5824728"/>
            <a:ext cx="4952847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1" sz="1250">
                <a:solidFill>
                  <a:srgbClr val="151515"/>
                </a:solidFill>
                <a:latin typeface="Segoe UI"/>
              </a:rPr>
              <a:t>"It cannot do weather. It cannot do currency. All it knows how to do is </a:t>
            </a:r>
            <a:r>
              <a:rPr b="0" i="1" sz="1250">
                <a:solidFill>
                  <a:srgbClr val="151515"/>
                </a:solidFill>
                <a:latin typeface="Segoe UI"/>
              </a:rPr>
              <a:t>read cards</a:t>
            </a:r>
            <a:r>
              <a:rPr b="0" i="1" sz="1250">
                <a:solidFill>
                  <a:srgbClr val="151515"/>
                </a:solidFill>
                <a:latin typeface="Segoe UI"/>
              </a:rPr>
              <a:t> and </a:t>
            </a:r>
            <a:r>
              <a:rPr b="0" i="1" sz="1250">
                <a:solidFill>
                  <a:srgbClr val="151515"/>
                </a:solidFill>
                <a:latin typeface="Segoe UI"/>
              </a:rPr>
              <a:t>delegate</a:t>
            </a:r>
            <a:r>
              <a:rPr b="0" i="1" sz="1250">
                <a:solidFill>
                  <a:srgbClr val="151515"/>
                </a:solidFill>
                <a:latin typeface="Segoe UI"/>
              </a:rPr>
              <a:t>."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394960"/>
            <a:ext cx="5410047" cy="841248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0664" y="5541264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IN THE REAL WORLD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" y="5824728"/>
            <a:ext cx="4952847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150">
                <a:solidFill>
                  <a:srgbClr val="8A5700"/>
                </a:solidFill>
                <a:latin typeface="Consolas"/>
              </a:rPr>
              <a:t>KNOWN_AGENTS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would be a query to a registry. The rest of the function would not change one line.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5 · FILE 06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The orchestrator — then delegate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5410047" cy="3167733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41148" cy="3167733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06_orchestrator.py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728216"/>
            <a:ext cx="5044287" cy="270138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# 3) DELEGATE — the A2A call itself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def ask_agent(card, question):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rpc_request = {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"jsonrpc": "2.0", "id": 1,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"method": "message/send",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"params": {"message": {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"role": "user",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"parts": [{"kind": "text",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       "text": question}],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"messageId": uuid.uuid4().hex,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}}}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response = requests.post(card["url"],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             json=rpc_request).json()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return response["result"]["parts"][0]["text"]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353312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WHAT IT PRINTS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7" y="1627632"/>
          <a:ext cx="5410045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5784"/>
                <a:gridCol w="1650522"/>
                <a:gridCol w="1283739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The user asks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It routes to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Because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What's the weather in Tokyo?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Weather Agent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tag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weather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Convert 100 USD to PKR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Currency Agent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tag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convert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Is it raining in London?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Weather Agent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tag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rain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278727" y="3401568"/>
            <a:ext cx="5410047" cy="1005840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16471" y="3547872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THIRD QUESTION IS THE INTERESTING 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6471" y="3831336"/>
            <a:ext cx="4952847" cy="466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It never says </a:t>
            </a:r>
            <a:r>
              <a:rPr b="0" i="1" sz="1250">
                <a:solidFill>
                  <a:srgbClr val="151515"/>
                </a:solidFill>
                <a:latin typeface="Segoe UI"/>
              </a:rPr>
              <a:t>"weather"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. It says </a:t>
            </a:r>
            <a:r>
              <a:rPr b="0" i="1" sz="1250">
                <a:solidFill>
                  <a:srgbClr val="151515"/>
                </a:solidFill>
                <a:latin typeface="Segoe UI"/>
              </a:rPr>
              <a:t>"raining"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. The tag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rain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is the only reason it routes correctly — tags are a real design decision.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4572000"/>
            <a:ext cx="5410047" cy="84124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16471" y="4718304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SAME IDEA AS SESSION 4'S VERIFIER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6471" y="5001768"/>
            <a:ext cx="4952847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One agent checking another's work — but standardised, so it works across the network between agents built by people who never met.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522976"/>
            <a:ext cx="11185855" cy="7132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0664" y="5669280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EXERCISE 1, AND WHY IT LANDS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5952744"/>
            <a:ext cx="10728655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300">
                <a:solidFill>
                  <a:srgbClr val="151515"/>
                </a:solidFill>
                <a:latin typeface="Segoe UI"/>
              </a:rPr>
              <a:t>Copy </a:t>
            </a:r>
            <a:r>
              <a:rPr b="0" i="0" sz="1250">
                <a:solidFill>
                  <a:srgbClr val="8A5700"/>
                </a:solidFill>
                <a:latin typeface="Consolas"/>
              </a:rPr>
              <a:t>04_weather_agent.py</a:t>
            </a:r>
            <a:r>
              <a:rPr b="0" i="0" sz="1300">
                <a:solidFill>
                  <a:srgbClr val="151515"/>
                </a:solidFill>
                <a:latin typeface="Segoe UI"/>
              </a:rPr>
              <a:t> into a </a:t>
            </a:r>
            <a:r>
              <a:rPr b="0" i="0" sz="1250">
                <a:solidFill>
                  <a:srgbClr val="8A5700"/>
                </a:solidFill>
                <a:latin typeface="Consolas"/>
              </a:rPr>
              <a:t>math_agent</a:t>
            </a:r>
            <a:r>
              <a:rPr b="0" i="0" sz="1300">
                <a:solidFill>
                  <a:srgbClr val="151515"/>
                </a:solidFill>
                <a:latin typeface="Segoe UI"/>
              </a:rPr>
              <a:t> on port 8004, add it to </a:t>
            </a:r>
            <a:r>
              <a:rPr b="0" i="0" sz="1250">
                <a:solidFill>
                  <a:srgbClr val="8A5700"/>
                </a:solidFill>
                <a:latin typeface="Consolas"/>
              </a:rPr>
              <a:t>KNOWN_AGENTS</a:t>
            </a:r>
            <a:r>
              <a:rPr b="0" i="0" sz="1300">
                <a:solidFill>
                  <a:srgbClr val="151515"/>
                </a:solidFill>
                <a:latin typeface="Segoe UI"/>
              </a:rPr>
              <a:t>, and </a:t>
            </a:r>
            <a:r>
              <a:rPr b="0" i="1" sz="1300">
                <a:solidFill>
                  <a:srgbClr val="151515"/>
                </a:solidFill>
                <a:latin typeface="Segoe UI"/>
              </a:rPr>
              <a:t>"what is 2+2"</a:t>
            </a:r>
            <a:r>
              <a:rPr b="0" i="0" sz="1300">
                <a:solidFill>
                  <a:srgbClr val="151515"/>
                </a:solidFill>
                <a:latin typeface="Segoe UI"/>
              </a:rPr>
              <a:t> routes with </a:t>
            </a:r>
            <a:r>
              <a:rPr b="1" i="0" sz="1300">
                <a:solidFill>
                  <a:srgbClr val="C27A00"/>
                </a:solidFill>
                <a:latin typeface="Segoe UI"/>
              </a:rPr>
              <a:t>zero changes</a:t>
            </a:r>
            <a:r>
              <a:rPr b="0" i="0" sz="1300">
                <a:solidFill>
                  <a:srgbClr val="151515"/>
                </a:solidFill>
                <a:latin typeface="Segoe UI"/>
              </a:rPr>
              <a:t> elsewhere.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5 · FILE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Giving an agent a real brain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30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5410047" cy="354842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41148" cy="3548420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07_llm_weather_agent.py   ·   port 8002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728216"/>
            <a:ext cx="5044287" cy="308207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MODEL = "openai/gpt-oss-120b"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Groq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def use_mock() -&gt; bool: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"""Mock unless a real Groq key is set."""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key = os.getenv("GROQ_API_KEY", "").strip()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provider = os.getenv("LLM_PROVIDER", "mock")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return (provider.lower() == "mock" or not key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or key == "your_groq_key_here")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def weather_brain(user_text: str) -&gt; str: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if use_mock():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text = user_text.lower()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= FILE 4 logic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for city, w in FAKE_WEATHER.items():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if city in text: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return f"The weather in ..."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return "I can report Karachi, London, Tokyo."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353312"/>
            <a:ext cx="5410047" cy="2596701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78727" y="1353312"/>
            <a:ext cx="41148" cy="2596701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9895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…the LLM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9895" y="1728216"/>
            <a:ext cx="5044287" cy="2130357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from groq import Groq     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the real path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client = Groq()           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reads the env var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system = (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"You are a Weather Agent. Only use this 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f"weather data: {FAKE_WEATHER}. Answer in 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"ONE short, friendly sentence.")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resp = client.chat.completions.create(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model=MODEL, temperature=0, messages=[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{"role": "system", "content": system},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{"role": "user",   "content": user_text}])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return resp.choices[0].message.content.strip()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4096512"/>
            <a:ext cx="5410047" cy="1115568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16471" y="4242816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CARD DID NOT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6471" y="4526280"/>
            <a:ext cx="4952847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Same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name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, same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url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, same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skills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, same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port 8002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. Only the function behind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message/send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is different. Hold that thought — it becomes the point two slides from now.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358384"/>
            <a:ext cx="11185855" cy="87782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0664" y="5504688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PROMPT IS INSIDE THE AGENT, NOT ON THE 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5788152"/>
            <a:ext cx="10728655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Notice where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system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lives — in the agent's private code. A client reading the card learns </a:t>
            </a:r>
            <a:r>
              <a:rPr b="0" i="1" sz="1250">
                <a:solidFill>
                  <a:srgbClr val="151515"/>
                </a:solidFill>
                <a:latin typeface="Segoe UI"/>
              </a:rPr>
              <a:t>what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this agent does and never </a:t>
            </a:r>
            <a:r>
              <a:rPr b="0" i="1" sz="1250">
                <a:solidFill>
                  <a:srgbClr val="151515"/>
                </a:solidFill>
                <a:latin typeface="Segoe UI"/>
              </a:rPr>
              <a:t>how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. And with no key it silently falls back to file 04's dictionary, so the demo never breaks in class.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5 · FILE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Let Python do the maths; let the LLM do the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31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5410047" cy="3738764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41148" cy="3738764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08_llm_currency_agent.py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728216"/>
            <a:ext cx="5044287" cy="32724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def do_math(text: str):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amount_match = re.search(r"(\d+(?:\.\d+)?)", text)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codes = [w.upper() for w in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re.findall(r"[A-Za-z]{3}", text)]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known = [c for c in codes if c in RATES]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if not amount_match or len(known) &lt; 2: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return None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amount = float(amount_match.group(1))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frm, to = known[0], known[1]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return (amount, frm, to,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amount / RATES[frm] * RATES[to])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def currency_brain(user_text: str) -&gt; str: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result = do_math(user_text)   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exact, always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if result is None: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return "Ask me like convert 100 USD to PKR."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amount, frm, to, converted = 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353312"/>
            <a:ext cx="5410047" cy="2216014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78727" y="1353312"/>
            <a:ext cx="41148" cy="2216014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9895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…the LLM only phrases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9895" y="1728216"/>
            <a:ext cx="5044287" cy="17496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from groq import Groq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client = Groq()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system = ("You are a Currency Agent. Rephrase 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"the given conversion result in one 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"friendly sentence. 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"Do not change the numbers.")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fact = f"{amount:.0f} {frm} = {converted:.2f} {to}"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resp = client.chat.completions.create(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model=MODEL, temperature=0.3, messages=[...])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3675887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TWO JOBS, TWO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3968496"/>
            <a:ext cx="2522143" cy="960120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00">
                <a:solidFill>
                  <a:srgbClr val="151515"/>
                </a:solidFill>
                <a:latin typeface="Segoe UI"/>
              </a:rPr>
              <a:t>the numbers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5C5C5C"/>
                </a:solidFill>
                <a:latin typeface="Segoe UI"/>
              </a:rPr>
              <a:t>Python · deterministic · testable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66631" y="3968496"/>
            <a:ext cx="2522143" cy="96012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00">
                <a:solidFill>
                  <a:srgbClr val="151515"/>
                </a:solidFill>
                <a:latin typeface="Segoe UI"/>
              </a:rPr>
              <a:t>the sentence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5C5C5C"/>
                </a:solidFill>
                <a:latin typeface="Segoe UI"/>
              </a:rPr>
              <a:t>the LLM · fluent · never sees the maths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5138928"/>
            <a:ext cx="5410047" cy="10972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16471" y="5285232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RULE WORTH STEALING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6471" y="5568696"/>
            <a:ext cx="4952847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1" i="0" sz="1250">
                <a:solidFill>
                  <a:srgbClr val="151515"/>
                </a:solidFill>
                <a:latin typeface="Segoe UI"/>
              </a:rPr>
              <a:t>Never let the model do arithmetic it can get wrong.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Compute the fact in code, hand the model the fact, ask only for wording.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38928"/>
            <a:ext cx="5410047" cy="1097280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0664" y="5285232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SAME SHAPE AS FILE 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" y="5568696"/>
            <a:ext cx="4952847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00">
                <a:solidFill>
                  <a:srgbClr val="8A5700"/>
                </a:solidFill>
                <a:latin typeface="Consolas"/>
              </a:rPr>
              <a:t>use_mock()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again, so this runs offline too — it returns the bare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100 USD = 27800 PKR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. Card, port and skill are identical to file 05.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5 · THE BIG IDEA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Protocol opacity — agents are black boxes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426464"/>
            <a:ext cx="5074920" cy="658368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300">
                <a:solidFill>
                  <a:srgbClr val="151515"/>
                </a:solidFill>
                <a:latin typeface="Segoe UI"/>
              </a:rPr>
              <a:t>06_orchestrator.py</a:t>
            </a:r>
          </a:p>
          <a:p>
            <a:pPr algn="ctr">
              <a:spcBef>
                <a:spcPts val="200"/>
              </a:spcBef>
            </a:pPr>
            <a:r>
              <a:rPr b="0" i="0" sz="1050">
                <a:solidFill>
                  <a:srgbClr val="5C5C5C"/>
                </a:solidFill>
                <a:latin typeface="Segoe UI"/>
              </a:rPr>
              <a:t>not one line changes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89320" y="2121408"/>
            <a:ext cx="219456" cy="365760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66160" y="2523744"/>
            <a:ext cx="5074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100">
                <a:solidFill>
                  <a:srgbClr val="8A5700"/>
                </a:solidFill>
                <a:latin typeface="Consolas"/>
              </a:rPr>
              <a:t>GET /.well-known/agent-card.json</a:t>
            </a:r>
            <a:r>
              <a:rPr b="0" i="0" sz="1150">
                <a:solidFill>
                  <a:srgbClr val="8A5700"/>
                </a:solidFill>
                <a:latin typeface="Segoe UI"/>
              </a:rPr>
              <a:t>   then   </a:t>
            </a:r>
            <a:r>
              <a:rPr b="0" i="0" sz="1100">
                <a:solidFill>
                  <a:srgbClr val="8A5700"/>
                </a:solidFill>
                <a:latin typeface="Consolas"/>
              </a:rPr>
              <a:t>POST /  message/send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798064"/>
            <a:ext cx="5074920" cy="512064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00">
                <a:solidFill>
                  <a:srgbClr val="151515"/>
                </a:solidFill>
                <a:latin typeface="Segoe UI"/>
              </a:rPr>
              <a:t>http://localhost:8002/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89320" y="3346704"/>
            <a:ext cx="219456" cy="310896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02920" y="3749039"/>
            <a:ext cx="5410047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300">
                <a:solidFill>
                  <a:srgbClr val="151515"/>
                </a:solidFill>
                <a:latin typeface="Segoe UI"/>
              </a:rPr>
              <a:t>FILE 04</a:t>
            </a:r>
          </a:p>
          <a:p>
            <a:pPr algn="ctr">
              <a:spcBef>
                <a:spcPts val="200"/>
              </a:spcBef>
            </a:pPr>
            <a:r>
              <a:rPr b="0" i="0" sz="1050">
                <a:solidFill>
                  <a:srgbClr val="5C5C5C"/>
                </a:solidFill>
                <a:latin typeface="Segoe UI"/>
              </a:rPr>
              <a:t>a Python dict lookup — 3 cities, hardcoded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3749039"/>
            <a:ext cx="5410047" cy="1234440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300">
                <a:solidFill>
                  <a:srgbClr val="151515"/>
                </a:solidFill>
                <a:latin typeface="Segoe UI"/>
              </a:rPr>
              <a:t>FILE 07</a:t>
            </a:r>
          </a:p>
          <a:p>
            <a:pPr algn="ctr">
              <a:spcBef>
                <a:spcPts val="200"/>
              </a:spcBef>
            </a:pPr>
            <a:r>
              <a:rPr b="0" i="0" sz="1050">
                <a:solidFill>
                  <a:srgbClr val="5C5C5C"/>
                </a:solidFill>
                <a:latin typeface="Segoe UI"/>
              </a:rPr>
              <a:t>a 120-billion-parameter model on Groq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04748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300">
                <a:solidFill>
                  <a:srgbClr val="151515"/>
                </a:solidFill>
                <a:latin typeface="Segoe UI"/>
              </a:rPr>
              <a:t>same card  ·  same port  ·  same </a:t>
            </a:r>
            <a:r>
              <a:rPr b="0" i="0" sz="1250">
                <a:solidFill>
                  <a:srgbClr val="8A5700"/>
                </a:solidFill>
                <a:latin typeface="Consolas"/>
              </a:rPr>
              <a:t>message/send</a:t>
            </a:r>
            <a:r>
              <a:rPr b="0" i="0" sz="1300">
                <a:solidFill>
                  <a:srgbClr val="151515"/>
                </a:solidFill>
                <a:latin typeface="Segoe UI"/>
              </a:rPr>
              <a:t>  ·  </a:t>
            </a:r>
            <a:r>
              <a:rPr b="1" i="0" sz="1300">
                <a:solidFill>
                  <a:srgbClr val="C27A00"/>
                </a:solidFill>
                <a:latin typeface="Segoe UI"/>
              </a:rPr>
              <a:t>the client cannot tell the difference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413248"/>
            <a:ext cx="11185855" cy="82296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0664" y="555955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SAY THIS OUT 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843016"/>
            <a:ext cx="10728655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1" sz="1250">
                <a:solidFill>
                  <a:srgbClr val="151515"/>
                </a:solidFill>
                <a:latin typeface="Segoe UI"/>
              </a:rPr>
              <a:t>"I am going to kill the hand-made agents and start LLM ones on the SAME ports, then run the SAME orchestrator. Watch — nothing changes. The client never knew whether the brain was a dict or a 120-billion-parameter model. </a:t>
            </a:r>
            <a:r>
              <a:rPr b="0" i="1" sz="1250">
                <a:solidFill>
                  <a:srgbClr val="151515"/>
                </a:solidFill>
                <a:latin typeface="Segoe UI"/>
              </a:rPr>
              <a:t>That is the whole design.</a:t>
            </a:r>
            <a:r>
              <a:rPr b="0" i="1" sz="1250">
                <a:solidFill>
                  <a:srgbClr val="151515"/>
                </a:solidFill>
                <a:latin typeface="Segoe UI"/>
              </a:rPr>
              <a:t>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5 · FILE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When the router itself is an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33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5410047" cy="3358076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41148" cy="3358076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09_llm_orchestrator.py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728216"/>
            <a:ext cx="5044287" cy="28917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def choose_agent(directory, question):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if use_mock():        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FILE 6 keyword routing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q = question.lower()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for card in directory: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for skill in card["skills"]: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keywords = skill["tags"] + [...]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if any(w in q for w in keywords):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    return card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return None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from groq import Groq              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LLM router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client = Groq()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catalog = "\n".join(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f"- {c['name']}: 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f"{c['skills'][0]['description']}"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for c in directory)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353312"/>
            <a:ext cx="5410047" cy="2406357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78727" y="1353312"/>
            <a:ext cx="41148" cy="2406357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9895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…then match the name back to a 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9895" y="1728216"/>
            <a:ext cx="5044287" cy="194001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system = ("You are a router. Pick the single 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"best agent for the user's question. 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"Reply with ONLY the agent's name.")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choice = client.chat.completions.create(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model=MODEL, temperature=0, messages=[...]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).choices[0].message.content.strip()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for card in directory: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name -&gt; card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if card["name"].lower() in choice.lower():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return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3877056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THE QUESTIONS IT CAN NOW HANDLE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4169663"/>
            <a:ext cx="5410047" cy="1198606"/>
          </a:xfrm>
          <a:prstGeom prst="rect">
            <a:avLst/>
          </a:prstGeom>
          <a:solidFill>
            <a:srgbClr val="FFFFFF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78727" y="4169663"/>
            <a:ext cx="41148" cy="1198606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4288536"/>
            <a:ext cx="5044287" cy="98829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"I'm flying to Tokyo soon - what's the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weather there?"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"I've got 100 USD, can you convert it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to PKR?"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5504688"/>
            <a:ext cx="5410047" cy="731520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16471" y="5650992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SAME CARDS. SMARTER READER.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6471" y="5934455"/>
            <a:ext cx="4952847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Keyword matching reads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tags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. The LLM reads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description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855464"/>
            <a:ext cx="5410047" cy="138074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0664" y="5001768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TWO THINGS WORTH SAYING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" y="5285231"/>
            <a:ext cx="4952847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1" i="0" sz="1220">
                <a:solidFill>
                  <a:srgbClr val="151515"/>
                </a:solidFill>
                <a:latin typeface="Segoe UI"/>
              </a:rPr>
              <a:t>One router, either set of specialists.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File 09 works with the hand-made agents (04 + 05) </a:t>
            </a:r>
            <a:r>
              <a:rPr b="1" i="0" sz="1220">
                <a:solidFill>
                  <a:srgbClr val="151515"/>
                </a:solidFill>
                <a:latin typeface="Segoe UI"/>
              </a:rPr>
              <a:t>or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the LLM ones (07 + 08) — they share ports.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1" i="0" sz="1220">
                <a:solidFill>
                  <a:srgbClr val="151515"/>
                </a:solidFill>
                <a:latin typeface="Segoe UI"/>
              </a:rPr>
              <a:t>The orchestrator is an agent too.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Give it a card and a </a:t>
            </a:r>
            <a:r>
              <a:rPr b="0" i="0" sz="1170">
                <a:solidFill>
                  <a:srgbClr val="8A5700"/>
                </a:solidFill>
                <a:latin typeface="Consolas"/>
              </a:rPr>
              <a:t>/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endpoint and somebody else could hire </a:t>
            </a:r>
            <a:r>
              <a:rPr b="1" i="0" sz="1220">
                <a:solidFill>
                  <a:srgbClr val="151515"/>
                </a:solidFill>
                <a:latin typeface="Segoe UI"/>
              </a:rPr>
              <a:t>it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5 · FILE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Now meet the official SDK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34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5410047" cy="3738764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41148" cy="3738764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10_sdk_agent.py   ·   port 9999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728216"/>
            <a:ext cx="5044287" cy="32724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from a2a.server.agent_execution import (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AgentExecutor, RequestContext)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from a2a.server.events import EventQueue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from a2a.server.request_handlers import DefaultRequestHandler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from a2a.server.tasks import InMemoryTaskStore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from a2a.server.routes import (add_a2a_routes_to_fastapi,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create_agent_card_routes, create_jsonrpc_routes)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from a2a.types import (AgentCard, AgentInterface,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       AgentCapabilities, AgentSkill)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# YOUR logic goes in an AgentExecutor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class GreetingExecutor(AgentExecutor):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async def execute(self, context: RequestContext,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      event_queue: EventQueue) -&gt; None: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user_text = context.get_user_input()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reply = new_text_message(f"Hello, {user_text}!")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await event_queue.enqueue_event(reply)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353312"/>
            <a:ext cx="5410047" cy="2596701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78727" y="1353312"/>
            <a:ext cx="41148" cy="2596701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9895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…the card and the wiring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9895" y="1728216"/>
            <a:ext cx="5044287" cy="2130357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AGENT_CARD = AgentCard(       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typed, not a dict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name="Greeting Agent (SDK)",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capabilities=AgentCapabilities(streaming=True),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skills=[AgentSkill(id="greet", ...)],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supported_interfaces=[AgentInterface(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url="http://localhost:9999/",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protocol_binding=TransportProtocol.JSONRPC)])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request_handler = DefaultRequestHandler(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agent_executor=GreetingExecutor(),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task_store=InMemoryTaskStore(), ...)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78727" y="3931920"/>
          <a:ext cx="5410046" cy="2066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9175"/>
                <a:gridCol w="2750871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By hand — file 02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With the SDK — file 10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if method == "message/send":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your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AgentExecutor.execute()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building the reply dict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new_text_message()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+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event_queue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(we ignored long jobs)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InMemoryTaskStore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tracks tasks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our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@app.post("/")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route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create_jsonrpc_routes(...)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our card dict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typed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AgentCard(...)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502920" y="5175504"/>
            <a:ext cx="5410047" cy="1060704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0664" y="5321808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WHY WE BUILT IT BY HAND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5605272"/>
            <a:ext cx="4952847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Every SDK name here maps to something you already wrote. Nothing is new protocol — it is the same two promises with types, a task store and a router bolted 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5 · FILE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The SDK client, and the trade you are making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35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5410047" cy="3738764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41148" cy="3738764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11_sdk_client.py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728216"/>
            <a:ext cx="5044287" cy="32724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async def main():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async with httpx.AsyncClient() as http_client: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config = ClientConfig(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httpx_client=http_client, streaming=False,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supported_protocol_bindings=[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TransportProtocol.JSONRPC])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        # fetches the card AND picks the transport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client = await ClientFactory(config) \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.create_from_url("http://localhost:9999")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request = SendMessageRequest(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message=Message(role=Role.ROLE_USER,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            parts=[Part(text="Sara")],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            message_id="msg-1"))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async for event in client.send_message(request):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if event.HasField("message"):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353312"/>
            <a:ext cx="5410047" cy="1481328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16471" y="1499616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CAREFUL — TWO SPELLINGS OF ONE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471" y="1783080"/>
            <a:ext cx="4952847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00">
                <a:solidFill>
                  <a:srgbClr val="151515"/>
                </a:solidFill>
                <a:latin typeface="Segoe UI"/>
              </a:rPr>
              <a:t>The SDK objects use the </a:t>
            </a:r>
            <a:r>
              <a:rPr b="1" i="0" sz="1200">
                <a:solidFill>
                  <a:srgbClr val="151515"/>
                </a:solidFill>
                <a:latin typeface="Segoe UI"/>
              </a:rPr>
              <a:t>protobuf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flavour: </a:t>
            </a:r>
            <a:r>
              <a:rPr b="0" i="0" sz="1150">
                <a:solidFill>
                  <a:srgbClr val="8A5700"/>
                </a:solidFill>
                <a:latin typeface="Consolas"/>
              </a:rPr>
              <a:t>Role.ROLE_USER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, </a:t>
            </a:r>
            <a:r>
              <a:rPr b="0" i="0" sz="1150">
                <a:solidFill>
                  <a:srgbClr val="8A5700"/>
                </a:solidFill>
                <a:latin typeface="Consolas"/>
              </a:rPr>
              <a:t>event.HasField("message")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. Files 01–09 use the </a:t>
            </a:r>
            <a:r>
              <a:rPr b="1" i="0" sz="1200">
                <a:solidFill>
                  <a:srgbClr val="151515"/>
                </a:solidFill>
                <a:latin typeface="Segoe UI"/>
              </a:rPr>
              <a:t>JSON-RPC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flavour: </a:t>
            </a:r>
            <a:r>
              <a:rPr b="0" i="0" sz="1150">
                <a:solidFill>
                  <a:srgbClr val="8A5700"/>
                </a:solidFill>
                <a:latin typeface="Consolas"/>
              </a:rPr>
              <a:t>"user"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, </a:t>
            </a:r>
            <a:r>
              <a:rPr b="0" i="0" sz="1150">
                <a:solidFill>
                  <a:srgbClr val="8A5700"/>
                </a:solidFill>
                <a:latin typeface="Consolas"/>
              </a:rPr>
              <a:t>"message/send"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, </a:t>
            </a:r>
            <a:r>
              <a:rPr b="0" i="0" sz="1150">
                <a:solidFill>
                  <a:srgbClr val="8A5700"/>
                </a:solidFill>
                <a:latin typeface="Consolas"/>
              </a:rPr>
              <a:t>{"kind": "text"}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1" i="0" sz="1200">
                <a:solidFill>
                  <a:srgbClr val="C27A00"/>
                </a:solidFill>
                <a:latin typeface="Segoe UI"/>
              </a:rPr>
              <a:t>Same protocol, same wire, different names in the docs.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944368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WHAT THE EXTRA CODE BUYS YOU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78727" y="3236976"/>
          <a:ext cx="5410046" cy="1719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9175"/>
                <a:gridCol w="2750871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You wrote by hand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The SDK hands you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one-shot replies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streaming over SSE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nothing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task tracking +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tasks/get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nothing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auth and push notifications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one transport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JSON-RPC, gRPC or REST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502920" y="5303520"/>
            <a:ext cx="11185855" cy="93268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0664" y="5449824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SAME LESSON AS SESSION 6'S RAW-VS-LANGCHAIN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5733288"/>
            <a:ext cx="10728655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1" sz="1250">
                <a:solidFill>
                  <a:srgbClr val="151515"/>
                </a:solidFill>
                <a:latin typeface="Segoe UI"/>
              </a:rPr>
              <a:t>"More code for a hello-world — but you get streaming, task tracking, auth and push notifications for free. That is the trade: </a:t>
            </a:r>
            <a:r>
              <a:rPr b="1" i="1" sz="1250">
                <a:solidFill>
                  <a:srgbClr val="C27A00"/>
                </a:solidFill>
                <a:latin typeface="Segoe UI"/>
              </a:rPr>
              <a:t>structure now, power later</a:t>
            </a:r>
            <a:r>
              <a:rPr b="0" i="1" sz="1250">
                <a:solidFill>
                  <a:srgbClr val="151515"/>
                </a:solidFill>
                <a:latin typeface="Segoe UI"/>
              </a:rPr>
              <a:t>."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Google ADK, LangGraph and CrewAI all speak A2A. The protocol reached v1.0 and is governed under the Linux Foundation.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6 · AGENT TALKS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Same protocol, agents that disagree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35024"/>
            <a:ext cx="6537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0" i="0" sz="1320">
                <a:solidFill>
                  <a:srgbClr val="151515"/>
                </a:solidFill>
                <a:latin typeface="Segoe UI"/>
              </a:rPr>
              <a:t>Files 01–11 showed agents that </a:t>
            </a:r>
            <a:r>
              <a:rPr b="1" i="0" sz="1320">
                <a:solidFill>
                  <a:srgbClr val="151515"/>
                </a:solidFill>
                <a:latin typeface="Segoe UI"/>
              </a:rPr>
              <a:t>cooperate</a:t>
            </a:r>
            <a:r>
              <a:rPr b="0" i="0" sz="1320">
                <a:solidFill>
                  <a:srgbClr val="151515"/>
                </a:solidFill>
                <a:latin typeface="Segoe UI"/>
              </a:rPr>
              <a:t>: one question, one delegation, one answer. This folder points the same protocol at agents that </a:t>
            </a:r>
            <a:r>
              <a:rPr b="1" i="0" sz="1320">
                <a:solidFill>
                  <a:srgbClr val="C27A00"/>
                </a:solidFill>
                <a:latin typeface="Segoe UI"/>
              </a:rPr>
              <a:t>argue</a:t>
            </a:r>
            <a:r>
              <a:rPr b="0" i="0" sz="1320">
                <a:solidFill>
                  <a:srgbClr val="151515"/>
                </a:solidFill>
                <a:latin typeface="Segoe UI"/>
              </a:rPr>
              <a:t> — until they have to land somewhere.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084831"/>
          <a:ext cx="6537960" cy="1591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554480"/>
                <a:gridCol w="2971800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Agent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Skill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Its job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100">
                          <a:solidFill>
                            <a:srgbClr val="151515"/>
                          </a:solidFill>
                          <a:latin typeface="Segoe UI"/>
                        </a:rPr>
                        <a:t>Debate Agent (PRO)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argue_for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argue the claim is TRUE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100">
                          <a:solidFill>
                            <a:srgbClr val="151515"/>
                          </a:solidFill>
                          <a:latin typeface="Segoe UI"/>
                        </a:rPr>
                        <a:t>Debate Agent (CON)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argue_against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argue the claim is FALSE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100">
                          <a:solidFill>
                            <a:srgbClr val="151515"/>
                          </a:solidFill>
                          <a:latin typeface="Segoe UI"/>
                        </a:rPr>
                        <a:t>Debate Referee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judge_debate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only hired if 20 messages pass with no agreement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3803904"/>
            <a:ext cx="6537960" cy="9144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664" y="3950208"/>
            <a:ext cx="6080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4233672"/>
            <a:ext cx="6080760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1" sz="1250">
                <a:solidFill>
                  <a:srgbClr val="151515"/>
                </a:solidFill>
                <a:latin typeface="Segoe UI"/>
              </a:rPr>
              <a:t>"Toyota is better than every other car brand."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  Same claim, opposite orders. Every arrow between them is a real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message/send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335024"/>
            <a:ext cx="4327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PEER TO PEER, PLUS A TIEBREAKER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73736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300">
                <a:solidFill>
                  <a:srgbClr val="151515"/>
                </a:solidFill>
                <a:latin typeface="Segoe UI"/>
              </a:rPr>
              <a:t>PRO</a:t>
            </a:r>
          </a:p>
          <a:p>
            <a:pPr algn="ctr">
              <a:spcBef>
                <a:spcPts val="200"/>
              </a:spcBef>
            </a:pPr>
            <a:r>
              <a:rPr b="0" i="0" sz="1050">
                <a:solidFill>
                  <a:srgbClr val="5C5C5C"/>
                </a:solidFill>
                <a:latin typeface="Segoe UI"/>
              </a:rPr>
              <a:t>8010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173736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300">
                <a:solidFill>
                  <a:srgbClr val="151515"/>
                </a:solidFill>
                <a:latin typeface="Segoe UI"/>
              </a:rPr>
              <a:t>CON</a:t>
            </a:r>
          </a:p>
          <a:p>
            <a:pPr algn="ctr">
              <a:spcBef>
                <a:spcPts val="200"/>
              </a:spcBef>
            </a:pPr>
            <a:r>
              <a:rPr b="0" i="0" sz="1050">
                <a:solidFill>
                  <a:srgbClr val="5C5C5C"/>
                </a:solidFill>
                <a:latin typeface="Segoe UI"/>
              </a:rPr>
              <a:t>8011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36608" y="1847088"/>
            <a:ext cx="201168" cy="146304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eft Arrow 15"/>
          <p:cNvSpPr/>
          <p:nvPr/>
        </p:nvSpPr>
        <p:spPr>
          <a:xfrm>
            <a:off x="9436608" y="2176272"/>
            <a:ext cx="201168" cy="146304"/>
          </a:xfrm>
          <a:prstGeom prst="lef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9546336" y="2505456"/>
            <a:ext cx="25603" cy="3840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2889504"/>
            <a:ext cx="22402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00">
                <a:solidFill>
                  <a:srgbClr val="151515"/>
                </a:solidFill>
                <a:latin typeface="Segoe UI"/>
              </a:rPr>
              <a:t>Referee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5C5C5C"/>
                </a:solidFill>
                <a:latin typeface="Segoe UI"/>
              </a:rPr>
              <a:t>8012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602736"/>
            <a:ext cx="4327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050">
                <a:solidFill>
                  <a:srgbClr val="5C5C5C"/>
                </a:solidFill>
                <a:latin typeface="Segoe UI"/>
              </a:rPr>
              <a:t>hired only when they run out of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950208"/>
            <a:ext cx="4327855" cy="1225296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98664" y="4096512"/>
            <a:ext cx="3870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IT ALWAYS ENDS AGREED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8664" y="4379976"/>
            <a:ext cx="3870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00">
                <a:solidFill>
                  <a:srgbClr val="151515"/>
                </a:solidFill>
                <a:latin typeface="Segoe UI"/>
              </a:rPr>
              <a:t>Within </a:t>
            </a:r>
            <a:r>
              <a:rPr b="1" i="0" sz="1200">
                <a:solidFill>
                  <a:srgbClr val="151515"/>
                </a:solidFill>
                <a:latin typeface="Segoe UI"/>
              </a:rPr>
              <a:t>20 messages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, always with both agents on the same verdict — either they talk each other into it, or the referee breaks the tie.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30368"/>
            <a:ext cx="11185855" cy="10058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0664" y="537667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ONE TERMINAL, REAL A2A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" y="5660136"/>
            <a:ext cx="10728655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These agents are Python objects instead of FastAPI servers, so the whole debate runs in one window. The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card fields, the JSON-RPC envelope and the Task object are byte-for-byte the A2A you already know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— and turning them into real servers is the 10 lines on slide 42.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6 · </a:t>
            </a:r>
            <a:r>
              <a:rPr b="1" i="0" sz="1000">
                <a:solidFill>
                  <a:srgbClr val="8A5700"/>
                </a:solidFill>
                <a:latin typeface="Segoe UI"/>
              </a:rPr>
              <a:t>DEBATE_AGENT.PY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Write the agent once, get three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37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5410047" cy="354842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41148" cy="3548420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class DebateAgent  —  the agent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728216"/>
            <a:ext cx="5044287" cy="308207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def __init__(self, name, description, url, skill,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 side, opening_verdict, persona_intro):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self.card = {               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THE AGENT CARD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"name": name,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"description": description,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"url": url,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"version": "1.0.0",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"defaultInputModes":  ["text"],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"defaultOutputModes": ["text"],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"capabilities": {"streaming": False,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             "pushNotifications": False},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"skills": [skill]}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        # NOT on the card. The card is public;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        # the persona is private.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self.persona_intro = persona_intro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self.memory = {}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contextId -&gt; [messages]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353312"/>
            <a:ext cx="5410047" cy="2596701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78727" y="1353312"/>
            <a:ext cx="41148" cy="2596701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9895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the same two promises as file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9895" y="1728216"/>
            <a:ext cx="5044287" cy="2130357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    # PROMISE 1 — discovery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def get_agent_card(self):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return self.card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    # PROMISE 2 — the A2A endpoint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def handle_rpc(self, rpc):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method = rpc.get("method")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if method == "message/send":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return self._message_send(rpc)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if method == "tasks/get":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...               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look it up by 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4041648"/>
            <a:ext cx="5410047" cy="202567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78727" y="4041648"/>
            <a:ext cx="41148" cy="2025670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9895" y="4160520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a third agent, for free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9895" y="4416552"/>
            <a:ext cx="5044287" cy="155932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class RefereeAgent(DebateAgent):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"""A new agent is a new CARD and a new PERSONA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— not a new server, not a new protocol, not a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new memory system."""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def persona(self, count):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return "You are a neutral referee ..."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# inherits discovery, message/send, tasks/get, Tasks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65776"/>
            <a:ext cx="5410047" cy="11704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0664" y="5212080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WHY THIS FILE EXISTS AT 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5495544"/>
            <a:ext cx="4952847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Session 12 wrote the same server code five times (files 02, 04, 05, 07, 08). Here it is written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once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—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make_pro()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,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make_con()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and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make_referee()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are one call each.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1" i="0" sz="1250">
                <a:solidFill>
                  <a:srgbClr val="C27A00"/>
                </a:solidFill>
                <a:latin typeface="Segoe UI"/>
              </a:rPr>
              <a:t>An agent is a card plus a persona.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6 · TASKS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The Task lifecycle, in the code that runs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5410047" cy="4690483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41148" cy="4690483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agent talks 2 / debate_agent.py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728216"/>
            <a:ext cx="5044287" cy="422413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def _message_send(self, rpc):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incoming   = rpc["params"]["message"]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context_id = incoming.get("contextId")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text_in    = incoming["parts"][0]["text"]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    # a TASK is born the moment we accept work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task = {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"id":        _id("task"),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"contextId": context_id,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"status": {"state": "submitted",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       "timestamp": _now()},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"history":   [incoming],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"artifacts": [],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"kind":      "task",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}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self.tasks[task["id"]] = task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    # MY memory for THIS debate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history = self.memory.setdefault(context_id, [])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history.append(HumanMessage(text_in))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task["status"] = {"state": "working", ...}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353312"/>
            <a:ext cx="5410047" cy="2406357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78727" y="1353312"/>
            <a:ext cx="41148" cy="2406357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9895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…and the 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9895" y="1728216"/>
            <a:ext cx="5044287" cy="194001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    # think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prompt = [SystemMessage(self.persona(count))]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prompt += history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for chunk in self.llm.stream(prompt):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reply_text += chunk.content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history.append(AIMessage(reply_text))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    # working -&gt; completed, result as an ARTIFACT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task["artifacts"] = [{"artifactId": ...,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"name": "argument", "parts": [...]}]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3877056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WHAT THE CLASS WATCHES HAPPEN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4169663"/>
            <a:ext cx="1675333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submitted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90636" y="4343400"/>
            <a:ext cx="146304" cy="201168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146084" y="4169663"/>
            <a:ext cx="1675333" cy="548640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working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857994" y="4343400"/>
            <a:ext cx="146304" cy="201168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0013442" y="4169663"/>
            <a:ext cx="1675333" cy="548640"/>
          </a:xfrm>
          <a:prstGeom prst="roundRect">
            <a:avLst>
              <a:gd name="adj" fmla="val 12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FFFFFF"/>
                </a:solidFill>
                <a:latin typeface="Segoe UI"/>
              </a:rPr>
              <a:t>completed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4809744"/>
            <a:ext cx="5410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100">
                <a:solidFill>
                  <a:srgbClr val="8A5700"/>
                </a:solidFill>
                <a:latin typeface="Segoe UI"/>
              </a:rPr>
              <a:t>printed live in the terminal as 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[a2a] task-3f9a1c2b -&gt; completed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5138928"/>
            <a:ext cx="5410047" cy="1097280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16471" y="5285232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THIS IS THE SLIDE THAT MAKES TASKS REAL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6471" y="5568696"/>
            <a:ext cx="4952847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File 02 prints the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whole Task object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, calls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tasks/get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on it, then sends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make/coffee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for a genuine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-32601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0" i="1" sz="1250">
                <a:solidFill>
                  <a:srgbClr val="151515"/>
                </a:solidFill>
                <a:latin typeface="Segoe UI"/>
              </a:rPr>
              <a:t>"A2A did not hand back a string. It handed back a job."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6 · CONTEXT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450">
                <a:solidFill>
                  <a:srgbClr val="8A5700"/>
                </a:solidFill>
                <a:latin typeface="Consolas"/>
              </a:rPr>
              <a:t>contextId</a:t>
            </a:r>
            <a:r>
              <a:rPr b="1" i="0" sz="2500">
                <a:solidFill>
                  <a:srgbClr val="151515"/>
                </a:solidFill>
                <a:latin typeface="Segoe UI"/>
              </a:rPr>
              <a:t> </a:t>
            </a:r>
            <a:r>
              <a:rPr b="1" i="0" sz="2500">
                <a:solidFill>
                  <a:srgbClr val="151515"/>
                </a:solidFill>
                <a:latin typeface="Segoe UI"/>
              </a:rPr>
              <a:t>is</a:t>
            </a:r>
            <a:r>
              <a:rPr b="1" i="0" sz="2500">
                <a:solidFill>
                  <a:srgbClr val="151515"/>
                </a:solidFill>
                <a:latin typeface="Segoe UI"/>
              </a:rPr>
              <a:t> the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39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5410047" cy="202567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41148" cy="2025670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two lines that change how you think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728216"/>
            <a:ext cx="5044287" cy="155932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self.memory = {}       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contextId -&gt; [messages]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history = self.memory.setdefault(context_id, [])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history.append(HumanMessage(text_in))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...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history.append(AIMessage(reply_text))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# CONTEXT_ID = "ctx-debate-1"   for the whole debate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29584"/>
            <a:ext cx="5410047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1" i="0" sz="1280">
                <a:solidFill>
                  <a:srgbClr val="C27A00"/>
                </a:solidFill>
                <a:latin typeface="Segoe UI"/>
              </a:rPr>
              <a:t>—   </a:t>
            </a:r>
            <a:r>
              <a:rPr b="0" i="0" sz="1280">
                <a:solidFill>
                  <a:srgbClr val="151515"/>
                </a:solidFill>
                <a:latin typeface="Segoe UI"/>
              </a:rPr>
              <a:t>Each agent files its own history under the debate's </a:t>
            </a:r>
            <a:r>
              <a:rPr b="0" i="0" sz="1230">
                <a:solidFill>
                  <a:srgbClr val="8A5700"/>
                </a:solidFill>
                <a:latin typeface="Consolas"/>
              </a:rPr>
              <a:t>contextId</a:t>
            </a:r>
            <a:r>
              <a:rPr b="0" i="0" sz="1280">
                <a:solidFill>
                  <a:srgbClr val="151515"/>
                </a:solidFill>
                <a:latin typeface="Segoe UI"/>
              </a:rPr>
              <a:t>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1" i="0" sz="1280">
                <a:solidFill>
                  <a:srgbClr val="C27A00"/>
                </a:solidFill>
                <a:latin typeface="Segoe UI"/>
              </a:rPr>
              <a:t>—   </a:t>
            </a:r>
            <a:r>
              <a:rPr b="0" i="1" sz="1280">
                <a:solidFill>
                  <a:srgbClr val="151515"/>
                </a:solidFill>
                <a:latin typeface="Segoe UI"/>
              </a:rPr>
              <a:t>"Each agent has its own memory"</a:t>
            </a:r>
            <a:r>
              <a:rPr b="0" i="0" sz="1280">
                <a:solidFill>
                  <a:srgbClr val="151515"/>
                </a:solidFill>
                <a:latin typeface="Segoe UI"/>
              </a:rPr>
              <a:t> stops being a Python variable and becomes a </a:t>
            </a:r>
            <a:r>
              <a:rPr b="1" i="0" sz="1280">
                <a:solidFill>
                  <a:srgbClr val="C27A00"/>
                </a:solidFill>
                <a:latin typeface="Segoe UI"/>
              </a:rPr>
              <a:t>protocol idea</a:t>
            </a:r>
            <a:r>
              <a:rPr b="0" i="0" sz="1280">
                <a:solidFill>
                  <a:srgbClr val="151515"/>
                </a:solidFill>
                <a:latin typeface="Segoe UI"/>
              </a:rPr>
              <a:t> — which is why the same code works whether the agents share a process or sit on two continents.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1" i="0" sz="1280">
                <a:solidFill>
                  <a:srgbClr val="C27A00"/>
                </a:solidFill>
                <a:latin typeface="Segoe UI"/>
              </a:rPr>
              <a:t>—   </a:t>
            </a:r>
            <a:r>
              <a:rPr b="0" i="0" sz="1280">
                <a:solidFill>
                  <a:srgbClr val="151515"/>
                </a:solidFill>
                <a:latin typeface="Segoe UI"/>
              </a:rPr>
              <a:t>Neither dict is reachable from the other agent. They only ever received </a:t>
            </a:r>
            <a:r>
              <a:rPr b="1" i="0" sz="1280">
                <a:solidFill>
                  <a:srgbClr val="151515"/>
                </a:solidFill>
                <a:latin typeface="Segoe UI"/>
              </a:rPr>
              <a:t>text that arrived in a</a:t>
            </a:r>
            <a:r>
              <a:rPr b="0" i="0" sz="1280">
                <a:solidFill>
                  <a:srgbClr val="151515"/>
                </a:solidFill>
                <a:latin typeface="Segoe UI"/>
              </a:rPr>
              <a:t> </a:t>
            </a:r>
            <a:r>
              <a:rPr b="0" i="0" sz="1230">
                <a:solidFill>
                  <a:srgbClr val="8A5700"/>
                </a:solidFill>
                <a:latin typeface="Consolas"/>
              </a:rPr>
              <a:t>message/send</a:t>
            </a:r>
            <a:r>
              <a:rPr b="0" i="0" sz="128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353312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ONE CONVERSATION, TWO PRIVATE MEMORIES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1239" y="1627632"/>
            <a:ext cx="2705023" cy="493776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050">
                <a:solidFill>
                  <a:srgbClr val="8A5700"/>
                </a:solidFill>
                <a:latin typeface="Consolas"/>
              </a:rPr>
              <a:t>contextId</a:t>
            </a:r>
            <a:br/>
            <a:r>
              <a:rPr b="1" i="0" sz="1050">
                <a:solidFill>
                  <a:srgbClr val="8A5700"/>
                </a:solidFill>
                <a:latin typeface="Consolas"/>
              </a:rPr>
              <a:t>ctx-debate-1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1727" y="2304288"/>
            <a:ext cx="3124047" cy="25603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83751" y="2121408"/>
            <a:ext cx="25603" cy="182880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21727" y="2304288"/>
            <a:ext cx="25603" cy="219456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45775" y="2304288"/>
            <a:ext cx="25603" cy="219456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70167" y="2523744"/>
            <a:ext cx="2430703" cy="1188720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00">
                <a:solidFill>
                  <a:srgbClr val="151515"/>
                </a:solidFill>
                <a:latin typeface="Segoe UI"/>
              </a:rPr>
              <a:t>PRO's memory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5C5C5C"/>
                </a:solidFill>
                <a:latin typeface="Segoe UI"/>
              </a:rPr>
              <a:t>14 messages</a:t>
            </a:r>
            <a:br/>
            <a:r>
              <a:rPr b="0" i="0" sz="950">
                <a:solidFill>
                  <a:srgbClr val="5C5C5C"/>
                </a:solidFill>
                <a:latin typeface="Segoe UI"/>
              </a:rPr>
              <a:t>7 tasks handled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6631" y="2523744"/>
            <a:ext cx="2430703" cy="1188720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200">
                <a:solidFill>
                  <a:srgbClr val="151515"/>
                </a:solidFill>
                <a:latin typeface="Segoe UI"/>
              </a:rPr>
              <a:t>CON's memory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5C5C5C"/>
                </a:solidFill>
                <a:latin typeface="Segoe UI"/>
              </a:rPr>
              <a:t>12 messages</a:t>
            </a:r>
            <a:br/>
            <a:r>
              <a:rPr b="0" i="0" sz="950">
                <a:solidFill>
                  <a:srgbClr val="5C5C5C"/>
                </a:solidFill>
                <a:latin typeface="Segoe UI"/>
              </a:rPr>
              <a:t>6 tasks handled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3822191"/>
            <a:ext cx="5410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100">
                <a:solidFill>
                  <a:srgbClr val="5C5C5C"/>
                </a:solidFill>
                <a:latin typeface="Segoe UI"/>
              </a:rPr>
              <a:t>different numbers, because they heard different things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4187952"/>
            <a:ext cx="5410047" cy="10058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16471" y="4334256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PROOF RUNS AT THE END OF FILE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6471" y="4617720"/>
            <a:ext cx="4952847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It prints both counts and then: </a:t>
            </a:r>
            <a:r>
              <a:rPr b="0" i="1" sz="1250">
                <a:solidFill>
                  <a:srgbClr val="151515"/>
                </a:solidFill>
                <a:latin typeface="Segoe UI"/>
              </a:rPr>
              <a:t>"Neither agent could read the other's memory. They only ever received text."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41264"/>
            <a:ext cx="11185855" cy="694944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0664" y="5687568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WHERE EACH ID BELONGS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" y="5971031"/>
            <a:ext cx="10728655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00">
                <a:solidFill>
                  <a:srgbClr val="8A5700"/>
                </a:solidFill>
                <a:latin typeface="Consolas"/>
              </a:rPr>
              <a:t>messageId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— one turn.   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taskId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— one job.   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contextId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— the whole conversation, and the key every agent files its own memory under.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6 · FILES 01–03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Cards, one Task, then two agents talking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16736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01 · TWO CARDS, SIDE BY SIDE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91056"/>
            <a:ext cx="5410047" cy="1334566"/>
          </a:xfrm>
          <a:prstGeom prst="rect">
            <a:avLst/>
          </a:prstGeom>
          <a:solidFill>
            <a:srgbClr val="FFFFFF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02920" y="1591056"/>
            <a:ext cx="41148" cy="1334566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709928"/>
            <a:ext cx="5044287" cy="112425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for agent in (pro, con):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card  = agent.get_agent_card()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skill = card["skills"][0]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print(f"  WHO   -&gt; {card['name']}")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print(f"  WHERE -&gt; {card['url']}")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print(f"  WHAT  -&gt; {skill['name']}  {skill['tags']}")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02 · THE REPLY IS A TASK, NOT A STRING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493008"/>
            <a:ext cx="5410047" cy="1697126"/>
          </a:xfrm>
          <a:prstGeom prst="rect">
            <a:avLst/>
          </a:prstGeom>
          <a:solidFill>
            <a:srgbClr val="FFFFFF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02920" y="3493008"/>
            <a:ext cx="41148" cy="1697126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611879"/>
            <a:ext cx="5044287" cy="148681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print(f"task id     : {task['id']}")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print(f"contextId   : {task['contextId']}")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print(f"final state : {task['status']['state']}")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print(f"artifacts   : {task['artifacts'][0]['name']}")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929292"/>
                </a:solidFill>
                <a:latin typeface="Consolas"/>
              </a:rPr>
              <a:t># and then, by id: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rpc = {"jsonrpc": "2.0", "id": 2, "method": "tasks/get",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   "params": {"id": task["id"]}}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1316736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03 · THE A2A COMMUNICATION FLOW, BY HAND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591056"/>
            <a:ext cx="5410047" cy="2784805"/>
          </a:xfrm>
          <a:prstGeom prst="rect">
            <a:avLst/>
          </a:prstGeom>
          <a:solidFill>
            <a:srgbClr val="FFFFFF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78727" y="1591056"/>
            <a:ext cx="41148" cy="2784805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1709928"/>
            <a:ext cx="5044287" cy="257449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text = f'The topic is: "{TOPIC}". Open the argument.'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for count in range(ROUNDS):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speaker = agents[count % 2] </a:t>
            </a:r>
            <a:r>
              <a:rPr b="0" i="0" sz="1000">
                <a:solidFill>
                  <a:srgbClr val="8A5700"/>
                </a:solidFill>
                <a:latin typeface="Consolas"/>
              </a:rPr>
              <a:t>  # PRO, CON, PRO, CON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label   = "PRO" if count % 2 == 0 else "CON"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task  = send_message(speaker, text,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                     context_id, count)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reply = task_text(task)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print(f"      task {task['id']} -&gt; 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      f"{task['status']['state']}")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929292"/>
                </a:solidFill>
                <a:latin typeface="Consolas"/>
              </a:rPr>
              <a:t>    # THE WHOLE TRICK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text = f"{label} said: {reply}"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4517136"/>
            <a:ext cx="5410047" cy="859536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16471" y="4663440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ONE LINE IS THE ENTIRE IDEA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6471" y="4946904"/>
            <a:ext cx="495284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00">
                <a:solidFill>
                  <a:srgbClr val="8A5700"/>
                </a:solidFill>
                <a:latin typeface="Consolas"/>
              </a:rPr>
              <a:t>text = f"{label} said: {reply}"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—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one agent's answer becomes the other agent's question.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468112"/>
            <a:ext cx="11185855" cy="768096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0664" y="5614416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ONE-LINE DIFFERENCE FROM A REAL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" y="5897880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00">
                <a:solidFill>
                  <a:srgbClr val="8A5700"/>
                </a:solidFill>
                <a:latin typeface="Consolas"/>
              </a:rPr>
              <a:t>agent.handle_rpc(rpc)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today   ·   </a:t>
            </a:r>
            <a:r>
              <a:rPr b="0" i="0" sz="1200">
                <a:solidFill>
                  <a:srgbClr val="8A5700"/>
                </a:solidFill>
                <a:latin typeface="Consolas"/>
              </a:rPr>
              <a:t>requests.post(card["url"], json=rpc).json()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as a real server.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Same envelope either way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— that is the whole point of the folder.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6 · FILE 04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LangGraph conducts. A2A carries.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5410047" cy="2216014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41148" cy="2216014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1 · the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728216"/>
            <a:ext cx="5044287" cy="17496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class DebateState(TypedDict):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topic: str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last_text: str   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what the next agent hears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transcript: Annotated[list, operator.add]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pro_verdict: str 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"YES" / "NO" / ""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con_verdict: str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count: int       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messages spoken so far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929292"/>
                </a:solidFill>
                <a:latin typeface="Consolas"/>
              </a:rPr>
              <a:t># LOOK AT WHAT IS NOT HERE: no message history.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12463"/>
            <a:ext cx="5410047" cy="2596701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02920" y="3712463"/>
            <a:ext cx="41148" cy="2596701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831335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2 · the conditional edge — the only reason a node repeats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87368"/>
            <a:ext cx="5044287" cy="2130357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def whose_turn(state):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if state["pro_verdict"] and \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state["pro_verdict"] == state["con_verdict"]: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return END           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agreed -&gt; stop early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if state["count"] &gt;= MAX_MESSAGES: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return "referee"      </a:t>
            </a:r>
            <a:r>
              <a:rPr b="0" i="0" sz="1050">
                <a:solidFill>
                  <a:srgbClr val="8A5700"/>
                </a:solidFill>
                <a:latin typeface="Consolas"/>
              </a:rPr>
              <a:t>  # out of time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return ("con_turn" if state["count"] % 2 == 1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        else "pro_turn")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builder.add_conditional_edges("pro_turn", whose_turn,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["con_turn", "referee", END])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1353312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3 · THE 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89391" y="1591056"/>
            <a:ext cx="118872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START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901455" y="2011680"/>
            <a:ext cx="164592" cy="201168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598767" y="2267712"/>
            <a:ext cx="2202103" cy="530352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pro_turn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6631" y="2267712"/>
            <a:ext cx="2202103" cy="530352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con_turn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00871" y="2340864"/>
            <a:ext cx="365760" cy="146304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eft Arrow 20"/>
          <p:cNvSpPr/>
          <p:nvPr/>
        </p:nvSpPr>
        <p:spPr>
          <a:xfrm>
            <a:off x="8800871" y="2615184"/>
            <a:ext cx="365760" cy="146304"/>
          </a:xfrm>
          <a:prstGeom prst="lef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78727" y="2852928"/>
            <a:ext cx="5410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050">
                <a:solidFill>
                  <a:srgbClr val="8A5700"/>
                </a:solidFill>
                <a:latin typeface="Segoe UI"/>
              </a:rPr>
              <a:t>every arrow above is a JSON-RPC </a:t>
            </a:r>
            <a:r>
              <a:rPr b="0" i="0" sz="1000">
                <a:solidFill>
                  <a:srgbClr val="8A5700"/>
                </a:solidFill>
                <a:latin typeface="Consolas"/>
              </a:rPr>
              <a:t>message/send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901455" y="3127248"/>
            <a:ext cx="164592" cy="201168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7631239" y="3383280"/>
            <a:ext cx="2705023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50">
                <a:solidFill>
                  <a:srgbClr val="151515"/>
                </a:solidFill>
                <a:latin typeface="Segoe UI"/>
              </a:rPr>
              <a:t>referee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901455" y="3895344"/>
            <a:ext cx="164592" cy="201168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389391" y="4151376"/>
            <a:ext cx="118872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i="0" sz="1100">
                <a:solidFill>
                  <a:srgbClr val="151515"/>
                </a:solidFill>
                <a:latin typeface="Segoe UI"/>
              </a:rPr>
              <a:t>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8727" y="4663440"/>
            <a:ext cx="5410047" cy="786384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16471" y="4809744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LINE TO WRITE ON THE 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6471" y="5093207"/>
            <a:ext cx="4952847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1" i="0" sz="1250">
                <a:solidFill>
                  <a:srgbClr val="151515"/>
                </a:solidFill>
                <a:latin typeface="Segoe UI"/>
              </a:rPr>
              <a:t>LangGraph = the conductor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(whose turn, are we done, who breaks a tie).  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A2A = the wire.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8727" y="5522976"/>
            <a:ext cx="5410047" cy="790727"/>
          </a:xfrm>
          <a:prstGeom prst="rect">
            <a:avLst/>
          </a:prstGeom>
          <a:solidFill>
            <a:srgbClr val="FFFFFF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278727" y="5522976"/>
            <a:ext cx="41148" cy="790727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9895" y="5641848"/>
            <a:ext cx="5044287" cy="58041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def relay(state, label):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task = send_message(agent, state["last_text"],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00">
                <a:solidFill>
                  <a:srgbClr val="151515"/>
                </a:solidFill>
                <a:latin typeface="Consolas"/>
              </a:rPr>
              <a:t>                        CONTEXT_ID, state["count"])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PART 6 · RUNNING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How it always ends, and what to watch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16736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THE PERSONA IS REBUILT EVERY SINGLE TURN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91056"/>
          <a:ext cx="5410046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7131"/>
                <a:gridCol w="3942915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Messages so far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The line injected into the system prompt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0 – 9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Argue hard. Do not concede.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10 – 14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Name the strongest point your opponent made and say what is true about it.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15 – 20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Time is nearly up. You </a:t>
                      </a:r>
                      <a:r>
                        <a:rPr b="1" i="0" sz="1100">
                          <a:solidFill>
                            <a:srgbClr val="151515"/>
                          </a:solidFill>
                          <a:latin typeface="Segoe UI"/>
                        </a:rPr>
                        <a:t>must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reach a shared verdict.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3401568"/>
            <a:ext cx="5410047" cy="105156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664" y="3547872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PLUS ONE RULE THAT KEEPS IT INTERESTING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831336"/>
            <a:ext cx="4952847" cy="512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1" i="0" sz="1200">
                <a:solidFill>
                  <a:srgbClr val="151515"/>
                </a:solidFill>
                <a:latin typeface="Segoe UI"/>
              </a:rPr>
              <a:t>Never repeat an argument you already used.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Without it they recycle three points for twenty messages. With it they work through reliability, safety, dealers, hybrids, resale — then honestly run out and concede.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10047" cy="960120"/>
          </a:xfrm>
          <a:prstGeom prst="roundRect">
            <a:avLst>
              <a:gd name="adj" fmla="val 6000"/>
            </a:avLst>
          </a:prstGeom>
          <a:solidFill>
            <a:srgbClr val="FEE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0664" y="4718304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A REAL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5001768"/>
            <a:ext cx="495284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50">
                <a:solidFill>
                  <a:srgbClr val="151515"/>
                </a:solidFill>
                <a:latin typeface="Segoe UI"/>
              </a:rPr>
              <a:t>13 messages. PRO conceded. Final answer </a:t>
            </a:r>
            <a:r>
              <a:rPr b="1" i="0" sz="1250">
                <a:solidFill>
                  <a:srgbClr val="151515"/>
                </a:solidFill>
                <a:latin typeface="Segoe UI"/>
              </a:rPr>
              <a:t>VERDICT: NO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— </a:t>
            </a:r>
            <a:r>
              <a:rPr b="0" i="1" sz="1250">
                <a:solidFill>
                  <a:srgbClr val="151515"/>
                </a:solidFill>
                <a:latin typeface="Segoe UI"/>
              </a:rPr>
              <a:t>"they talked each other into it."</a:t>
            </a:r>
            <a:r>
              <a:rPr b="0" i="0" sz="1250">
                <a:solidFill>
                  <a:srgbClr val="151515"/>
                </a:solidFill>
                <a:latin typeface="Segoe UI"/>
              </a:rPr>
              <a:t>  The referee was never needed.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1316736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TURNING THEM INTO REAL SERVERS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591056"/>
            <a:ext cx="5410047" cy="2216014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78727" y="1591056"/>
            <a:ext cx="41148" cy="2216014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1709928"/>
            <a:ext cx="50442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950">
                <a:solidFill>
                  <a:srgbClr val="C27A00"/>
                </a:solidFill>
                <a:latin typeface="Segoe UI"/>
              </a:rPr>
              <a:t>pro_server.py — nothing about the agent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9895" y="1965960"/>
            <a:ext cx="5044287" cy="17496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from fastapi import FastAPI, Request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from debate_agent import make_pro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agent = make_pro("Toyota is better than ...")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app = FastAPI()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@app.get("/.well-known/agent-card.json")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def card():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return agent.get_agent_card()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3913632"/>
            <a:ext cx="5410047" cy="1198606"/>
          </a:xfrm>
          <a:prstGeom prst="rect">
            <a:avLst/>
          </a:prstGeom>
          <a:solidFill>
            <a:srgbClr val="FFFFFF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278727" y="3913632"/>
            <a:ext cx="41148" cy="1198606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895" y="4032504"/>
            <a:ext cx="5044287" cy="98829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@app.post("/")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async def rpc(request: Request):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    return agent.handle_rpc(await request.json())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i="0" sz="1050">
                <a:solidFill>
                  <a:srgbClr val="151515"/>
                </a:solidFill>
                <a:latin typeface="Consolas"/>
              </a:rPr>
              <a:t>uvicorn.run(app, host="127.0.0.1", port=8010)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8727" y="5175504"/>
            <a:ext cx="5410047" cy="1060704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16471" y="5321808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THREE WAYS TO WATCH IT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6471" y="5605272"/>
            <a:ext cx="4952847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1" i="0" sz="1150">
                <a:solidFill>
                  <a:srgbClr val="151515"/>
                </a:solidFill>
                <a:latin typeface="Segoe UI"/>
              </a:rPr>
              <a:t>Terminal</a:t>
            </a:r>
            <a:r>
              <a:rPr b="0" i="0" sz="1150">
                <a:solidFill>
                  <a:srgbClr val="151515"/>
                </a:solidFill>
                <a:latin typeface="Segoe UI"/>
              </a:rPr>
              <a:t> — each reply streams, then </a:t>
            </a:r>
            <a:r>
              <a:rPr b="0" i="0" sz="1100">
                <a:solidFill>
                  <a:srgbClr val="8A5700"/>
                </a:solidFill>
                <a:latin typeface="Consolas"/>
              </a:rPr>
              <a:t>[a2a] task-… -&gt; completed</a:t>
            </a:r>
            <a:r>
              <a:rPr b="0" i="0" sz="1150">
                <a:solidFill>
                  <a:srgbClr val="151515"/>
                </a:solidFill>
                <a:latin typeface="Segoe UI"/>
              </a:rPr>
              <a:t>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1" i="0" sz="1150">
                <a:solidFill>
                  <a:srgbClr val="151515"/>
                </a:solidFill>
                <a:latin typeface="Segoe UI"/>
              </a:rPr>
              <a:t>The </a:t>
            </a:r>
            <a:r>
              <a:rPr b="1" i="0" sz="1100">
                <a:solidFill>
                  <a:srgbClr val="8A5700"/>
                </a:solidFill>
                <a:latin typeface="Consolas"/>
              </a:rPr>
              <a:t>.html</a:t>
            </a:r>
            <a:r>
              <a:rPr b="0" i="0" sz="1150">
                <a:solidFill>
                  <a:srgbClr val="151515"/>
                </a:solidFill>
                <a:latin typeface="Segoe UI"/>
              </a:rPr>
              <a:t> — open it </a:t>
            </a:r>
            <a:r>
              <a:rPr b="0" i="1" sz="1150">
                <a:solidFill>
                  <a:srgbClr val="151515"/>
                </a:solidFill>
                <a:latin typeface="Segoe UI"/>
              </a:rPr>
              <a:t>while it runs</a:t>
            </a:r>
            <a:r>
              <a:rPr b="0" i="0" sz="1150">
                <a:solidFill>
                  <a:srgbClr val="151515"/>
                </a:solidFill>
                <a:latin typeface="Segoe UI"/>
              </a:rPr>
              <a:t>; it reloads every 2 seconds.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1" i="0" sz="1100">
                <a:solidFill>
                  <a:srgbClr val="8A5700"/>
                </a:solidFill>
                <a:latin typeface="Consolas"/>
              </a:rPr>
              <a:t>.md</a:t>
            </a:r>
            <a:r>
              <a:rPr b="1" i="0" sz="1150">
                <a:solidFill>
                  <a:srgbClr val="151515"/>
                </a:solidFill>
                <a:latin typeface="Segoe UI"/>
              </a:rPr>
              <a:t> and </a:t>
            </a:r>
            <a:r>
              <a:rPr b="1" i="0" sz="1100">
                <a:solidFill>
                  <a:srgbClr val="8A5700"/>
                </a:solidFill>
                <a:latin typeface="Consolas"/>
              </a:rPr>
              <a:t>.json</a:t>
            </a:r>
            <a:r>
              <a:rPr b="0" i="0" sz="1150">
                <a:solidFill>
                  <a:srgbClr val="151515"/>
                </a:solidFill>
                <a:latin typeface="Segoe UI"/>
              </a:rPr>
              <a:t> — the debate as a document, and as data.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Everything, on one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16736"/>
            <a:ext cx="11185855" cy="713232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0664" y="1463039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LOOP, IN ONE BREATH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746504"/>
            <a:ext cx="10728655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1" i="0" sz="1350">
                <a:solidFill>
                  <a:srgbClr val="C27A00"/>
                </a:solidFill>
                <a:latin typeface="Segoe UI"/>
              </a:rPr>
              <a:t>publish a card  →  discover it  →  </a:t>
            </a:r>
            <a:r>
              <a:rPr b="1" i="0" sz="1300">
                <a:solidFill>
                  <a:srgbClr val="8A5700"/>
                </a:solidFill>
                <a:latin typeface="Consolas"/>
              </a:rPr>
              <a:t>message/send</a:t>
            </a:r>
            <a:r>
              <a:rPr b="1" i="0" sz="1350">
                <a:solidFill>
                  <a:srgbClr val="C27A00"/>
                </a:solidFill>
                <a:latin typeface="Segoe UI"/>
              </a:rPr>
              <a:t>  →  read the reply.</a:t>
            </a:r>
            <a:r>
              <a:rPr b="0" i="0" sz="1350">
                <a:solidFill>
                  <a:srgbClr val="151515"/>
                </a:solidFill>
                <a:latin typeface="Segoe UI"/>
              </a:rPr>
              <a:t>   Everything else is built on top of it.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212848"/>
          <a:ext cx="5410046" cy="2889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8827"/>
                <a:gridCol w="3851219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Object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One line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Agent Card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the public résumé at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/.well-known/agent-card.json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Agent Skill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one capability, with the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tags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others route on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Message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one turn — a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role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and a list of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parts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Part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text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·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file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·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data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Task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 job with an </a:t>
                      </a: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id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and a lifecycle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Artifact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what the agent produced, inside the Task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contextId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the conversation, and each agent's memory key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78727" y="2212848"/>
          <a:ext cx="5410046" cy="2889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0871"/>
                <a:gridCol w="2659175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Method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i="0" sz="1050">
                          <a:solidFill>
                            <a:srgbClr val="151515"/>
                          </a:solidFill>
                          <a:latin typeface="Segoe UI"/>
                        </a:rPr>
                        <a:t>When you need it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message/send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always — this </a:t>
                      </a:r>
                      <a:r>
                        <a:rPr b="0" i="1" sz="1100">
                          <a:solidFill>
                            <a:srgbClr val="151515"/>
                          </a:solidFill>
                          <a:latin typeface="Segoe UI"/>
                        </a:rPr>
                        <a:t>is</a:t>
                      </a: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 the protocol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message/stream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live partial answers over SSE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tasks/get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check on a job you started earlier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tasks/cancel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stop a long job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tasks/pushNotificationConfig/set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get a webhook when it finishes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agent/getAuthenticatedExtendedCard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the fuller card, after logging in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050">
                          <a:solidFill>
                            <a:srgbClr val="8A5700"/>
                          </a:solidFill>
                          <a:latin typeface="Consolas"/>
                        </a:rPr>
                        <a:t>-32601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i="0" sz="1100">
                          <a:solidFill>
                            <a:srgbClr val="151515"/>
                          </a:solidFill>
                          <a:latin typeface="Segoe UI"/>
                        </a:rPr>
                        <a:t>the error every unknown method gets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5120640"/>
            <a:ext cx="11185855" cy="1115568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0664" y="5266944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THE THREE QUESTIONS STUDENTS ALWAYS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5550407"/>
            <a:ext cx="10728655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1" sz="1200">
                <a:solidFill>
                  <a:srgbClr val="151515"/>
                </a:solidFill>
                <a:latin typeface="Segoe UI"/>
              </a:rPr>
              <a:t>"Is A2A the same as MCP?"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 No. </a:t>
            </a:r>
            <a:r>
              <a:rPr b="1" i="0" sz="1200">
                <a:solidFill>
                  <a:srgbClr val="151515"/>
                </a:solidFill>
                <a:latin typeface="Segoe UI"/>
              </a:rPr>
              <a:t>MCP = agent → tool. A2A = agent → agent.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Complementary.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0" i="1" sz="1200">
                <a:solidFill>
                  <a:srgbClr val="151515"/>
                </a:solidFill>
                <a:latin typeface="Segoe UI"/>
              </a:rPr>
              <a:t>"Does the client need to know how the other agent works inside?"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 No — it reads the card and sends messages. That opacity is the design.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0" i="1" sz="1200">
                <a:solidFill>
                  <a:srgbClr val="151515"/>
                </a:solidFill>
                <a:latin typeface="Segoe UI"/>
              </a:rPr>
              <a:t>"Do both agents need the same framework or LLM?"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 No. That is the entire point.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 spc="120">
                <a:solidFill>
                  <a:srgbClr val="C27A00"/>
                </a:solidFill>
                <a:latin typeface="Segoe U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2500">
                <a:solidFill>
                  <a:srgbClr val="151515"/>
                </a:solidFill>
                <a:latin typeface="Segoe UI"/>
              </a:rPr>
              <a:t>Nine things to go and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i="0" sz="850">
                <a:solidFill>
                  <a:srgbClr val="929292"/>
                </a:solidFill>
                <a:latin typeface="Segoe UI"/>
              </a:rPr>
              <a:t>AI Season   ·   Agent-to-Agent (A2A) Communication   ·   Abdul Rahman Azam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i="0" sz="1100">
                <a:solidFill>
                  <a:srgbClr val="C27A00"/>
                </a:solidFill>
                <a:latin typeface="Segoe UI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16736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ON THE ELEVEN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410047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1" i="0" sz="1220">
                <a:solidFill>
                  <a:srgbClr val="C27A00"/>
                </a:solidFill>
                <a:latin typeface="Segoe UI"/>
              </a:rPr>
              <a:t>—   </a:t>
            </a:r>
            <a:r>
              <a:rPr b="1" i="0" sz="1220">
                <a:solidFill>
                  <a:srgbClr val="151515"/>
                </a:solidFill>
                <a:latin typeface="Segoe UI"/>
              </a:rPr>
              <a:t>Add a third agent.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Copy </a:t>
            </a:r>
            <a:r>
              <a:rPr b="0" i="0" sz="1170">
                <a:solidFill>
                  <a:srgbClr val="8A5700"/>
                </a:solidFill>
                <a:latin typeface="Consolas"/>
              </a:rPr>
              <a:t>04_weather_agent.py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into a </a:t>
            </a:r>
            <a:r>
              <a:rPr b="0" i="0" sz="1170">
                <a:solidFill>
                  <a:srgbClr val="8A5700"/>
                </a:solidFill>
                <a:latin typeface="Consolas"/>
              </a:rPr>
              <a:t>math_agent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on port 8004 with skill </a:t>
            </a:r>
            <a:r>
              <a:rPr b="0" i="0" sz="1170">
                <a:solidFill>
                  <a:srgbClr val="8A5700"/>
                </a:solidFill>
                <a:latin typeface="Consolas"/>
              </a:rPr>
              <a:t>add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, and add it to </a:t>
            </a:r>
            <a:r>
              <a:rPr b="0" i="0" sz="1170">
                <a:solidFill>
                  <a:srgbClr val="8A5700"/>
                </a:solidFill>
                <a:latin typeface="Consolas"/>
              </a:rPr>
              <a:t>KNOWN_AGENTS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. Zero changes to the other agents.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1" i="0" sz="1220">
                <a:solidFill>
                  <a:srgbClr val="C27A00"/>
                </a:solidFill>
                <a:latin typeface="Segoe UI"/>
              </a:rPr>
              <a:t>—   </a:t>
            </a:r>
            <a:r>
              <a:rPr b="1" i="0" sz="1220">
                <a:solidFill>
                  <a:srgbClr val="151515"/>
                </a:solidFill>
                <a:latin typeface="Segoe UI"/>
              </a:rPr>
              <a:t>Add a second skill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to the weather agent (</a:t>
            </a:r>
            <a:r>
              <a:rPr b="0" i="0" sz="1170">
                <a:solidFill>
                  <a:srgbClr val="8A5700"/>
                </a:solidFill>
                <a:latin typeface="Consolas"/>
              </a:rPr>
              <a:t>get_forecast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) and show it on the card.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1" i="0" sz="1220">
                <a:solidFill>
                  <a:srgbClr val="C27A00"/>
                </a:solidFill>
                <a:latin typeface="Segoe UI"/>
              </a:rPr>
              <a:t>—   </a:t>
            </a:r>
            <a:r>
              <a:rPr b="1" i="0" sz="1220">
                <a:solidFill>
                  <a:srgbClr val="151515"/>
                </a:solidFill>
                <a:latin typeface="Segoe UI"/>
              </a:rPr>
              <a:t>Make a reply stream.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Set </a:t>
            </a:r>
            <a:r>
              <a:rPr b="0" i="0" sz="1170">
                <a:solidFill>
                  <a:srgbClr val="8A5700"/>
                </a:solidFill>
                <a:latin typeface="Consolas"/>
              </a:rPr>
              <a:t>"streaming": true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and return chunks via </a:t>
            </a:r>
            <a:r>
              <a:rPr b="0" i="0" sz="1170">
                <a:solidFill>
                  <a:srgbClr val="8A5700"/>
                </a:solidFill>
                <a:latin typeface="Consolas"/>
              </a:rPr>
              <a:t>message/stream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1" i="0" sz="1220">
                <a:solidFill>
                  <a:srgbClr val="C27A00"/>
                </a:solidFill>
                <a:latin typeface="Segoe UI"/>
              </a:rPr>
              <a:t>—   </a:t>
            </a:r>
            <a:r>
              <a:rPr b="1" i="0" sz="1220">
                <a:solidFill>
                  <a:srgbClr val="151515"/>
                </a:solidFill>
                <a:latin typeface="Segoe UI"/>
              </a:rPr>
              <a:t>Go cross-machine.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Point your orchestrator at a classmate's agent URL.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316736"/>
            <a:ext cx="54100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300">
                <a:solidFill>
                  <a:srgbClr val="C27A00"/>
                </a:solidFill>
                <a:latin typeface="Segoe UI"/>
              </a:rPr>
              <a:t>ON </a:t>
            </a:r>
            <a:r>
              <a:rPr b="1" i="0" sz="1250">
                <a:solidFill>
                  <a:srgbClr val="8A5700"/>
                </a:solidFill>
                <a:latin typeface="Consolas"/>
              </a:rPr>
              <a:t>AGENT TALKS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572768"/>
            <a:ext cx="5410047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1" i="0" sz="1220">
                <a:solidFill>
                  <a:srgbClr val="C27A00"/>
                </a:solidFill>
                <a:latin typeface="Segoe UI"/>
              </a:rPr>
              <a:t>—   </a:t>
            </a:r>
            <a:r>
              <a:rPr b="1" i="0" sz="1220">
                <a:solidFill>
                  <a:srgbClr val="151515"/>
                </a:solidFill>
                <a:latin typeface="Segoe UI"/>
              </a:rPr>
              <a:t>Make them real servers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with the 10-line snippet, and swap the one line in </a:t>
            </a:r>
            <a:r>
              <a:rPr b="0" i="0" sz="1170">
                <a:solidFill>
                  <a:srgbClr val="8A5700"/>
                </a:solidFill>
                <a:latin typeface="Consolas"/>
              </a:rPr>
              <a:t>send_message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1" i="0" sz="1220">
                <a:solidFill>
                  <a:srgbClr val="C27A00"/>
                </a:solidFill>
                <a:latin typeface="Segoe UI"/>
              </a:rPr>
              <a:t>—   </a:t>
            </a:r>
            <a:r>
              <a:rPr b="1" i="0" sz="1220">
                <a:solidFill>
                  <a:srgbClr val="151515"/>
                </a:solidFill>
                <a:latin typeface="Segoe UI"/>
              </a:rPr>
              <a:t>Add a fourth agent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— a </a:t>
            </a:r>
            <a:r>
              <a:rPr b="0" i="0" sz="1170">
                <a:solidFill>
                  <a:srgbClr val="8A5700"/>
                </a:solidFill>
                <a:latin typeface="Consolas"/>
              </a:rPr>
              <a:t>fact_checker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with skill </a:t>
            </a:r>
            <a:r>
              <a:rPr b="0" i="0" sz="1170">
                <a:solidFill>
                  <a:srgbClr val="8A5700"/>
                </a:solidFill>
                <a:latin typeface="Consolas"/>
              </a:rPr>
              <a:t>check_claim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, subclassing </a:t>
            </a:r>
            <a:r>
              <a:rPr b="0" i="0" sz="1170">
                <a:solidFill>
                  <a:srgbClr val="8A5700"/>
                </a:solidFill>
                <a:latin typeface="Consolas"/>
              </a:rPr>
              <a:t>DebateAgent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the way </a:t>
            </a:r>
            <a:r>
              <a:rPr b="0" i="0" sz="1170">
                <a:solidFill>
                  <a:srgbClr val="8A5700"/>
                </a:solidFill>
                <a:latin typeface="Consolas"/>
              </a:rPr>
              <a:t>RefereeAgent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does.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1" i="0" sz="1220">
                <a:solidFill>
                  <a:srgbClr val="C27A00"/>
                </a:solidFill>
                <a:latin typeface="Segoe UI"/>
              </a:rPr>
              <a:t>—   </a:t>
            </a:r>
            <a:r>
              <a:rPr b="1" i="0" sz="1220">
                <a:solidFill>
                  <a:srgbClr val="151515"/>
                </a:solidFill>
                <a:latin typeface="Segoe UI"/>
              </a:rPr>
              <a:t>Route by skill, not by name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— scan </a:t>
            </a:r>
            <a:r>
              <a:rPr b="0" i="0" sz="1170">
                <a:solidFill>
                  <a:srgbClr val="8A5700"/>
                </a:solidFill>
                <a:latin typeface="Consolas"/>
              </a:rPr>
              <a:t>card["skills"][0]["tags"]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for </a:t>
            </a:r>
            <a:r>
              <a:rPr b="0" i="0" sz="1170">
                <a:solidFill>
                  <a:srgbClr val="8A5700"/>
                </a:solidFill>
                <a:latin typeface="Consolas"/>
              </a:rPr>
              <a:t>for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/ </a:t>
            </a:r>
            <a:r>
              <a:rPr b="0" i="0" sz="1170">
                <a:solidFill>
                  <a:srgbClr val="8A5700"/>
                </a:solidFill>
                <a:latin typeface="Consolas"/>
              </a:rPr>
              <a:t>against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, the way file 06 does.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1" i="0" sz="1220">
                <a:solidFill>
                  <a:srgbClr val="C27A00"/>
                </a:solidFill>
                <a:latin typeface="Segoe UI"/>
              </a:rPr>
              <a:t>—   </a:t>
            </a:r>
            <a:r>
              <a:rPr b="1" i="0" sz="1220">
                <a:solidFill>
                  <a:srgbClr val="151515"/>
                </a:solidFill>
                <a:latin typeface="Segoe UI"/>
              </a:rPr>
              <a:t>Implement </a:t>
            </a:r>
            <a:r>
              <a:rPr b="1" i="0" sz="1170">
                <a:solidFill>
                  <a:srgbClr val="8A5700"/>
                </a:solidFill>
                <a:latin typeface="Consolas"/>
              </a:rPr>
              <a:t>message/stream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— make </a:t>
            </a:r>
            <a:r>
              <a:rPr b="0" i="0" sz="1170">
                <a:solidFill>
                  <a:srgbClr val="8A5700"/>
                </a:solidFill>
                <a:latin typeface="Consolas"/>
              </a:rPr>
              <a:t>handle_rpc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a generator yielding status and artifact updates.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b="1" i="0" sz="1220">
                <a:solidFill>
                  <a:srgbClr val="C27A00"/>
                </a:solidFill>
                <a:latin typeface="Segoe UI"/>
              </a:rPr>
              <a:t>—   </a:t>
            </a:r>
            <a:r>
              <a:rPr b="1" i="0" sz="1220">
                <a:solidFill>
                  <a:srgbClr val="151515"/>
                </a:solidFill>
                <a:latin typeface="Segoe UI"/>
              </a:rPr>
              <a:t>Persist the tasks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so </a:t>
            </a:r>
            <a:r>
              <a:rPr b="0" i="0" sz="1170">
                <a:solidFill>
                  <a:srgbClr val="8A5700"/>
                </a:solidFill>
                <a:latin typeface="Consolas"/>
              </a:rPr>
              <a:t>tasks/get</a:t>
            </a:r>
            <a:r>
              <a:rPr b="0" i="0" sz="1220">
                <a:solidFill>
                  <a:srgbClr val="151515"/>
                </a:solidFill>
                <a:latin typeface="Segoe UI"/>
              </a:rPr>
              <a:t> still works after a restart.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626864"/>
            <a:ext cx="11185855" cy="10972"/>
          </a:xfrm>
          <a:prstGeom prst="rect">
            <a:avLst/>
          </a:prstGeom>
          <a:solidFill>
            <a:srgbClr val="DFD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4791456"/>
            <a:ext cx="5410047" cy="9601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0664" y="4937760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i="0" sz="1050">
                <a:solidFill>
                  <a:srgbClr val="C27A00"/>
                </a:solidFill>
                <a:latin typeface="Segoe UI"/>
              </a:rPr>
              <a:t>WHERE TO READ MORE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5221224"/>
            <a:ext cx="495284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i="0" sz="1200">
                <a:solidFill>
                  <a:srgbClr val="151515"/>
                </a:solidFill>
                <a:latin typeface="Segoe UI"/>
              </a:rPr>
              <a:t>Spec and tutorials — </a:t>
            </a:r>
            <a:r>
              <a:rPr b="0" i="0" sz="1150">
                <a:solidFill>
                  <a:srgbClr val="8A5700"/>
                </a:solidFill>
                <a:latin typeface="Consolas"/>
              </a:rPr>
              <a:t>a2a-protocol.org</a:t>
            </a:r>
            <a:r>
              <a:rPr b="0" i="0" sz="1200">
                <a:solidFill>
                  <a:srgbClr val="151515"/>
                </a:solidFill>
                <a:latin typeface="Segoe UI"/>
              </a:rPr>
              <a:t>      ·      Python SDK — </a:t>
            </a:r>
            <a:r>
              <a:rPr b="0" i="0" sz="1150">
                <a:solidFill>
                  <a:srgbClr val="8A5700"/>
                </a:solidFill>
                <a:latin typeface="Consolas"/>
              </a:rPr>
              <a:t>pip install a2a-sdk==1.1.1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4956048"/>
            <a:ext cx="5410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700">
                <a:solidFill>
                  <a:srgbClr val="C27A00"/>
                </a:solidFill>
                <a:latin typeface="Segoe UI"/>
              </a:rPr>
              <a:t>AI Season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5303520"/>
            <a:ext cx="5410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400">
                <a:solidFill>
                  <a:srgbClr val="151515"/>
                </a:solidFill>
                <a:latin typeface="Segoe UI"/>
              </a:rPr>
              <a:t>Abdul Rahman Azam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5577840"/>
            <a:ext cx="5410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i="0" sz="1150">
                <a:solidFill>
                  <a:srgbClr val="5C5C5C"/>
                </a:solidFill>
                <a:latin typeface="Segoe UI"/>
              </a:rPr>
              <a:t>Session 12  ·  Agent-to-Agent (A2A) Communication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